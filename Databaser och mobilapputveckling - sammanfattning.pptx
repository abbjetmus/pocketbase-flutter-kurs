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1"/>
  </p:notesMasterIdLst>
  <p:sldIdLst>
    <p:sldId id="256" r:id="rId2"/>
    <p:sldId id="261" r:id="rId3"/>
    <p:sldId id="262" r:id="rId4"/>
    <p:sldId id="263" r:id="rId5"/>
    <p:sldId id="257"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58"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259"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260" r:id="rId99"/>
    <p:sldId id="354" r:id="rId100"/>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00" dt="2026-10-16T07:47:40.456"/>
    <p1510:client id="{23BA184A-1229-7A9A-2A57-202DA9BAA606}" v="254" dt="2026-10-15T12:11:22.9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6" d="100"/>
          <a:sy n="76" d="100"/>
        </p:scale>
        <p:origin x="90" y="7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 Id="rId106" Type="http://schemas.microsoft.com/office/2016/11/relationships/changesInfo" Target="changesInfos/changesInfo1.xml"/><Relationship Id="rId10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ton Mustini" userId="S::jeton.mustini@hitachigymnasiet.se::7245db79-6028-466f-8076-7522a60d7b8f" providerId="AD" clId="Web-{23BA184A-1229-7A9A-2A57-202DA9BAA606}"/>
    <pc:docChg chg="addSld delSld modSld">
      <pc:chgData name="Jeton Mustini" userId="S::jeton.mustini@hitachigymnasiet.se::7245db79-6028-466f-8076-7522a60d7b8f" providerId="AD" clId="Web-{23BA184A-1229-7A9A-2A57-202DA9BAA606}" dt="2026-10-15T12:11:22.923" v="257"/>
      <pc:docMkLst>
        <pc:docMk/>
      </pc:docMkLst>
      <pc:sldChg chg="modSp">
        <pc:chgData name="Jeton Mustini" userId="S::jeton.mustini@hitachigymnasiet.se::7245db79-6028-466f-8076-7522a60d7b8f" providerId="AD" clId="Web-{23BA184A-1229-7A9A-2A57-202DA9BAA606}" dt="2026-10-15T08:43:49.780" v="36" actId="20577"/>
        <pc:sldMkLst>
          <pc:docMk/>
          <pc:sldMk cId="3194377694" sldId="256"/>
        </pc:sldMkLst>
        <pc:spChg chg="mod">
          <ac:chgData name="Jeton Mustini" userId="S::jeton.mustini@hitachigymnasiet.se::7245db79-6028-466f-8076-7522a60d7b8f" providerId="AD" clId="Web-{23BA184A-1229-7A9A-2A57-202DA9BAA606}" dt="2026-10-15T08:43:28.139" v="27" actId="20577"/>
          <ac:spMkLst>
            <pc:docMk/>
            <pc:sldMk cId="3194377694" sldId="256"/>
            <ac:spMk id="2" creationId="{00000000-0000-0000-0000-000000000000}"/>
          </ac:spMkLst>
        </pc:spChg>
        <pc:spChg chg="mod">
          <ac:chgData name="Jeton Mustini" userId="S::jeton.mustini@hitachigymnasiet.se::7245db79-6028-466f-8076-7522a60d7b8f" providerId="AD" clId="Web-{23BA184A-1229-7A9A-2A57-202DA9BAA606}" dt="2026-10-15T08:43:49.780" v="36" actId="20577"/>
          <ac:spMkLst>
            <pc:docMk/>
            <pc:sldMk cId="3194377694" sldId="256"/>
            <ac:spMk id="3" creationId="{00000000-0000-0000-0000-000000000000}"/>
          </ac:spMkLst>
        </pc:spChg>
      </pc:sldChg>
      <pc:sldChg chg="addSp modSp new">
        <pc:chgData name="Jeton Mustini" userId="S::jeton.mustini@hitachigymnasiet.se::7245db79-6028-466f-8076-7522a60d7b8f" providerId="AD" clId="Web-{23BA184A-1229-7A9A-2A57-202DA9BAA606}" dt="2026-10-15T08:58:50.026" v="218" actId="20577"/>
        <pc:sldMkLst>
          <pc:docMk/>
          <pc:sldMk cId="3843384323" sldId="257"/>
        </pc:sldMkLst>
        <pc:spChg chg="mod">
          <ac:chgData name="Jeton Mustini" userId="S::jeton.mustini@hitachigymnasiet.se::7245db79-6028-466f-8076-7522a60d7b8f" providerId="AD" clId="Web-{23BA184A-1229-7A9A-2A57-202DA9BAA606}" dt="2026-10-15T08:45:32.748" v="64" actId="20577"/>
          <ac:spMkLst>
            <pc:docMk/>
            <pc:sldMk cId="3843384323" sldId="257"/>
            <ac:spMk id="2" creationId="{9DE590F1-F515-AAF5-B580-5CF9515E7BC3}"/>
          </ac:spMkLst>
        </pc:spChg>
        <pc:spChg chg="mod">
          <ac:chgData name="Jeton Mustini" userId="S::jeton.mustini@hitachigymnasiet.se::7245db79-6028-466f-8076-7522a60d7b8f" providerId="AD" clId="Web-{23BA184A-1229-7A9A-2A57-202DA9BAA606}" dt="2026-10-15T08:58:50.026" v="218" actId="20577"/>
          <ac:spMkLst>
            <pc:docMk/>
            <pc:sldMk cId="3843384323" sldId="257"/>
            <ac:spMk id="3" creationId="{767DE83D-CF41-9A92-01D6-C1A33CADF362}"/>
          </ac:spMkLst>
        </pc:spChg>
        <pc:picChg chg="add mod">
          <ac:chgData name="Jeton Mustini" userId="S::jeton.mustini@hitachigymnasiet.se::7245db79-6028-466f-8076-7522a60d7b8f" providerId="AD" clId="Web-{23BA184A-1229-7A9A-2A57-202DA9BAA606}" dt="2026-10-15T08:45:07.952" v="57" actId="1076"/>
          <ac:picMkLst>
            <pc:docMk/>
            <pc:sldMk cId="3843384323" sldId="257"/>
            <ac:picMk id="4" creationId="{277E14F2-9AEB-23D4-D17F-1E2050BBBD70}"/>
          </ac:picMkLst>
        </pc:picChg>
      </pc:sldChg>
      <pc:sldChg chg="addSp modSp new">
        <pc:chgData name="Jeton Mustini" userId="S::jeton.mustini@hitachigymnasiet.se::7245db79-6028-466f-8076-7522a60d7b8f" providerId="AD" clId="Web-{23BA184A-1229-7A9A-2A57-202DA9BAA606}" dt="2026-10-15T09:00:01.838" v="238" actId="20577"/>
        <pc:sldMkLst>
          <pc:docMk/>
          <pc:sldMk cId="1657892336" sldId="258"/>
        </pc:sldMkLst>
        <pc:spChg chg="mod">
          <ac:chgData name="Jeton Mustini" userId="S::jeton.mustini@hitachigymnasiet.se::7245db79-6028-466f-8076-7522a60d7b8f" providerId="AD" clId="Web-{23BA184A-1229-7A9A-2A57-202DA9BAA606}" dt="2026-10-15T08:47:20.170" v="92" actId="20577"/>
          <ac:spMkLst>
            <pc:docMk/>
            <pc:sldMk cId="1657892336" sldId="258"/>
            <ac:spMk id="2" creationId="{E01CA3A3-5279-FE76-ABE6-9B84E03C2E6C}"/>
          </ac:spMkLst>
        </pc:spChg>
        <pc:spChg chg="mod">
          <ac:chgData name="Jeton Mustini" userId="S::jeton.mustini@hitachigymnasiet.se::7245db79-6028-466f-8076-7522a60d7b8f" providerId="AD" clId="Web-{23BA184A-1229-7A9A-2A57-202DA9BAA606}" dt="2026-10-15T09:00:01.838" v="238" actId="20577"/>
          <ac:spMkLst>
            <pc:docMk/>
            <pc:sldMk cId="1657892336" sldId="258"/>
            <ac:spMk id="3" creationId="{A6C04D80-F7CF-EC08-EFDF-90C8E9AA3A02}"/>
          </ac:spMkLst>
        </pc:spChg>
        <pc:picChg chg="add mod">
          <ac:chgData name="Jeton Mustini" userId="S::jeton.mustini@hitachigymnasiet.se::7245db79-6028-466f-8076-7522a60d7b8f" providerId="AD" clId="Web-{23BA184A-1229-7A9A-2A57-202DA9BAA606}" dt="2026-10-15T08:49:23.747" v="149" actId="1076"/>
          <ac:picMkLst>
            <pc:docMk/>
            <pc:sldMk cId="1657892336" sldId="258"/>
            <ac:picMk id="4" creationId="{D696A31C-AC25-6E2E-ED83-56A340A3DEEA}"/>
          </ac:picMkLst>
        </pc:picChg>
        <pc:picChg chg="add mod">
          <ac:chgData name="Jeton Mustini" userId="S::jeton.mustini@hitachigymnasiet.se::7245db79-6028-466f-8076-7522a60d7b8f" providerId="AD" clId="Web-{23BA184A-1229-7A9A-2A57-202DA9BAA606}" dt="2026-10-15T08:47:02.685" v="83" actId="1076"/>
          <ac:picMkLst>
            <pc:docMk/>
            <pc:sldMk cId="1657892336" sldId="258"/>
            <ac:picMk id="5" creationId="{3D5F8A49-7C72-E93B-9DF5-F37B67CBF5EB}"/>
          </ac:picMkLst>
        </pc:picChg>
      </pc:sldChg>
      <pc:sldChg chg="addSp modSp new">
        <pc:chgData name="Jeton Mustini" userId="S::jeton.mustini@hitachigymnasiet.se::7245db79-6028-466f-8076-7522a60d7b8f" providerId="AD" clId="Web-{23BA184A-1229-7A9A-2A57-202DA9BAA606}" dt="2026-10-15T09:00:13.713" v="239" actId="20577"/>
        <pc:sldMkLst>
          <pc:docMk/>
          <pc:sldMk cId="2698366375" sldId="259"/>
        </pc:sldMkLst>
        <pc:spChg chg="mod">
          <ac:chgData name="Jeton Mustini" userId="S::jeton.mustini@hitachigymnasiet.se::7245db79-6028-466f-8076-7522a60d7b8f" providerId="AD" clId="Web-{23BA184A-1229-7A9A-2A57-202DA9BAA606}" dt="2026-10-15T08:49:14.200" v="147" actId="20577"/>
          <ac:spMkLst>
            <pc:docMk/>
            <pc:sldMk cId="2698366375" sldId="259"/>
            <ac:spMk id="2" creationId="{42C75C6B-4CA4-F21A-FC79-32AAC0618E51}"/>
          </ac:spMkLst>
        </pc:spChg>
        <pc:spChg chg="mod">
          <ac:chgData name="Jeton Mustini" userId="S::jeton.mustini@hitachigymnasiet.se::7245db79-6028-466f-8076-7522a60d7b8f" providerId="AD" clId="Web-{23BA184A-1229-7A9A-2A57-202DA9BAA606}" dt="2026-10-15T09:00:13.713" v="239" actId="20577"/>
          <ac:spMkLst>
            <pc:docMk/>
            <pc:sldMk cId="2698366375" sldId="259"/>
            <ac:spMk id="3" creationId="{BC329EFA-6E27-9DA1-944C-178FA1E64ECA}"/>
          </ac:spMkLst>
        </pc:spChg>
        <pc:picChg chg="add mod">
          <ac:chgData name="Jeton Mustini" userId="S::jeton.mustini@hitachigymnasiet.se::7245db79-6028-466f-8076-7522a60d7b8f" providerId="AD" clId="Web-{23BA184A-1229-7A9A-2A57-202DA9BAA606}" dt="2026-10-15T08:53:00.137" v="191" actId="1076"/>
          <ac:picMkLst>
            <pc:docMk/>
            <pc:sldMk cId="2698366375" sldId="259"/>
            <ac:picMk id="4" creationId="{A148A4AF-9B5A-FC22-71B1-CB33970FFB2D}"/>
          </ac:picMkLst>
        </pc:picChg>
      </pc:sldChg>
      <pc:sldChg chg="addSp modSp new">
        <pc:chgData name="Jeton Mustini" userId="S::jeton.mustini@hitachigymnasiet.se::7245db79-6028-466f-8076-7522a60d7b8f" providerId="AD" clId="Web-{23BA184A-1229-7A9A-2A57-202DA9BAA606}" dt="2026-10-15T09:00:34.025" v="255" actId="20577"/>
        <pc:sldMkLst>
          <pc:docMk/>
          <pc:sldMk cId="2883465775" sldId="260"/>
        </pc:sldMkLst>
        <pc:spChg chg="mod">
          <ac:chgData name="Jeton Mustini" userId="S::jeton.mustini@hitachigymnasiet.se::7245db79-6028-466f-8076-7522a60d7b8f" providerId="AD" clId="Web-{23BA184A-1229-7A9A-2A57-202DA9BAA606}" dt="2026-10-15T09:00:34.025" v="255" actId="20577"/>
          <ac:spMkLst>
            <pc:docMk/>
            <pc:sldMk cId="2883465775" sldId="260"/>
            <ac:spMk id="2" creationId="{2D273B61-909A-5649-91CD-6C99A78662D9}"/>
          </ac:spMkLst>
        </pc:spChg>
        <pc:spChg chg="mod">
          <ac:chgData name="Jeton Mustini" userId="S::jeton.mustini@hitachigymnasiet.se::7245db79-6028-466f-8076-7522a60d7b8f" providerId="AD" clId="Web-{23BA184A-1229-7A9A-2A57-202DA9BAA606}" dt="2026-10-15T08:57:26.214" v="214" actId="20577"/>
          <ac:spMkLst>
            <pc:docMk/>
            <pc:sldMk cId="2883465775" sldId="260"/>
            <ac:spMk id="3" creationId="{4015FA5D-D86E-DE31-DC67-DCA48DC4B3E0}"/>
          </ac:spMkLst>
        </pc:spChg>
        <pc:picChg chg="add mod">
          <ac:chgData name="Jeton Mustini" userId="S::jeton.mustini@hitachigymnasiet.se::7245db79-6028-466f-8076-7522a60d7b8f" providerId="AD" clId="Web-{23BA184A-1229-7A9A-2A57-202DA9BAA606}" dt="2026-10-15T08:57:34.417" v="217" actId="14100"/>
          <ac:picMkLst>
            <pc:docMk/>
            <pc:sldMk cId="2883465775" sldId="260"/>
            <ac:picMk id="4" creationId="{AF567B61-CF44-6648-D077-72FA2574D0D3}"/>
          </ac:picMkLst>
        </pc:picChg>
      </pc:sldChg>
      <pc:sldChg chg="new del">
        <pc:chgData name="Jeton Mustini" userId="S::jeton.mustini@hitachigymnasiet.se::7245db79-6028-466f-8076-7522a60d7b8f" providerId="AD" clId="Web-{23BA184A-1229-7A9A-2A57-202DA9BAA606}" dt="2026-10-15T12:11:22.923" v="257"/>
        <pc:sldMkLst>
          <pc:docMk/>
          <pc:sldMk cId="837865985" sldId="261"/>
        </pc:sldMkLst>
      </pc:sldChg>
    </pc:docChg>
  </pc:docChgLst>
  <pc:docChgLst>
    <pc:chgData name="Jeton Mustini" userId="S::jeton.mustini@hitachigymnasiet.se::7245db79-6028-466f-8076-7522a60d7b8f" providerId="AD" clId="Web-{00000000-0000-0000-0000-000000000000}"/>
    <pc:docChg chg="modSld">
      <pc:chgData name="Jeton Mustini" userId="S::jeton.mustini@hitachigymnasiet.se::7245db79-6028-466f-8076-7522a60d7b8f" providerId="AD" clId="Web-{00000000-0000-0000-0000-000000000000}" dt="2026-10-16T07:47:40.456" v="230" actId="20577"/>
      <pc:docMkLst>
        <pc:docMk/>
      </pc:docMkLst>
      <pc:sldChg chg="modSp">
        <pc:chgData name="Jeton Mustini" userId="S::jeton.mustini@hitachigymnasiet.se::7245db79-6028-466f-8076-7522a60d7b8f" providerId="AD" clId="Web-{00000000-0000-0000-0000-000000000000}" dt="2026-10-16T07:47:40.456" v="230" actId="20577"/>
        <pc:sldMkLst>
          <pc:docMk/>
          <pc:sldMk cId="3843384323" sldId="257"/>
        </pc:sldMkLst>
        <pc:spChg chg="mod">
          <ac:chgData name="Jeton Mustini" userId="S::jeton.mustini@hitachigymnasiet.se::7245db79-6028-466f-8076-7522a60d7b8f" providerId="AD" clId="Web-{00000000-0000-0000-0000-000000000000}" dt="2026-10-16T07:47:05.128" v="217" actId="1076"/>
          <ac:spMkLst>
            <pc:docMk/>
            <pc:sldMk cId="3843384323" sldId="257"/>
            <ac:spMk id="2" creationId="{9DE590F1-F515-AAF5-B580-5CF9515E7BC3}"/>
          </ac:spMkLst>
        </pc:spChg>
        <pc:spChg chg="mod">
          <ac:chgData name="Jeton Mustini" userId="S::jeton.mustini@hitachigymnasiet.se::7245db79-6028-466f-8076-7522a60d7b8f" providerId="AD" clId="Web-{00000000-0000-0000-0000-000000000000}" dt="2026-10-16T07:47:40.456" v="230" actId="20577"/>
          <ac:spMkLst>
            <pc:docMk/>
            <pc:sldMk cId="3843384323" sldId="257"/>
            <ac:spMk id="3" creationId="{767DE83D-CF41-9A92-01D6-C1A33CADF362}"/>
          </ac:spMkLst>
        </pc:spChg>
        <pc:picChg chg="mod">
          <ac:chgData name="Jeton Mustini" userId="S::jeton.mustini@hitachigymnasiet.se::7245db79-6028-466f-8076-7522a60d7b8f" providerId="AD" clId="Web-{00000000-0000-0000-0000-000000000000}" dt="2026-10-16T07:23:47.952" v="37" actId="1076"/>
          <ac:picMkLst>
            <pc:docMk/>
            <pc:sldMk cId="3843384323" sldId="257"/>
            <ac:picMk id="4" creationId="{277E14F2-9AEB-23D4-D17F-1E2050BBBD70}"/>
          </ac:picMkLst>
        </pc:picChg>
      </pc:sldChg>
      <pc:sldChg chg="modSp">
        <pc:chgData name="Jeton Mustini" userId="S::jeton.mustini@hitachigymnasiet.se::7245db79-6028-466f-8076-7522a60d7b8f" providerId="AD" clId="Web-{00000000-0000-0000-0000-000000000000}" dt="2026-10-16T07:37:01.782" v="129" actId="14100"/>
        <pc:sldMkLst>
          <pc:docMk/>
          <pc:sldMk cId="2698366375" sldId="259"/>
        </pc:sldMkLst>
        <pc:spChg chg="mod">
          <ac:chgData name="Jeton Mustini" userId="S::jeton.mustini@hitachigymnasiet.se::7245db79-6028-466f-8076-7522a60d7b8f" providerId="AD" clId="Web-{00000000-0000-0000-0000-000000000000}" dt="2026-10-16T07:36:48.751" v="124" actId="20577"/>
          <ac:spMkLst>
            <pc:docMk/>
            <pc:sldMk cId="2698366375" sldId="259"/>
            <ac:spMk id="3" creationId="{BC329EFA-6E27-9DA1-944C-178FA1E64ECA}"/>
          </ac:spMkLst>
        </pc:spChg>
        <pc:picChg chg="mod">
          <ac:chgData name="Jeton Mustini" userId="S::jeton.mustini@hitachigymnasiet.se::7245db79-6028-466f-8076-7522a60d7b8f" providerId="AD" clId="Web-{00000000-0000-0000-0000-000000000000}" dt="2026-10-16T07:37:01.782" v="129" actId="14100"/>
          <ac:picMkLst>
            <pc:docMk/>
            <pc:sldMk cId="2698366375" sldId="259"/>
            <ac:picMk id="4" creationId="{A148A4AF-9B5A-FC22-71B1-CB33970FFB2D}"/>
          </ac:picMkLst>
        </pc:picChg>
      </pc:sldChg>
      <pc:sldChg chg="modSp">
        <pc:chgData name="Jeton Mustini" userId="S::jeton.mustini@hitachigymnasiet.se::7245db79-6028-466f-8076-7522a60d7b8f" providerId="AD" clId="Web-{00000000-0000-0000-0000-000000000000}" dt="2026-10-16T07:39:19.720" v="134" actId="1076"/>
        <pc:sldMkLst>
          <pc:docMk/>
          <pc:sldMk cId="2883465775" sldId="260"/>
        </pc:sldMkLst>
        <pc:picChg chg="mod">
          <ac:chgData name="Jeton Mustini" userId="S::jeton.mustini@hitachigymnasiet.se::7245db79-6028-466f-8076-7522a60d7b8f" providerId="AD" clId="Web-{00000000-0000-0000-0000-000000000000}" dt="2026-10-16T07:39:19.720" v="134" actId="1076"/>
          <ac:picMkLst>
            <pc:docMk/>
            <pc:sldMk cId="2883465775" sldId="260"/>
            <ac:picMk id="4" creationId="{AF567B61-CF44-6648-D077-72FA2574D0D3}"/>
          </ac:picMkLst>
        </pc:picChg>
      </pc:sldChg>
      <pc:sldChg chg="addSp delSp modSp">
        <pc:chgData name="Jeton Mustini" userId="S::jeton.mustini@hitachigymnasiet.se::7245db79-6028-466f-8076-7522a60d7b8f" providerId="AD" clId="Web-{00000000-0000-0000-0000-000000000000}" dt="2026-10-16T07:46:34.456" v="216" actId="1076"/>
        <pc:sldMkLst>
          <pc:docMk/>
          <pc:sldMk cId="0" sldId="261"/>
        </pc:sldMkLst>
        <pc:spChg chg="mod">
          <ac:chgData name="Jeton Mustini" userId="S::jeton.mustini@hitachigymnasiet.se::7245db79-6028-466f-8076-7522a60d7b8f" providerId="AD" clId="Web-{00000000-0000-0000-0000-000000000000}" dt="2026-10-16T07:44:04.205" v="182" actId="20577"/>
          <ac:spMkLst>
            <pc:docMk/>
            <pc:sldMk cId="0" sldId="261"/>
            <ac:spMk id="2" creationId="{00000000-0000-0000-0000-000000000000}"/>
          </ac:spMkLst>
        </pc:spChg>
        <pc:spChg chg="add del mod">
          <ac:chgData name="Jeton Mustini" userId="S::jeton.mustini@hitachigymnasiet.se::7245db79-6028-466f-8076-7522a60d7b8f" providerId="AD" clId="Web-{00000000-0000-0000-0000-000000000000}" dt="2026-10-16T07:41:25.752" v="137"/>
          <ac:spMkLst>
            <pc:docMk/>
            <pc:sldMk cId="0" sldId="261"/>
            <ac:spMk id="15" creationId="{CFF86B30-EB79-343C-F3BE-83C9F0290979}"/>
          </ac:spMkLst>
        </pc:spChg>
        <pc:spChg chg="add mod">
          <ac:chgData name="Jeton Mustini" userId="S::jeton.mustini@hitachigymnasiet.se::7245db79-6028-466f-8076-7522a60d7b8f" providerId="AD" clId="Web-{00000000-0000-0000-0000-000000000000}" dt="2026-10-16T07:46:34.456" v="216" actId="1076"/>
          <ac:spMkLst>
            <pc:docMk/>
            <pc:sldMk cId="0" sldId="261"/>
            <ac:spMk id="16" creationId="{AF51DBE1-DA90-9D28-3A4E-F35B44705413}"/>
          </ac:spMkLst>
        </pc:spChg>
        <pc:spChg chg="add del mod">
          <ac:chgData name="Jeton Mustini" userId="S::jeton.mustini@hitachigymnasiet.se::7245db79-6028-466f-8076-7522a60d7b8f" providerId="AD" clId="Web-{00000000-0000-0000-0000-000000000000}" dt="2026-10-16T07:44:47.081" v="188"/>
          <ac:spMkLst>
            <pc:docMk/>
            <pc:sldMk cId="0" sldId="261"/>
            <ac:spMk id="17" creationId="{958CE2CB-CAA2-D409-A15F-AE73C3E7E9EC}"/>
          </ac:spMkLst>
        </pc:spChg>
        <pc:spChg chg="add mod">
          <ac:chgData name="Jeton Mustini" userId="S::jeton.mustini@hitachigymnasiet.se::7245db79-6028-466f-8076-7522a60d7b8f" providerId="AD" clId="Web-{00000000-0000-0000-0000-000000000000}" dt="2026-10-16T07:46:31.268" v="215" actId="1076"/>
          <ac:spMkLst>
            <pc:docMk/>
            <pc:sldMk cId="0" sldId="261"/>
            <ac:spMk id="18" creationId="{60BF75C3-4FFA-42C0-26B2-9BEC2DDF1F5E}"/>
          </ac:spMkLst>
        </pc:spChg>
      </pc:sldChg>
      <pc:sldChg chg="modSp">
        <pc:chgData name="Jeton Mustini" userId="S::jeton.mustini@hitachigymnasiet.se::7245db79-6028-466f-8076-7522a60d7b8f" providerId="AD" clId="Web-{00000000-0000-0000-0000-000000000000}" dt="2026-10-16T07:16:49.857" v="19" actId="20577"/>
        <pc:sldMkLst>
          <pc:docMk/>
          <pc:sldMk cId="0" sldId="262"/>
        </pc:sldMkLst>
        <pc:spChg chg="mod">
          <ac:chgData name="Jeton Mustini" userId="S::jeton.mustini@hitachigymnasiet.se::7245db79-6028-466f-8076-7522a60d7b8f" providerId="AD" clId="Web-{00000000-0000-0000-0000-000000000000}" dt="2026-10-16T07:16:49.857" v="19" actId="20577"/>
          <ac:spMkLst>
            <pc:docMk/>
            <pc:sldMk cId="0" sldId="262"/>
            <ac:spMk id="3" creationId="{00000000-0000-0000-0000-000000000000}"/>
          </ac:spMkLst>
        </pc:spChg>
      </pc:sldChg>
      <pc:sldChg chg="modSp">
        <pc:chgData name="Jeton Mustini" userId="S::jeton.mustini@hitachigymnasiet.se::7245db79-6028-466f-8076-7522a60d7b8f" providerId="AD" clId="Web-{00000000-0000-0000-0000-000000000000}" dt="2026-10-16T07:17:47.186" v="26" actId="20577"/>
        <pc:sldMkLst>
          <pc:docMk/>
          <pc:sldMk cId="0" sldId="263"/>
        </pc:sldMkLst>
        <pc:spChg chg="mod">
          <ac:chgData name="Jeton Mustini" userId="S::jeton.mustini@hitachigymnasiet.se::7245db79-6028-466f-8076-7522a60d7b8f" providerId="AD" clId="Web-{00000000-0000-0000-0000-000000000000}" dt="2026-10-16T07:17:47.186" v="26" actId="20577"/>
          <ac:spMkLst>
            <pc:docMk/>
            <pc:sldMk cId="0" sldId="263"/>
            <ac:spMk id="7" creationId="{00000000-0000-0000-0000-000000000000}"/>
          </ac:spMkLst>
        </pc:spChg>
      </pc:sldChg>
      <pc:sldChg chg="modSp">
        <pc:chgData name="Jeton Mustini" userId="S::jeton.mustini@hitachigymnasiet.se::7245db79-6028-466f-8076-7522a60d7b8f" providerId="AD" clId="Web-{00000000-0000-0000-0000-000000000000}" dt="2026-10-16T07:29:51.125" v="117" actId="1076"/>
        <pc:sldMkLst>
          <pc:docMk/>
          <pc:sldMk cId="0" sldId="269"/>
        </pc:sldMkLst>
        <pc:spChg chg="mod">
          <ac:chgData name="Jeton Mustini" userId="S::jeton.mustini@hitachigymnasiet.se::7245db79-6028-466f-8076-7522a60d7b8f" providerId="AD" clId="Web-{00000000-0000-0000-0000-000000000000}" dt="2026-10-16T07:29:51.125" v="117" actId="1076"/>
          <ac:spMkLst>
            <pc:docMk/>
            <pc:sldMk cId="0" sldId="269"/>
            <ac:spMk id="9" creationId="{00000000-0000-0000-0000-000000000000}"/>
          </ac:spMkLst>
        </pc:spChg>
      </pc:sldChg>
      <pc:sldChg chg="modSp">
        <pc:chgData name="Jeton Mustini" userId="S::jeton.mustini@hitachigymnasiet.se::7245db79-6028-466f-8076-7522a60d7b8f" providerId="AD" clId="Web-{00000000-0000-0000-0000-000000000000}" dt="2026-10-16T07:33:55.173" v="122" actId="20577"/>
        <pc:sldMkLst>
          <pc:docMk/>
          <pc:sldMk cId="0" sldId="276"/>
        </pc:sldMkLst>
        <pc:spChg chg="mod">
          <ac:chgData name="Jeton Mustini" userId="S::jeton.mustini@hitachigymnasiet.se::7245db79-6028-466f-8076-7522a60d7b8f" providerId="AD" clId="Web-{00000000-0000-0000-0000-000000000000}" dt="2026-10-16T07:33:55.173" v="122" actId="20577"/>
          <ac:spMkLst>
            <pc:docMk/>
            <pc:sldMk cId="0" sldId="27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81D09D-E5FA-484C-AE09-71C083065148}" type="datetimeFigureOut">
              <a:t>2026-10-16</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8932A-60C9-4324-8436-21B76AC36309}" type="slidenum">
              <a:t>‹#›</a:t>
            </a:fld>
            <a:endParaRPr lang="sv-SE"/>
          </a:p>
        </p:txBody>
      </p:sp>
    </p:spTree>
    <p:extLst>
      <p:ext uri="{BB962C8B-B14F-4D97-AF65-F5344CB8AC3E}">
        <p14:creationId xmlns:p14="http://schemas.microsoft.com/office/powerpoint/2010/main" val="1815525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Välkommen. Kursen har tre moduler: databaser och PocketBase, Flutter och Flutter Compositions. Allt material finns på GitHub, men de här bilderna räcker för genomgångarna.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Modulerna bygger på varandra. I modul 01 bygger vi databasen, i modul 02 lär vi oss Flutter och i modul 03 kopplar vi ihop allt till en riktig app.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Kvittra är exemplet i alla tre modulerna. Eleverna gör samma sak med sitt eget projekt i övningarna.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 1 (kap 1–5): från idé till databas. Del 2 (kap 6–7): data och SQL. Del 3 (kap 8): vem får göra vad.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PocketBase är skrivet av en utvecklare från Bulgarien. Det är en databas, en server och en administrationssida i en enda fil.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Visa live. Varna för att terminalfönstret måste vara öppet. Om Windows säger 'Windows skyddade datorn': Mer information → Kör ändå. E-posten för superuser behöver inte vara riktig, t.ex. admin@example.com.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pb_data är där databasen ligger. Den skapas vid första start.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Låt eleverna hitta felen själva innan du visar texten. Rad 3: fel e-post, liten bokstav, Bertil två gånger.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tabell är en sorts sak. En rad är en sak. En kolumn är en egenskap som alla rader har.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Fråga: vad händer om Anna byter namn? Svar: det ändras bara på ett ställe.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 jobbar med relationsdatabaser, den vanligaste typen. PocketBase bygger på SQLite, som också finns i nästan alla mobiltelefoner.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databasdesign är en ritning. Det är mycket lättare att ändra på papper än i en färdig app. Samma sex steg gör eleverna med sitt eget projekt i kapitel 4.</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Låt klassen stryka under substantiven i beskrivningen tillsammans innan du visar tabellen.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Gå igenom alla fem tabellerna (users, posts, comments, likes, follows) i kapitel 3 om tid finns. Här visas två som exempel.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Säg relationen högt i båda riktningarna, då hör man vilken sort det är. follows är också N:M, men mellan users och users.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och * betyder en och många. → users betyder att fältet är en relation till users.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Visa den dåliga designen och låt eleverna hitta felen med checklistan.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Exempel att visa om de fastnar: Läxkollen – elever, lärare, kurser, läxor, avbockningar (N:M mellan elever och läxor). Frågor vid granskning: står något på två ställen, finns listor i fält, saknas tabeller, sparas något som kan räknas fram?</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Bygg posts tillsammans live, låt eleverna göra resten själva med tabellen på nästa bild.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Cascade delete: tas användaren bort försvinner hennes inlägg också. Annars pekar inläggen på någon som inte finns. Unikt index på username gör att två användare inte kan heta samma sak.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Fråga: varför ska indexet på follows gälla båda fälten tillsammans? Svar: annars får varje användare bara följa en person.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Bio och body finns i kapitel 6. Tips: kryssa i Presentable på users.username och posts.title, då visas namn i stället för id:n när man väljer relationer.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Surdegsbröd = Mitt första surdegsbröd, Tips på bok = Tips på en bra bok?. Kontroll: users 4, posts 6, comments 6, likes 8, follows 5. Testa gärna: lägg in samma like två gånger – det unika indexet stoppar det.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Eleverna har redan använt SQL utan att veta om det – Dashboard översätter klicken.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Viktig regel: frågan måste ha en kolumn som heter id, och den ska vara olika på varje rad. Skriv aldrig SELECT * på users – då kommer det krypterade lösenordet med.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Första frågan ger anna, bertil och david (cissi har tom bio). Andra ger Andra försöket, Matchdag och Tips på en bra bok? om de lades in i ordning.</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Rita gärna pilarna från posts.author till users.id på tavlan.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Visa vad som händer med vanlig JOIN: Morgondimma och Tips försvinner.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Bra att ha uppe medan eleverna gör övningarna.</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Svar: 7.1 Höstpromenad, Morgondimma. 7.3 Höst 1, Surdeg 2, Morgon 0, Tips 2, Match 1, Andra 0. 7.4 anna 2, bertil 2, cissi 1, david 0. 7.5 Morgondimma, Tips. 7.6 Surdegsbröd, Tips, Andra försöket. 7.7 Höstpromenad – bertil, cissi. Lösningar i losningar.md.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Reglerna hittas under kugghjulet på en collection → fliken API Rules. Exempel: Anna ska inte kunna ta bort Bertils inlägg.</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follows Create har även &amp;&amp; @request.body.following != @request.auth.id så att man inte kan följa sig själv.</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8.1: tom regel → alla inlägg som JSON. Villkor → tom lista (webbläsaren är inte inloggad). 8.3: då kan man skriva i någon annans namn. 8.4: Delete-regeln user = @request.auth.id.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 kör appen i Chrome under hela modulen. Det kräver minst installation. Kapitel 6 kopplar ihop appen med PocketBase från modul 01.</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Flutter kommer från Google. Koden skrivs i Dart, och samma kod kan köras på Android, iPhone, webben, Windows, macOS och Linux.</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Android och Visual Studio behövs inte – vi kör i Chrome. Låt alla komma så långt att räknarappen syns innan ni går vidare.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Visa hot reload live: byt seedColor och spara. Räknaren behåller sitt värde.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Jämför med JavaScript: var ≈ let, final ≈ const. Visa i DartPad.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kapitel 6 gör vi Post.fromRecord för data från PocketBase.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async/await fungerar som i JavaScript, men Promise heter Future.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Även sådant som inte syns är widgets, t.ex. Padding och Row. Widgets läggs i varandra och bildar ett träd.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Flödet blir sedan ListView.builder(itemCount: samplePosts.length, itemBuilder: (context, i) =&gt; PostCard(post: samplePosts[i])). Filerna: models/post.dart, data/sample_data.dart, widgets/post_card.dart.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 om du har gillat, hur många likes, vad du har skrivit i ett textfält.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Mycket kod för ett hjärta. Det här är exakt det som modul 03 gör enklare.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Exemplet i kapitlet är CommentSection: TextField + skicka-knapp + lista med kommentarer.</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Bra slide att återkomma till i början av modul 03.</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AppBar visar själv en tillbaka-pil. FeedScreen kan vänta på ett nytt inlägg: final post = await context.push&lt;Post&gt;('/posts/new');</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Android-emulatorn: använd 10.0.2.2 i stället för 127.0.0.1. Lösenord i koden är bara okej när man övar – i modul 03 bygger vi en riktig inloggningssida.</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Visa först hur ett inlägg ser ut som JSON med expand.author.</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Starta Future EN gång (i ett fält i State-klassen), inte i build. Försök igen = setState(() =&gt; _future = fetchPosts()).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Installation: flutter pub add flutter_compositions:^0.1.1 pocketbase go_router. Version 0.2+ fungerar annorlunda, så håll er till 0.1.x.</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Biblioteket är skrivet av en utvecklare från Taiwan och bygger på Vue 3:s Composition API.</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Jämför med LikeButton från modul 02 kapitel 4 – två klasser, initState, setState.</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 viktigaste i hela modulen. Builder-funktionen kommer ihåg vilka .value den läste, och körs bara om när just de ändras.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Skriver man Text('$count') står det Instance of 'ComputedRef&lt;int&gt;' på skärmen.</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Sätt gärna upp den här bilden i klassrummet.</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Här skiljer sig Flutter Compositions från Vue, där push fungerar. Exemplet i kapitlet: ett flöde med filter (Alla/Följer/Mina) och sökning, allt med computed.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Vanligt misstag: använda watch för att räkna fram ett värde – det ska vara computed.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Visa och dölj timern med en switch – då ser man att onUnmounted stoppar den.</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Ingen setState, ingen addListener, ingen dispose. Knappen blir grå av sig själv när fältet är tomt. useScrollController(): ListView(controller: scrollController.raw).</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kapitlet returnerar useCounter även dec. Vue: const { count, inc } = useCounter().</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Kapitlet bygger vidare på modul 02 kapitel 6 (anslutning, inloggning, getList, expand).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Testa realtid: skriv en kommentar i Dashboard och se den dyka upp i appens debug-konsol.</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Vue: provide(key, pb) och inject(key)! – samma idé, men nyckeln är en InjectionKey med typ.</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LoginPage anropar bara auth.login(...). I kapitel 8 byter vi till go_router med redirect.</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Jämför med FutureBuilder i modul 02: ingen initState, ingen snapshot.connectionState.</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onEvent: vid create → comments.value = [...comments.value, record]; vid delete → filtrera bort id:t. Kom ihåg: onUnmounted registreras direkt i setup(), aldrig i onMounted.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 känns snabb eftersom hjärtat ändras innan servern svarat. useStream(stream, initialValue: null) finns också – parametern heter initialValue, inte initialData.</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Förbered: PocketBase igång, Kvittras collections, testdata och API-regler från modul 01, paketen flutter_compositions, pocketbase och go_router.</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redirect körs av go_router, inte i setup(), därför skickar vi in auth som argument i stället för inject.</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Ingen sida behöver navigera själv. Utloggning fungerar likadant åt andra hållet.</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Laddar man om sidan i Chrome är man utloggad – inloggningen sparas bara i minnet. AsyncAuthStore i pocketbase-paketet kan spara den.</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CapRover används när appen och PocketBase ska ut på internet.</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Repot är publikt. Varje modul har en README med alla kapitel.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1524000" y="1122363"/>
            <a:ext cx="9144000" cy="2387600"/>
          </a:xfrm>
        </p:spPr>
        <p:txBody>
          <a:bodyPr anchor="b"/>
          <a:lstStyle>
            <a:lvl1pPr algn="ctr">
              <a:defRPr sz="6000"/>
            </a:lvl1pPr>
          </a:lstStyle>
          <a:p>
            <a:r>
              <a:rPr lang="sv-SE"/>
              <a:t>Klicka här för att ändra format</a:t>
            </a:r>
          </a:p>
        </p:txBody>
      </p:sp>
      <p:sp>
        <p:nvSpPr>
          <p:cNvPr id="3" name="Underrubri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2026-10-16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784422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2026-10-16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1322720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831850" y="1709738"/>
            <a:ext cx="10515600" cy="2852737"/>
          </a:xfrm>
        </p:spPr>
        <p:txBody>
          <a:bodyPr anchor="b"/>
          <a:lstStyle>
            <a:lvl1pPr>
              <a:defRPr sz="6000"/>
            </a:lvl1pPr>
          </a:lstStyle>
          <a:p>
            <a:r>
              <a:rPr lang="sv-SE"/>
              <a:t>Klicka här för att ändra format</a:t>
            </a:r>
          </a:p>
        </p:txBody>
      </p:sp>
      <p:sp>
        <p:nvSpPr>
          <p:cNvPr id="3" name="Platshållare för text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2026-10-16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4186728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1560A13A-DB3F-4AD5-B6AF-BDA0278A0A39}" type="datetimeFigureOut">
              <a:rPr lang="sv-SE" smtClean="0"/>
              <a:t>2026-10-16</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592360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839788" y="365125"/>
            <a:ext cx="10515600" cy="1325563"/>
          </a:xfrm>
        </p:spPr>
        <p:txBody>
          <a:bodyPr/>
          <a:lstStyle/>
          <a:p>
            <a:r>
              <a:rPr lang="sv-SE"/>
              <a:t>Klicka här för att ändra format</a:t>
            </a:r>
          </a:p>
        </p:txBody>
      </p:sp>
      <p:sp>
        <p:nvSpPr>
          <p:cNvPr id="3" name="Platshållare för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1560A13A-DB3F-4AD5-B6AF-BDA0278A0A39}" type="datetimeFigureOut">
              <a:rPr lang="sv-SE" smtClean="0"/>
              <a:t>2026-10-16</a:t>
            </a:fld>
            <a:endParaRPr lang="sv-SE"/>
          </a:p>
        </p:txBody>
      </p:sp>
      <p:sp>
        <p:nvSpPr>
          <p:cNvPr id="8" name="Platshållare för sidfot 7"/>
          <p:cNvSpPr>
            <a:spLocks noGrp="1"/>
          </p:cNvSpPr>
          <p:nvPr>
            <p:ph type="ftr" sz="quarter" idx="11"/>
          </p:nvPr>
        </p:nvSpPr>
        <p:spPr/>
        <p:txBody>
          <a:bodyPr/>
          <a:lstStyle/>
          <a:p>
            <a:endParaRPr lang="sv-SE"/>
          </a:p>
        </p:txBody>
      </p:sp>
      <p:sp>
        <p:nvSpPr>
          <p:cNvPr id="9" name="Platshållare för bildnummer 8"/>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277650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560A13A-DB3F-4AD5-B6AF-BDA0278A0A39}" type="datetimeFigureOut">
              <a:rPr lang="sv-SE" smtClean="0"/>
              <a:t>2026-10-16</a:t>
            </a:fld>
            <a:endParaRPr lang="sv-SE"/>
          </a:p>
        </p:txBody>
      </p:sp>
      <p:sp>
        <p:nvSpPr>
          <p:cNvPr id="4" name="Platshållare för sidfot 3"/>
          <p:cNvSpPr>
            <a:spLocks noGrp="1"/>
          </p:cNvSpPr>
          <p:nvPr>
            <p:ph type="ftr" sz="quarter" idx="11"/>
          </p:nvPr>
        </p:nvSpPr>
        <p:spPr/>
        <p:txBody>
          <a:bodyPr/>
          <a:lstStyle/>
          <a:p>
            <a:endParaRPr lang="sv-SE"/>
          </a:p>
        </p:txBody>
      </p:sp>
      <p:sp>
        <p:nvSpPr>
          <p:cNvPr id="5" name="Platshållare för bildnummer 4"/>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256609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1560A13A-DB3F-4AD5-B6AF-BDA0278A0A39}" type="datetimeFigureOut">
              <a:rPr lang="sv-SE" smtClean="0"/>
              <a:t>2026-10-16</a:t>
            </a:fld>
            <a:endParaRPr lang="sv-SE"/>
          </a:p>
        </p:txBody>
      </p:sp>
      <p:sp>
        <p:nvSpPr>
          <p:cNvPr id="3" name="Platshållare för sidfot 2"/>
          <p:cNvSpPr>
            <a:spLocks noGrp="1"/>
          </p:cNvSpPr>
          <p:nvPr>
            <p:ph type="ftr" sz="quarter" idx="11"/>
          </p:nvPr>
        </p:nvSpPr>
        <p:spPr/>
        <p:txBody>
          <a:bodyPr/>
          <a:lstStyle/>
          <a:p>
            <a:endParaRPr lang="sv-SE"/>
          </a:p>
        </p:txBody>
      </p:sp>
      <p:sp>
        <p:nvSpPr>
          <p:cNvPr id="4" name="Platshållare för bildnummer 3"/>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311076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839788" y="457200"/>
            <a:ext cx="3932237" cy="1600200"/>
          </a:xfrm>
        </p:spPr>
        <p:txBody>
          <a:bodyPr anchor="b"/>
          <a:lstStyle>
            <a:lvl1pPr>
              <a:defRPr sz="3200"/>
            </a:lvl1pPr>
          </a:lstStyle>
          <a:p>
            <a:r>
              <a:rPr lang="sv-SE"/>
              <a:t>Klicka här för att ändra format</a:t>
            </a:r>
          </a:p>
        </p:txBody>
      </p:sp>
      <p:sp>
        <p:nvSpPr>
          <p:cNvPr id="3" name="Platshållare för innehåll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1560A13A-DB3F-4AD5-B6AF-BDA0278A0A39}" type="datetimeFigureOut">
              <a:rPr lang="sv-SE" smtClean="0"/>
              <a:t>2026-10-16</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1548965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839788" y="457200"/>
            <a:ext cx="3932237" cy="1600200"/>
          </a:xfrm>
        </p:spPr>
        <p:txBody>
          <a:bodyPr anchor="b"/>
          <a:lstStyle>
            <a:lvl1pPr>
              <a:defRPr sz="3200"/>
            </a:lvl1pPr>
          </a:lstStyle>
          <a:p>
            <a:r>
              <a:rPr lang="sv-SE"/>
              <a:t>Klicka här för att ändra format</a:t>
            </a:r>
          </a:p>
        </p:txBody>
      </p:sp>
      <p:sp>
        <p:nvSpPr>
          <p:cNvPr id="3" name="Platshållare för bild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1560A13A-DB3F-4AD5-B6AF-BDA0278A0A39}" type="datetimeFigureOut">
              <a:rPr lang="sv-SE" smtClean="0"/>
              <a:t>2026-10-16</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4171453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2026-10-16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2623719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8724900" y="365125"/>
            <a:ext cx="2628900" cy="5811838"/>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2026-10-16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716441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60A13A-DB3F-4AD5-B6AF-BDA0278A0A39}" type="datetimeFigureOut">
              <a:rPr lang="sv-SE" smtClean="0"/>
              <a:t>2026-10-16</a:t>
            </a:fld>
            <a:endParaRPr lang="sv-SE"/>
          </a:p>
        </p:txBody>
      </p:sp>
      <p:sp>
        <p:nvSpPr>
          <p:cNvPr id="5" name="Platshållare för sidfo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C2F05B-BAF9-488D-83DE-20A7CCFAC190}" type="slidenum">
              <a:rPr lang="sv-SE" smtClean="0"/>
              <a:t>‹#›</a:t>
            </a:fld>
            <a:endParaRPr lang="sv-SE"/>
          </a:p>
        </p:txBody>
      </p:sp>
    </p:spTree>
    <p:extLst>
      <p:ext uri="{BB962C8B-B14F-4D97-AF65-F5344CB8AC3E}">
        <p14:creationId xmlns:p14="http://schemas.microsoft.com/office/powerpoint/2010/main" val="3707285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pocketbase.io" TargetMode="External"/><Relationship Id="rId4" Type="http://schemas.openxmlformats.org/officeDocument/2006/relationships/hyperlink" Target="https://www.youtube.com/watch?v=Wqy3PBEglXQ" TargetMode="External"/><Relationship Id="rId5" Type="http://schemas.openxmlformats.org/officeDocument/2006/relationships/image" Target="../media/image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flutter.dev" TargetMode="External"/><Relationship Id="rId4" Type="http://schemas.openxmlformats.org/officeDocument/2006/relationships/hyperlink" Target="https://dart.dev" TargetMode="External"/><Relationship Id="rId5" Type="http://schemas.openxmlformats.org/officeDocument/2006/relationships/image" Target="../media/image2.jpeg"/><Relationship Id="rId6"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hyperlink" Target="https://yoyo930021.github.io/flutter_compositions" TargetMode="External"/><Relationship Id="rId4" Type="http://schemas.openxmlformats.org/officeDocument/2006/relationships/image" Target="../media/image4.gi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hyperlink" Target="https://caprover.com" TargetMode="External"/><Relationship Id="rId4" Type="http://schemas.openxmlformats.org/officeDocument/2006/relationships/image" Target="../media/image5.gi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ctrTitle"/>
          </p:nvPr>
        </p:nvSpPr>
        <p:spPr/>
        <p:txBody>
          <a:bodyPr/>
          <a:lstStyle/>
          <a:p>
            <a:r>
              <a:rPr lang="sv-SE"/>
              <a:t>Databaser och mobil apputveckling</a:t>
            </a:r>
          </a:p>
        </p:txBody>
      </p:sp>
      <p:sp>
        <p:nvSpPr>
          <p:cNvPr id="3" name="Underrubrik 2"/>
          <p:cNvSpPr>
            <a:spLocks noGrp="1"/>
          </p:cNvSpPr>
          <p:nvPr>
            <p:ph type="subTitle" idx="1"/>
          </p:nvPr>
        </p:nvSpPr>
        <p:spPr/>
        <p:txBody>
          <a:bodyPr vert="horz" lIns="91440" tIns="45720" rIns="91440" bIns="45720" rtlCol="0" anchor="t">
            <a:normAutofit/>
          </a:bodyPr>
          <a:lstStyle/>
          <a:p>
            <a:r>
              <a:rPr lang="sv-SE"/>
              <a:t>Jeton Mustini</a:t>
            </a:r>
          </a:p>
        </p:txBody>
      </p:sp>
    </p:spTree>
    <p:extLst>
      <p:ext uri="{BB962C8B-B14F-4D97-AF65-F5344CB8AC3E}">
        <p14:creationId xmlns:p14="http://schemas.microsoft.com/office/powerpoint/2010/main" val="3194377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Momentets tre</a:t>
            </a:r>
            <a:r>
              <a:rPr dirty="0"/>
              <a:t> </a:t>
            </a:r>
            <a:r>
              <a:rPr err="1"/>
              <a:t>moduler</a:t>
            </a:r>
            <a:endParaRPr lang="sv-SE" err="1"/>
          </a:p>
        </p:txBody>
      </p:sp>
      <p:sp>
        <p:nvSpPr>
          <p:cNvPr id="3" name="Rounded Rectangle 2"/>
          <p:cNvSpPr/>
          <p:nvPr/>
        </p:nvSpPr>
        <p:spPr>
          <a:xfrm>
            <a:off x="676656" y="1783080"/>
            <a:ext cx="3445154" cy="292608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32688" y="2039112"/>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01</a:t>
            </a:r>
          </a:p>
        </p:txBody>
      </p:sp>
      <p:sp>
        <p:nvSpPr>
          <p:cNvPr id="5" name="TextBox 4"/>
          <p:cNvSpPr txBox="1"/>
          <p:nvPr/>
        </p:nvSpPr>
        <p:spPr>
          <a:xfrm>
            <a:off x="932688" y="2834640"/>
            <a:ext cx="2933090" cy="548640"/>
          </a:xfrm>
          <a:prstGeom prst="rect">
            <a:avLst/>
          </a:prstGeom>
          <a:noFill/>
        </p:spPr>
        <p:txBody>
          <a:bodyPr wrap="square" lIns="0" tIns="0" rIns="0" bIns="0" anchor="t">
            <a:spAutoFit/>
          </a:bodyPr>
          <a:lstStyle/>
          <a:p>
            <a:pPr algn="l">
              <a:spcAft>
                <a:spcPts val="800"/>
              </a:spcAft>
            </a:pPr>
            <a:r>
              <a:rPr sz="1900" b="1"/>
              <a:t>Databaser och PocketBase</a:t>
            </a:r>
          </a:p>
        </p:txBody>
      </p:sp>
      <p:sp>
        <p:nvSpPr>
          <p:cNvPr id="6" name="TextBox 5"/>
          <p:cNvSpPr txBox="1"/>
          <p:nvPr/>
        </p:nvSpPr>
        <p:spPr>
          <a:xfrm>
            <a:off x="932688" y="3429000"/>
            <a:ext cx="2933090" cy="914400"/>
          </a:xfrm>
          <a:prstGeom prst="rect">
            <a:avLst/>
          </a:prstGeom>
          <a:noFill/>
        </p:spPr>
        <p:txBody>
          <a:bodyPr wrap="square" lIns="0" tIns="0" rIns="0" bIns="0" anchor="t">
            <a:spAutoFit/>
          </a:bodyPr>
          <a:lstStyle/>
          <a:p>
            <a:pPr algn="l">
              <a:spcAft>
                <a:spcPts val="800"/>
              </a:spcAft>
            </a:pPr>
            <a:r>
              <a:rPr sz="1700" b="0"/>
              <a:t>Vad en databas är, databasdesign, collections, data, SQL och API-regler.</a:t>
            </a:r>
          </a:p>
        </p:txBody>
      </p:sp>
      <p:sp>
        <p:nvSpPr>
          <p:cNvPr id="7" name="Rounded Rectangle 6"/>
          <p:cNvSpPr/>
          <p:nvPr/>
        </p:nvSpPr>
        <p:spPr>
          <a:xfrm>
            <a:off x="4350410" y="1783080"/>
            <a:ext cx="3445154" cy="292608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606442" y="2039112"/>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02</a:t>
            </a:r>
          </a:p>
        </p:txBody>
      </p:sp>
      <p:sp>
        <p:nvSpPr>
          <p:cNvPr id="9" name="TextBox 8"/>
          <p:cNvSpPr txBox="1"/>
          <p:nvPr/>
        </p:nvSpPr>
        <p:spPr>
          <a:xfrm>
            <a:off x="4606442" y="2834640"/>
            <a:ext cx="2933090" cy="548640"/>
          </a:xfrm>
          <a:prstGeom prst="rect">
            <a:avLst/>
          </a:prstGeom>
          <a:noFill/>
        </p:spPr>
        <p:txBody>
          <a:bodyPr wrap="square" lIns="0" tIns="0" rIns="0" bIns="0" anchor="t">
            <a:spAutoFit/>
          </a:bodyPr>
          <a:lstStyle/>
          <a:p>
            <a:pPr algn="l">
              <a:spcAft>
                <a:spcPts val="800"/>
              </a:spcAft>
            </a:pPr>
            <a:r>
              <a:rPr sz="1900" b="1"/>
              <a:t>Flutter</a:t>
            </a:r>
          </a:p>
        </p:txBody>
      </p:sp>
      <p:sp>
        <p:nvSpPr>
          <p:cNvPr id="10" name="TextBox 9"/>
          <p:cNvSpPr txBox="1"/>
          <p:nvPr/>
        </p:nvSpPr>
        <p:spPr>
          <a:xfrm>
            <a:off x="4606442" y="3429000"/>
            <a:ext cx="2933090" cy="914400"/>
          </a:xfrm>
          <a:prstGeom prst="rect">
            <a:avLst/>
          </a:prstGeom>
          <a:noFill/>
        </p:spPr>
        <p:txBody>
          <a:bodyPr wrap="square" lIns="0" tIns="0" rIns="0" bIns="0" anchor="t">
            <a:spAutoFit/>
          </a:bodyPr>
          <a:lstStyle/>
          <a:p>
            <a:pPr algn="l">
              <a:spcAft>
                <a:spcPts val="800"/>
              </a:spcAft>
            </a:pPr>
            <a:r>
              <a:rPr sz="1700" b="0"/>
              <a:t>Dart, widgets, layout, state, navigation och att hämta data från PocketBase.</a:t>
            </a:r>
          </a:p>
        </p:txBody>
      </p:sp>
      <p:sp>
        <p:nvSpPr>
          <p:cNvPr id="11" name="Rounded Rectangle 10"/>
          <p:cNvSpPr/>
          <p:nvPr/>
        </p:nvSpPr>
        <p:spPr>
          <a:xfrm>
            <a:off x="8024164" y="1783080"/>
            <a:ext cx="3445154" cy="292608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80196" y="2039112"/>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03</a:t>
            </a:r>
          </a:p>
        </p:txBody>
      </p:sp>
      <p:sp>
        <p:nvSpPr>
          <p:cNvPr id="13" name="TextBox 12"/>
          <p:cNvSpPr txBox="1"/>
          <p:nvPr/>
        </p:nvSpPr>
        <p:spPr>
          <a:xfrm>
            <a:off x="8280196" y="2834640"/>
            <a:ext cx="2933090" cy="548640"/>
          </a:xfrm>
          <a:prstGeom prst="rect">
            <a:avLst/>
          </a:prstGeom>
          <a:noFill/>
        </p:spPr>
        <p:txBody>
          <a:bodyPr wrap="square" lIns="0" tIns="0" rIns="0" bIns="0" anchor="t">
            <a:spAutoFit/>
          </a:bodyPr>
          <a:lstStyle/>
          <a:p>
            <a:pPr algn="l">
              <a:spcAft>
                <a:spcPts val="800"/>
              </a:spcAft>
            </a:pPr>
            <a:r>
              <a:rPr sz="1900" b="1"/>
              <a:t>Flutter Compositions</a:t>
            </a:r>
          </a:p>
        </p:txBody>
      </p:sp>
      <p:sp>
        <p:nvSpPr>
          <p:cNvPr id="14" name="TextBox 13"/>
          <p:cNvSpPr txBox="1"/>
          <p:nvPr/>
        </p:nvSpPr>
        <p:spPr>
          <a:xfrm>
            <a:off x="8280196" y="3429000"/>
            <a:ext cx="2933090" cy="914400"/>
          </a:xfrm>
          <a:prstGeom prst="rect">
            <a:avLst/>
          </a:prstGeom>
          <a:noFill/>
        </p:spPr>
        <p:txBody>
          <a:bodyPr wrap="square" lIns="0" tIns="0" rIns="0" bIns="0" anchor="t">
            <a:spAutoFit/>
          </a:bodyPr>
          <a:lstStyle/>
          <a:p>
            <a:pPr algn="l">
              <a:spcAft>
                <a:spcPts val="800"/>
              </a:spcAft>
            </a:pPr>
            <a:r>
              <a:rPr sz="1700" b="0"/>
              <a:t>Vue-tänk i Flutter, PocketBase från appen och att bygga Kvittra-appen.</a:t>
            </a:r>
          </a:p>
        </p:txBody>
      </p:sp>
      <p:sp>
        <p:nvSpPr>
          <p:cNvPr id="16" name="textruta 15">
            <a:extLst>
              <a:ext uri="{FF2B5EF4-FFF2-40B4-BE49-F238E27FC236}">
                <a16:creationId xmlns:a16="http://schemas.microsoft.com/office/drawing/2014/main" id="{AF51DBE1-DA90-9D28-3A4E-F35B44705413}"/>
              </a:ext>
            </a:extLst>
          </p:cNvPr>
          <p:cNvSpPr txBox="1"/>
          <p:nvPr/>
        </p:nvSpPr>
        <p:spPr>
          <a:xfrm>
            <a:off x="809922" y="5338792"/>
            <a:ext cx="1052614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sv-SE"/>
              <a:t>Bygga Kvittra genom att följa materialet</a:t>
            </a:r>
          </a:p>
          <a:p>
            <a:pPr marL="342900" indent="-342900">
              <a:buAutoNum type="arabicPeriod"/>
            </a:pPr>
            <a:r>
              <a:rPr lang="sv-SE"/>
              <a:t>Bygga ert förstudieprojekt med teknikerna</a:t>
            </a:r>
            <a:endParaRPr lang="sv-SE" dirty="0"/>
          </a:p>
          <a:p>
            <a:pPr marL="342900" indent="-342900">
              <a:buAutoNum type="arabicPeriod"/>
            </a:pPr>
            <a:r>
              <a:rPr lang="sv-SE"/>
              <a:t>Inlämning: Kvittra projektet</a:t>
            </a:r>
            <a:endParaRPr lang="sv-SE" dirty="0"/>
          </a:p>
          <a:p>
            <a:pPr marL="342900" indent="-342900">
              <a:buAutoNum type="arabicPeriod"/>
            </a:pPr>
            <a:endParaRPr lang="sv-SE" dirty="0"/>
          </a:p>
        </p:txBody>
      </p:sp>
      <p:sp>
        <p:nvSpPr>
          <p:cNvPr id="18" name="textruta 17">
            <a:extLst>
              <a:ext uri="{FF2B5EF4-FFF2-40B4-BE49-F238E27FC236}">
                <a16:creationId xmlns:a16="http://schemas.microsoft.com/office/drawing/2014/main" id="{60BF75C3-4FFA-42C0-26B2-9BEC2DDF1F5E}"/>
              </a:ext>
            </a:extLst>
          </p:cNvPr>
          <p:cNvSpPr txBox="1"/>
          <p:nvPr/>
        </p:nvSpPr>
        <p:spPr>
          <a:xfrm>
            <a:off x="934527" y="4878716"/>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sv-SE" sz="2400"/>
              <a:t>MÅL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Kvittra – vår egen sociala app</a:t>
            </a:r>
          </a:p>
        </p:txBody>
      </p:sp>
      <p:sp>
        <p:nvSpPr>
          <p:cNvPr id="3" name="TextBox 2"/>
          <p:cNvSpPr txBox="1"/>
          <p:nvPr/>
        </p:nvSpPr>
        <p:spPr>
          <a:xfrm>
            <a:off x="768096" y="1691640"/>
            <a:ext cx="4114800" cy="2944396"/>
          </a:xfrm>
          <a:prstGeom prst="rect">
            <a:avLst/>
          </a:prstGeom>
          <a:noFill/>
        </p:spPr>
        <p:txBody>
          <a:bodyPr wrap="square" lIns="0" tIns="0" rIns="0" bIns="0" anchor="t">
            <a:spAutoFit/>
          </a:bodyPr>
          <a:lstStyle/>
          <a:p>
            <a:pPr>
              <a:spcAft>
                <a:spcPts val="1400"/>
              </a:spcAft>
            </a:pPr>
            <a:r>
              <a:rPr sz="2000" b="0" dirty="0"/>
              <a:t>Ett </a:t>
            </a:r>
            <a:r>
              <a:rPr sz="2000" b="0" dirty="0" err="1"/>
              <a:t>gemensamt</a:t>
            </a:r>
            <a:r>
              <a:rPr sz="2000" b="0" dirty="0"/>
              <a:t> </a:t>
            </a:r>
            <a:r>
              <a:rPr sz="2000" b="0" dirty="0" err="1"/>
              <a:t>exempel</a:t>
            </a:r>
            <a:r>
              <a:rPr sz="2000" b="0" dirty="0"/>
              <a:t> </a:t>
            </a:r>
            <a:r>
              <a:rPr sz="2000" b="0" dirty="0" err="1"/>
              <a:t>genom</a:t>
            </a:r>
            <a:r>
              <a:rPr sz="2000" b="0" dirty="0"/>
              <a:t> </a:t>
            </a:r>
            <a:r>
              <a:rPr sz="2000" b="0" dirty="0" err="1"/>
              <a:t>hela</a:t>
            </a:r>
            <a:r>
              <a:rPr sz="2000" b="0" dirty="0"/>
              <a:t> </a:t>
            </a:r>
            <a:r>
              <a:rPr lang="sv-SE" sz="2000" dirty="0"/>
              <a:t> momentet</a:t>
            </a:r>
            <a:r>
              <a:rPr sz="2000" b="0" dirty="0"/>
              <a:t>: </a:t>
            </a:r>
            <a:r>
              <a:rPr sz="2000" b="0" dirty="0" err="1"/>
              <a:t>en</a:t>
            </a:r>
            <a:r>
              <a:rPr sz="2000" b="0" dirty="0"/>
              <a:t> </a:t>
            </a:r>
            <a:r>
              <a:rPr sz="2000" b="0" dirty="0" err="1"/>
              <a:t>enkel</a:t>
            </a:r>
            <a:r>
              <a:rPr sz="2000" b="0" dirty="0"/>
              <a:t> app </a:t>
            </a:r>
            <a:r>
              <a:rPr sz="2000" b="0" dirty="0" err="1"/>
              <a:t>i</a:t>
            </a:r>
            <a:r>
              <a:rPr sz="2000" b="0" dirty="0"/>
              <a:t> </a:t>
            </a:r>
            <a:r>
              <a:rPr sz="2000" b="0" dirty="0" err="1"/>
              <a:t>stil</a:t>
            </a:r>
            <a:r>
              <a:rPr sz="2000" b="0" dirty="0"/>
              <a:t> med </a:t>
            </a:r>
            <a:r>
              <a:rPr lang="sv-SE" sz="2000" dirty="0"/>
              <a:t>Twitter/X</a:t>
            </a:r>
            <a:r>
              <a:rPr sz="2000" b="0" dirty="0"/>
              <a:t>.</a:t>
            </a:r>
          </a:p>
          <a:p>
            <a:pPr algn="l">
              <a:spcAft>
                <a:spcPts val="1400"/>
              </a:spcAft>
            </a:pPr>
            <a:r>
              <a:rPr sz="1800" b="0" dirty="0" err="1"/>
              <a:t>Användare</a:t>
            </a:r>
            <a:r>
              <a:rPr sz="1800" b="0" dirty="0"/>
              <a:t> </a:t>
            </a:r>
            <a:r>
              <a:rPr sz="1800" b="0" dirty="0" err="1"/>
              <a:t>skriver</a:t>
            </a:r>
            <a:r>
              <a:rPr sz="1800" b="0" dirty="0"/>
              <a:t> </a:t>
            </a:r>
            <a:r>
              <a:rPr sz="1800" b="0" dirty="0" err="1"/>
              <a:t>inlägg</a:t>
            </a:r>
            <a:r>
              <a:rPr sz="1800" b="0" dirty="0"/>
              <a:t>, </a:t>
            </a:r>
            <a:r>
              <a:rPr sz="1800" b="0" dirty="0" err="1"/>
              <a:t>kommenterar</a:t>
            </a:r>
            <a:r>
              <a:rPr sz="1800" b="0" dirty="0"/>
              <a:t>, gillar och </a:t>
            </a:r>
            <a:r>
              <a:rPr sz="1800" b="0" dirty="0" err="1"/>
              <a:t>följer</a:t>
            </a:r>
            <a:r>
              <a:rPr sz="1800" b="0" dirty="0"/>
              <a:t> </a:t>
            </a:r>
            <a:r>
              <a:rPr sz="1800" b="0" dirty="0" err="1"/>
              <a:t>varandra</a:t>
            </a:r>
            <a:r>
              <a:rPr sz="1800" b="0" dirty="0"/>
              <a:t>.</a:t>
            </a:r>
          </a:p>
          <a:p>
            <a:pPr algn="l">
              <a:spcAft>
                <a:spcPts val="1400"/>
              </a:spcAft>
            </a:pPr>
            <a:r>
              <a:rPr sz="1800" b="0" dirty="0"/>
              <a:t>Samma data </a:t>
            </a:r>
            <a:r>
              <a:rPr sz="1800" b="0" dirty="0" err="1"/>
              <a:t>följer</a:t>
            </a:r>
            <a:r>
              <a:rPr sz="1800" b="0" dirty="0"/>
              <a:t> med </a:t>
            </a:r>
            <a:r>
              <a:rPr sz="1800" b="0" dirty="0" err="1"/>
              <a:t>hela</a:t>
            </a:r>
            <a:r>
              <a:rPr sz="1800" b="0" dirty="0"/>
              <a:t> </a:t>
            </a:r>
            <a:r>
              <a:rPr sz="1800" b="0" dirty="0" err="1"/>
              <a:t>kursen</a:t>
            </a:r>
            <a:r>
              <a:rPr sz="1800" b="0" dirty="0"/>
              <a:t>: </a:t>
            </a:r>
            <a:r>
              <a:rPr sz="1800" b="0" dirty="0" err="1"/>
              <a:t>som</a:t>
            </a:r>
            <a:r>
              <a:rPr sz="1800" b="0" dirty="0"/>
              <a:t> </a:t>
            </a:r>
            <a:r>
              <a:rPr sz="1800" b="0" dirty="0" err="1"/>
              <a:t>tabeller</a:t>
            </a:r>
            <a:r>
              <a:rPr sz="1800" b="0" dirty="0"/>
              <a:t> </a:t>
            </a:r>
            <a:r>
              <a:rPr sz="1800" b="0" dirty="0" err="1"/>
              <a:t>i</a:t>
            </a:r>
            <a:r>
              <a:rPr sz="1800" b="0" dirty="0"/>
              <a:t> </a:t>
            </a:r>
            <a:r>
              <a:rPr sz="1800" b="0" dirty="0" err="1"/>
              <a:t>PocketBase</a:t>
            </a:r>
            <a:r>
              <a:rPr sz="1800" b="0" dirty="0"/>
              <a:t> (</a:t>
            </a:r>
            <a:r>
              <a:rPr sz="1800" b="0" dirty="0" err="1"/>
              <a:t>modul</a:t>
            </a:r>
            <a:r>
              <a:rPr sz="1800" b="0" dirty="0"/>
              <a:t> 01), </a:t>
            </a:r>
            <a:r>
              <a:rPr sz="1800" b="0" dirty="0" err="1"/>
              <a:t>som</a:t>
            </a:r>
            <a:r>
              <a:rPr sz="1800" b="0" dirty="0"/>
              <a:t> Dart-</a:t>
            </a:r>
            <a:r>
              <a:rPr sz="1800" b="0" dirty="0" err="1"/>
              <a:t>klasser</a:t>
            </a:r>
            <a:r>
              <a:rPr sz="1800" b="0" dirty="0"/>
              <a:t> (</a:t>
            </a:r>
            <a:r>
              <a:rPr sz="1800" b="0" dirty="0" err="1"/>
              <a:t>modul</a:t>
            </a:r>
            <a:r>
              <a:rPr sz="1800" b="0" dirty="0"/>
              <a:t> 02) och </a:t>
            </a:r>
            <a:r>
              <a:rPr sz="1800" b="0" dirty="0" err="1"/>
              <a:t>i</a:t>
            </a:r>
            <a:r>
              <a:rPr sz="1800" b="0" dirty="0"/>
              <a:t> </a:t>
            </a:r>
            <a:r>
              <a:rPr sz="1800" b="0" dirty="0" err="1"/>
              <a:t>en</a:t>
            </a:r>
            <a:r>
              <a:rPr sz="1800" b="0" dirty="0"/>
              <a:t> </a:t>
            </a:r>
            <a:r>
              <a:rPr sz="1800" b="0" dirty="0" err="1"/>
              <a:t>riktig</a:t>
            </a:r>
            <a:r>
              <a:rPr sz="1800" b="0" dirty="0"/>
              <a:t> app (</a:t>
            </a:r>
            <a:r>
              <a:rPr sz="1800" b="0" dirty="0" err="1"/>
              <a:t>modul</a:t>
            </a:r>
            <a:r>
              <a:rPr sz="1800" b="0" dirty="0"/>
              <a:t> 03).</a:t>
            </a:r>
          </a:p>
        </p:txBody>
      </p:sp>
      <p:graphicFrame>
        <p:nvGraphicFramePr>
          <p:cNvPr id="4" name="Table 3"/>
          <p:cNvGraphicFramePr>
            <a:graphicFrameLocks noGrp="1"/>
          </p:cNvGraphicFramePr>
          <p:nvPr/>
        </p:nvGraphicFramePr>
        <p:xfrm>
          <a:off x="5212080" y="1691640"/>
          <a:ext cx="6217920" cy="3304032"/>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48640">
                <a:tc>
                  <a:txBody>
                    <a:bodyPr/>
                    <a:lstStyle/>
                    <a:p>
                      <a:r>
                        <a:rPr sz="1600" b="1"/>
                        <a:t>Tabell</a:t>
                      </a:r>
                    </a:p>
                  </a:txBody>
                  <a:tcPr marT="36576" marB="36576" anchor="ctr"/>
                </a:tc>
                <a:tc>
                  <a:txBody>
                    <a:bodyPr/>
                    <a:lstStyle/>
                    <a:p>
                      <a:r>
                        <a:rPr sz="1600" b="1"/>
                        <a:t>Innehåll</a:t>
                      </a:r>
                    </a:p>
                  </a:txBody>
                  <a:tcPr marT="36576" marB="36576" anchor="ctr"/>
                </a:tc>
                <a:tc>
                  <a:txBody>
                    <a:bodyPr/>
                    <a:lstStyle/>
                    <a:p>
                      <a:r>
                        <a:rPr sz="1600" b="1"/>
                        <a:t>Relation</a:t>
                      </a:r>
                    </a:p>
                  </a:txBody>
                  <a:tcPr marT="36576" marB="36576" anchor="ctr"/>
                </a:tc>
                <a:extLst>
                  <a:ext uri="{0D108BD9-81ED-4DB2-BD59-A6C34878D82A}">
                    <a16:rowId xmlns:a16="http://schemas.microsoft.com/office/drawing/2014/main" val="10000"/>
                  </a:ext>
                </a:extLst>
              </a:tr>
              <a:tr h="548640">
                <a:tc>
                  <a:txBody>
                    <a:bodyPr/>
                    <a:lstStyle/>
                    <a:p>
                      <a:r>
                        <a:rPr sz="1600">
                          <a:latin typeface="Courier New"/>
                        </a:rPr>
                        <a:t>users</a:t>
                      </a:r>
                    </a:p>
                  </a:txBody>
                  <a:tcPr marT="36576" marB="36576" anchor="ctr"/>
                </a:tc>
                <a:tc>
                  <a:txBody>
                    <a:bodyPr/>
                    <a:lstStyle/>
                    <a:p>
                      <a:r>
                        <a:rPr sz="1600"/>
                        <a:t>Användare som loggar in</a:t>
                      </a:r>
                    </a:p>
                  </a:txBody>
                  <a:tcPr marT="36576" marB="36576" anchor="ctr"/>
                </a:tc>
                <a:tc>
                  <a:txBody>
                    <a:bodyPr/>
                    <a:lstStyle/>
                    <a:p>
                      <a:r>
                        <a:rPr sz="1600"/>
                        <a:t>–</a:t>
                      </a:r>
                    </a:p>
                  </a:txBody>
                  <a:tcPr marT="36576" marB="36576" anchor="ctr"/>
                </a:tc>
                <a:extLst>
                  <a:ext uri="{0D108BD9-81ED-4DB2-BD59-A6C34878D82A}">
                    <a16:rowId xmlns:a16="http://schemas.microsoft.com/office/drawing/2014/main" val="10001"/>
                  </a:ext>
                </a:extLst>
              </a:tr>
              <a:tr h="548640">
                <a:tc>
                  <a:txBody>
                    <a:bodyPr/>
                    <a:lstStyle/>
                    <a:p>
                      <a:r>
                        <a:rPr sz="1600">
                          <a:latin typeface="Courier New"/>
                        </a:rPr>
                        <a:t>posts</a:t>
                      </a:r>
                    </a:p>
                  </a:txBody>
                  <a:tcPr marT="36576" marB="36576" anchor="ctr"/>
                </a:tc>
                <a:tc>
                  <a:txBody>
                    <a:bodyPr/>
                    <a:lstStyle/>
                    <a:p>
                      <a:r>
                        <a:rPr sz="1600"/>
                        <a:t>Inlägg skrivna av en användare</a:t>
                      </a:r>
                    </a:p>
                  </a:txBody>
                  <a:tcPr marT="36576" marB="36576" anchor="ctr"/>
                </a:tc>
                <a:tc>
                  <a:txBody>
                    <a:bodyPr/>
                    <a:lstStyle/>
                    <a:p>
                      <a:r>
                        <a:rPr sz="1600"/>
                        <a:t>1:N</a:t>
                      </a:r>
                    </a:p>
                  </a:txBody>
                  <a:tcPr marT="36576" marB="36576" anchor="ctr"/>
                </a:tc>
                <a:extLst>
                  <a:ext uri="{0D108BD9-81ED-4DB2-BD59-A6C34878D82A}">
                    <a16:rowId xmlns:a16="http://schemas.microsoft.com/office/drawing/2014/main" val="10002"/>
                  </a:ext>
                </a:extLst>
              </a:tr>
              <a:tr h="548640">
                <a:tc>
                  <a:txBody>
                    <a:bodyPr/>
                    <a:lstStyle/>
                    <a:p>
                      <a:r>
                        <a:rPr sz="1600">
                          <a:latin typeface="Courier New"/>
                        </a:rPr>
                        <a:t>comments</a:t>
                      </a:r>
                    </a:p>
                  </a:txBody>
                  <a:tcPr marT="36576" marB="36576" anchor="ctr"/>
                </a:tc>
                <a:tc>
                  <a:txBody>
                    <a:bodyPr/>
                    <a:lstStyle/>
                    <a:p>
                      <a:r>
                        <a:rPr sz="1600"/>
                        <a:t>Kommentarer på inlägg</a:t>
                      </a:r>
                    </a:p>
                  </a:txBody>
                  <a:tcPr marT="36576" marB="36576" anchor="ctr"/>
                </a:tc>
                <a:tc>
                  <a:txBody>
                    <a:bodyPr/>
                    <a:lstStyle/>
                    <a:p>
                      <a:r>
                        <a:rPr sz="1600"/>
                        <a:t>1:N</a:t>
                      </a:r>
                    </a:p>
                  </a:txBody>
                  <a:tcPr marT="36576" marB="36576" anchor="ctr"/>
                </a:tc>
                <a:extLst>
                  <a:ext uri="{0D108BD9-81ED-4DB2-BD59-A6C34878D82A}">
                    <a16:rowId xmlns:a16="http://schemas.microsoft.com/office/drawing/2014/main" val="10003"/>
                  </a:ext>
                </a:extLst>
              </a:tr>
              <a:tr h="548640">
                <a:tc>
                  <a:txBody>
                    <a:bodyPr/>
                    <a:lstStyle/>
                    <a:p>
                      <a:r>
                        <a:rPr sz="1600">
                          <a:latin typeface="Courier New"/>
                        </a:rPr>
                        <a:t>likes</a:t>
                      </a:r>
                    </a:p>
                  </a:txBody>
                  <a:tcPr marT="36576" marB="36576" anchor="ctr"/>
                </a:tc>
                <a:tc>
                  <a:txBody>
                    <a:bodyPr/>
                    <a:lstStyle/>
                    <a:p>
                      <a:r>
                        <a:rPr sz="1600"/>
                        <a:t>En användare gillar ett inlägg</a:t>
                      </a:r>
                    </a:p>
                  </a:txBody>
                  <a:tcPr marT="36576" marB="36576" anchor="ctr"/>
                </a:tc>
                <a:tc>
                  <a:txBody>
                    <a:bodyPr/>
                    <a:lstStyle/>
                    <a:p>
                      <a:r>
                        <a:rPr sz="1600"/>
                        <a:t>N:M</a:t>
                      </a:r>
                    </a:p>
                  </a:txBody>
                  <a:tcPr marT="36576" marB="36576" anchor="ctr"/>
                </a:tc>
                <a:extLst>
                  <a:ext uri="{0D108BD9-81ED-4DB2-BD59-A6C34878D82A}">
                    <a16:rowId xmlns:a16="http://schemas.microsoft.com/office/drawing/2014/main" val="10004"/>
                  </a:ext>
                </a:extLst>
              </a:tr>
              <a:tr h="548640">
                <a:tc>
                  <a:txBody>
                    <a:bodyPr/>
                    <a:lstStyle/>
                    <a:p>
                      <a:r>
                        <a:rPr sz="1600">
                          <a:latin typeface="Courier New"/>
                        </a:rPr>
                        <a:t>follows</a:t>
                      </a:r>
                    </a:p>
                  </a:txBody>
                  <a:tcPr marT="36576" marB="36576" anchor="ctr"/>
                </a:tc>
                <a:tc>
                  <a:txBody>
                    <a:bodyPr/>
                    <a:lstStyle/>
                    <a:p>
                      <a:r>
                        <a:rPr sz="1600"/>
                        <a:t>En användare följer en annan</a:t>
                      </a:r>
                    </a:p>
                  </a:txBody>
                  <a:tcPr marT="36576" marB="36576" anchor="ctr"/>
                </a:tc>
                <a:tc>
                  <a:txBody>
                    <a:bodyPr/>
                    <a:lstStyle/>
                    <a:p>
                      <a:r>
                        <a:rPr sz="1600"/>
                        <a:t>N:M (samma tabell)</a:t>
                      </a:r>
                    </a:p>
                  </a:txBody>
                  <a:tcPr marT="36576" marB="36576"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p:cNvSpPr txBox="1"/>
          <p:nvPr/>
        </p:nvSpPr>
        <p:spPr>
          <a:xfrm>
            <a:off x="768096" y="914400"/>
            <a:ext cx="3200400" cy="2011680"/>
          </a:xfrm>
          <a:prstGeom prst="rect">
            <a:avLst/>
          </a:prstGeom>
          <a:noFill/>
        </p:spPr>
        <p:txBody>
          <a:bodyPr wrap="square" lIns="0" tIns="0" rIns="0" bIns="0" anchor="t">
            <a:spAutoFit/>
          </a:bodyPr>
          <a:lstStyle/>
          <a:p>
            <a:pPr algn="l">
              <a:spcAft>
                <a:spcPts val="800"/>
              </a:spcAft>
            </a:pPr>
            <a:r>
              <a:rPr sz="12000" b="1">
                <a:solidFill>
                  <a:srgbClr val="FFFFFF"/>
                </a:solidFill>
              </a:rPr>
              <a:t>01</a:t>
            </a:r>
          </a:p>
        </p:txBody>
      </p:sp>
      <p:sp>
        <p:nvSpPr>
          <p:cNvPr id="3" name="TextBox 2"/>
          <p:cNvSpPr txBox="1"/>
          <p:nvPr/>
        </p:nvSpPr>
        <p:spPr>
          <a:xfrm>
            <a:off x="768096" y="2788920"/>
            <a:ext cx="4572000" cy="2286000"/>
          </a:xfrm>
          <a:prstGeom prst="rect">
            <a:avLst/>
          </a:prstGeom>
          <a:noFill/>
        </p:spPr>
        <p:txBody>
          <a:bodyPr wrap="square" lIns="0" tIns="0" rIns="0" bIns="0" anchor="t">
            <a:spAutoFit/>
          </a:bodyPr>
          <a:lstStyle/>
          <a:p>
            <a:pPr algn="l">
              <a:spcAft>
                <a:spcPts val="800"/>
              </a:spcAft>
            </a:pPr>
            <a:r>
              <a:rPr sz="3800" b="1">
                <a:solidFill>
                  <a:srgbClr val="FFFFFF"/>
                </a:solidFill>
              </a:rPr>
              <a:t>Databaser och PocketBase</a:t>
            </a:r>
          </a:p>
        </p:txBody>
      </p:sp>
      <p:sp>
        <p:nvSpPr>
          <p:cNvPr id="4" name="TextBox 3"/>
          <p:cNvSpPr txBox="1"/>
          <p:nvPr/>
        </p:nvSpPr>
        <p:spPr>
          <a:xfrm>
            <a:off x="5852160" y="1051560"/>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1. Installera PocketBase</a:t>
            </a:r>
          </a:p>
        </p:txBody>
      </p:sp>
      <p:sp>
        <p:nvSpPr>
          <p:cNvPr id="5" name="TextBox 4"/>
          <p:cNvSpPr txBox="1"/>
          <p:nvPr/>
        </p:nvSpPr>
        <p:spPr>
          <a:xfrm>
            <a:off x="5852160" y="1527048"/>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2. Vad är en databas?</a:t>
            </a:r>
          </a:p>
        </p:txBody>
      </p:sp>
      <p:sp>
        <p:nvSpPr>
          <p:cNvPr id="6" name="TextBox 5"/>
          <p:cNvSpPr txBox="1"/>
          <p:nvPr/>
        </p:nvSpPr>
        <p:spPr>
          <a:xfrm>
            <a:off x="5852160" y="2002536"/>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3. Databasdesign med Kvittra</a:t>
            </a:r>
          </a:p>
        </p:txBody>
      </p:sp>
      <p:sp>
        <p:nvSpPr>
          <p:cNvPr id="7" name="TextBox 6"/>
          <p:cNvSpPr txBox="1"/>
          <p:nvPr/>
        </p:nvSpPr>
        <p:spPr>
          <a:xfrm>
            <a:off x="5852160" y="2478024"/>
            <a:ext cx="5669280" cy="292388"/>
          </a:xfrm>
          <a:prstGeom prst="rect">
            <a:avLst/>
          </a:prstGeom>
          <a:noFill/>
        </p:spPr>
        <p:txBody>
          <a:bodyPr wrap="square" lIns="0" tIns="0" rIns="0" bIns="0" anchor="t">
            <a:spAutoFit/>
          </a:bodyPr>
          <a:lstStyle/>
          <a:p>
            <a:pPr>
              <a:spcAft>
                <a:spcPts val="800"/>
              </a:spcAft>
            </a:pPr>
            <a:r>
              <a:rPr sz="1900" b="0" dirty="0">
                <a:solidFill>
                  <a:srgbClr val="FFFFFF"/>
                </a:solidFill>
              </a:rPr>
              <a:t>4. </a:t>
            </a:r>
            <a:r>
              <a:rPr sz="1900" b="0" err="1">
                <a:solidFill>
                  <a:srgbClr val="FFFFFF"/>
                </a:solidFill>
              </a:rPr>
              <a:t>Övning</a:t>
            </a:r>
            <a:r>
              <a:rPr sz="1900" b="0" dirty="0">
                <a:solidFill>
                  <a:srgbClr val="FFFFFF"/>
                </a:solidFill>
              </a:rPr>
              <a:t>: </a:t>
            </a:r>
            <a:r>
              <a:rPr sz="1900" b="0" err="1">
                <a:solidFill>
                  <a:srgbClr val="FFFFFF"/>
                </a:solidFill>
              </a:rPr>
              <a:t>designa</a:t>
            </a:r>
            <a:r>
              <a:rPr sz="1900" b="0" dirty="0">
                <a:solidFill>
                  <a:srgbClr val="FFFFFF"/>
                </a:solidFill>
              </a:rPr>
              <a:t> </a:t>
            </a:r>
            <a:r>
              <a:rPr lang="sv-SE" sz="1900">
                <a:solidFill>
                  <a:srgbClr val="FFFFFF"/>
                </a:solidFill>
              </a:rPr>
              <a:t>ert förestudie</a:t>
            </a:r>
            <a:r>
              <a:rPr sz="1900" b="0" dirty="0">
                <a:solidFill>
                  <a:srgbClr val="FFFFFF"/>
                </a:solidFill>
              </a:rPr>
              <a:t> projekt</a:t>
            </a:r>
            <a:endParaRPr lang="sv-SE" sz="1900" b="0" dirty="0">
              <a:solidFill>
                <a:srgbClr val="FFFFFF"/>
              </a:solidFill>
            </a:endParaRPr>
          </a:p>
        </p:txBody>
      </p:sp>
      <p:sp>
        <p:nvSpPr>
          <p:cNvPr id="8" name="TextBox 7"/>
          <p:cNvSpPr txBox="1"/>
          <p:nvPr/>
        </p:nvSpPr>
        <p:spPr>
          <a:xfrm>
            <a:off x="5852160" y="2953512"/>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5. Bygg Kvittra i PocketBase</a:t>
            </a:r>
          </a:p>
        </p:txBody>
      </p:sp>
      <p:sp>
        <p:nvSpPr>
          <p:cNvPr id="9" name="TextBox 8"/>
          <p:cNvSpPr txBox="1"/>
          <p:nvPr/>
        </p:nvSpPr>
        <p:spPr>
          <a:xfrm>
            <a:off x="5852160" y="3429000"/>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6. Lägg in data</a:t>
            </a:r>
          </a:p>
        </p:txBody>
      </p:sp>
      <p:sp>
        <p:nvSpPr>
          <p:cNvPr id="10" name="TextBox 9"/>
          <p:cNvSpPr txBox="1"/>
          <p:nvPr/>
        </p:nvSpPr>
        <p:spPr>
          <a:xfrm>
            <a:off x="5852160" y="3904487"/>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7. SQL och View collections</a:t>
            </a:r>
          </a:p>
        </p:txBody>
      </p:sp>
      <p:sp>
        <p:nvSpPr>
          <p:cNvPr id="11" name="TextBox 10"/>
          <p:cNvSpPr txBox="1"/>
          <p:nvPr/>
        </p:nvSpPr>
        <p:spPr>
          <a:xfrm>
            <a:off x="5852160" y="4379975"/>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8. Inloggning och API-regler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DE590F1-F515-AAF5-B580-5CF9515E7BC3}"/>
              </a:ext>
            </a:extLst>
          </p:cNvPr>
          <p:cNvSpPr>
            <a:spLocks noGrp="1"/>
          </p:cNvSpPr>
          <p:nvPr>
            <p:ph type="title"/>
          </p:nvPr>
        </p:nvSpPr>
        <p:spPr>
          <a:xfrm>
            <a:off x="406879" y="250106"/>
            <a:ext cx="10515600" cy="1325563"/>
          </a:xfrm>
        </p:spPr>
        <p:txBody>
          <a:bodyPr/>
          <a:lstStyle/>
          <a:p>
            <a:r>
              <a:rPr lang="sv-SE"/>
              <a:t>Databas - Pocketbase</a:t>
            </a:r>
          </a:p>
        </p:txBody>
      </p:sp>
      <p:sp>
        <p:nvSpPr>
          <p:cNvPr id="3" name="Platshållare för innehåll 2">
            <a:extLst>
              <a:ext uri="{FF2B5EF4-FFF2-40B4-BE49-F238E27FC236}">
                <a16:creationId xmlns:a16="http://schemas.microsoft.com/office/drawing/2014/main" id="{767DE83D-CF41-9A92-01D6-C1A33CADF362}"/>
              </a:ext>
            </a:extLst>
          </p:cNvPr>
          <p:cNvSpPr>
            <a:spLocks noGrp="1"/>
          </p:cNvSpPr>
          <p:nvPr>
            <p:ph idx="1"/>
          </p:nvPr>
        </p:nvSpPr>
        <p:spPr>
          <a:xfrm>
            <a:off x="291860" y="1480568"/>
            <a:ext cx="10515600" cy="5216286"/>
          </a:xfrm>
        </p:spPr>
        <p:txBody>
          <a:bodyPr vert="horz" lIns="91440" tIns="45720" rIns="91440" bIns="45720" rtlCol="0" anchor="t">
            <a:normAutofit/>
          </a:bodyPr>
          <a:lstStyle/>
          <a:p>
            <a:r>
              <a:rPr lang="sv-SE"/>
              <a:t>En snubbe från Bulgarien</a:t>
            </a:r>
          </a:p>
          <a:p>
            <a:r>
              <a:rPr lang="sv-SE" dirty="0">
                <a:ea typeface="+mn-lt"/>
                <a:cs typeface="+mn-lt"/>
                <a:hlinkClick r:id="rId3"/>
              </a:rPr>
              <a:t>https://pocketbase.io</a:t>
            </a:r>
          </a:p>
          <a:p>
            <a:r>
              <a:rPr lang="sv-SE" dirty="0">
                <a:ea typeface="+mn-lt"/>
                <a:cs typeface="+mn-lt"/>
                <a:hlinkClick r:id="rId4"/>
              </a:rPr>
              <a:t>https://www.youtube.com/watch?v=Wqy3PBEglXQ</a:t>
            </a:r>
          </a:p>
          <a:p>
            <a:r>
              <a:rPr lang="sv-SE"/>
              <a:t>Funktionalitet:</a:t>
            </a:r>
            <a:endParaRPr lang="sv-SE" dirty="0"/>
          </a:p>
          <a:p>
            <a:pPr lvl="1">
              <a:buFont typeface="Courier New" panose="020B0604020202020204" pitchFamily="34" charset="0"/>
              <a:buChar char="o"/>
            </a:pPr>
            <a:r>
              <a:rPr lang="sv-SE"/>
              <a:t>Databas</a:t>
            </a:r>
            <a:endParaRPr lang="sv-SE" dirty="0"/>
          </a:p>
          <a:p>
            <a:pPr lvl="1">
              <a:buFont typeface="Courier New" panose="020B0604020202020204" pitchFamily="34" charset="0"/>
              <a:buChar char="o"/>
            </a:pPr>
            <a:r>
              <a:rPr lang="sv-SE"/>
              <a:t>Realtid (subscriptions)</a:t>
            </a:r>
            <a:endParaRPr lang="sv-SE" dirty="0"/>
          </a:p>
          <a:p>
            <a:pPr lvl="1">
              <a:buFont typeface="Courier New" panose="020B0604020202020204" pitchFamily="34" charset="0"/>
              <a:buChar char="o"/>
            </a:pPr>
            <a:r>
              <a:rPr lang="sv-SE"/>
              <a:t>Filhantering</a:t>
            </a:r>
          </a:p>
          <a:p>
            <a:pPr lvl="1">
              <a:buFont typeface="Courier New" panose="020B0604020202020204" pitchFamily="34" charset="0"/>
              <a:buChar char="o"/>
            </a:pPr>
            <a:r>
              <a:rPr lang="sv-SE"/>
              <a:t>Autentisering</a:t>
            </a:r>
            <a:endParaRPr lang="sv-SE" dirty="0"/>
          </a:p>
          <a:p>
            <a:pPr lvl="1">
              <a:buFont typeface="Courier New" panose="020B0604020202020204" pitchFamily="34" charset="0"/>
              <a:buChar char="o"/>
            </a:pPr>
            <a:r>
              <a:rPr lang="sv-SE"/>
              <a:t>Mejlutskick</a:t>
            </a:r>
          </a:p>
          <a:p>
            <a:pPr lvl="1">
              <a:buFont typeface="Courier New" panose="020B0604020202020204" pitchFamily="34" charset="0"/>
              <a:buChar char="o"/>
            </a:pPr>
            <a:r>
              <a:rPr lang="sv-SE"/>
              <a:t>Schemalagda jobb (cron-jobs)</a:t>
            </a:r>
            <a:endParaRPr lang="sv-SE" dirty="0"/>
          </a:p>
          <a:p>
            <a:pPr lvl="1">
              <a:buFont typeface="Courier New" panose="020B0604020202020204" pitchFamily="34" charset="0"/>
              <a:buChar char="o"/>
            </a:pPr>
            <a:r>
              <a:rPr lang="sv-SE"/>
              <a:t>Web server</a:t>
            </a:r>
            <a:endParaRPr lang="sv-SE" dirty="0"/>
          </a:p>
          <a:p>
            <a:pPr lvl="1">
              <a:buFont typeface="Courier New" panose="020B0604020202020204" pitchFamily="34" charset="0"/>
              <a:buChar char="o"/>
            </a:pPr>
            <a:r>
              <a:rPr lang="sv-SE"/>
              <a:t>Självhostningsbar (self-hostable)</a:t>
            </a:r>
            <a:endParaRPr lang="sv-SE" dirty="0"/>
          </a:p>
          <a:p>
            <a:pPr lvl="1">
              <a:buFont typeface="Courier New" panose="020B0604020202020204" pitchFamily="34" charset="0"/>
              <a:buChar char="o"/>
            </a:pPr>
            <a:endParaRPr lang="sv-SE" dirty="0"/>
          </a:p>
        </p:txBody>
      </p:sp>
      <p:pic>
        <p:nvPicPr>
          <p:cNvPr id="4" name="Bildobjekt 3" descr="Borat Dancing GIFs | Tenor">
            <a:extLst>
              <a:ext uri="{FF2B5EF4-FFF2-40B4-BE49-F238E27FC236}">
                <a16:creationId xmlns:a16="http://schemas.microsoft.com/office/drawing/2014/main" id="{277E14F2-9AEB-23D4-D17F-1E2050BBBD70}"/>
              </a:ext>
            </a:extLst>
          </p:cNvPr>
          <p:cNvPicPr>
            <a:picLocks noChangeAspect="1"/>
          </p:cNvPicPr>
          <p:nvPr/>
        </p:nvPicPr>
        <p:blipFill>
          <a:blip r:embed="rId5"/>
          <a:stretch>
            <a:fillRect/>
          </a:stretch>
        </p:blipFill>
        <p:spPr>
          <a:xfrm>
            <a:off x="6019913" y="1713636"/>
            <a:ext cx="4902800" cy="4441702"/>
          </a:xfrm>
          <a:prstGeom prst="rect">
            <a:avLst/>
          </a:prstGeom>
        </p:spPr>
      </p:pic>
    </p:spTree>
    <p:extLst>
      <p:ext uri="{BB962C8B-B14F-4D97-AF65-F5344CB8AC3E}">
        <p14:creationId xmlns:p14="http://schemas.microsoft.com/office/powerpoint/2010/main" val="3843384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Installera PocketBase på Windows</a:t>
            </a:r>
          </a:p>
        </p:txBody>
      </p:sp>
      <p:sp>
        <p:nvSpPr>
          <p:cNvPr id="3" name="Oval 2"/>
          <p:cNvSpPr/>
          <p:nvPr/>
        </p:nvSpPr>
        <p:spPr>
          <a:xfrm>
            <a:off x="813816" y="17373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1</a:t>
            </a:r>
          </a:p>
        </p:txBody>
      </p:sp>
      <p:sp>
        <p:nvSpPr>
          <p:cNvPr id="4" name="TextBox 3"/>
          <p:cNvSpPr txBox="1"/>
          <p:nvPr/>
        </p:nvSpPr>
        <p:spPr>
          <a:xfrm>
            <a:off x="1591056" y="1719072"/>
            <a:ext cx="5394960" cy="914400"/>
          </a:xfrm>
          <a:prstGeom prst="rect">
            <a:avLst/>
          </a:prstGeom>
          <a:noFill/>
        </p:spPr>
        <p:txBody>
          <a:bodyPr wrap="square" lIns="0" tIns="0" rIns="0" bIns="0" anchor="t">
            <a:spAutoFit/>
          </a:bodyPr>
          <a:lstStyle/>
          <a:p>
            <a:pPr algn="l">
              <a:spcAft>
                <a:spcPts val="200"/>
              </a:spcAft>
            </a:pPr>
            <a:r>
              <a:rPr sz="1900" b="1"/>
              <a:t>Ladda ner</a:t>
            </a:r>
          </a:p>
          <a:p>
            <a:pPr algn="l">
              <a:spcAft>
                <a:spcPts val="800"/>
              </a:spcAft>
            </a:pPr>
            <a:r>
              <a:rPr sz="1500" b="0">
                <a:solidFill>
                  <a:srgbClr val="595959"/>
                </a:solidFill>
              </a:rPr>
              <a:t>pocketbase.io/docs → zip-filen som slutar på windows_amd64.zip</a:t>
            </a:r>
          </a:p>
        </p:txBody>
      </p:sp>
      <p:sp>
        <p:nvSpPr>
          <p:cNvPr id="5" name="Oval 4"/>
          <p:cNvSpPr/>
          <p:nvPr/>
        </p:nvSpPr>
        <p:spPr>
          <a:xfrm>
            <a:off x="813816" y="26517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2</a:t>
            </a:r>
          </a:p>
        </p:txBody>
      </p:sp>
      <p:sp>
        <p:nvSpPr>
          <p:cNvPr id="6" name="TextBox 5"/>
          <p:cNvSpPr txBox="1"/>
          <p:nvPr/>
        </p:nvSpPr>
        <p:spPr>
          <a:xfrm>
            <a:off x="1591056" y="2633472"/>
            <a:ext cx="5394960" cy="914400"/>
          </a:xfrm>
          <a:prstGeom prst="rect">
            <a:avLst/>
          </a:prstGeom>
          <a:noFill/>
        </p:spPr>
        <p:txBody>
          <a:bodyPr wrap="square" lIns="0" tIns="0" rIns="0" bIns="0" anchor="t">
            <a:spAutoFit/>
          </a:bodyPr>
          <a:lstStyle/>
          <a:p>
            <a:pPr algn="l">
              <a:spcAft>
                <a:spcPts val="200"/>
              </a:spcAft>
            </a:pPr>
            <a:r>
              <a:rPr sz="1900" b="1"/>
              <a:t>Packa upp</a:t>
            </a:r>
          </a:p>
          <a:p>
            <a:pPr algn="l">
              <a:spcAft>
                <a:spcPts val="800"/>
              </a:spcAft>
            </a:pPr>
            <a:r>
              <a:rPr sz="1500" b="0">
                <a:solidFill>
                  <a:srgbClr val="595959"/>
                </a:solidFill>
              </a:rPr>
              <a:t>Skapa mappen Dokument\kvittra-pb och extrahera zip-filen dit</a:t>
            </a:r>
          </a:p>
        </p:txBody>
      </p:sp>
      <p:sp>
        <p:nvSpPr>
          <p:cNvPr id="7" name="Oval 6"/>
          <p:cNvSpPr/>
          <p:nvPr/>
        </p:nvSpPr>
        <p:spPr>
          <a:xfrm>
            <a:off x="813816" y="35661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3</a:t>
            </a:r>
          </a:p>
        </p:txBody>
      </p:sp>
      <p:sp>
        <p:nvSpPr>
          <p:cNvPr id="8" name="TextBox 7"/>
          <p:cNvSpPr txBox="1"/>
          <p:nvPr/>
        </p:nvSpPr>
        <p:spPr>
          <a:xfrm>
            <a:off x="1591056" y="3547872"/>
            <a:ext cx="5394960" cy="914400"/>
          </a:xfrm>
          <a:prstGeom prst="rect">
            <a:avLst/>
          </a:prstGeom>
          <a:noFill/>
        </p:spPr>
        <p:txBody>
          <a:bodyPr wrap="square" lIns="0" tIns="0" rIns="0" bIns="0" anchor="t">
            <a:spAutoFit/>
          </a:bodyPr>
          <a:lstStyle/>
          <a:p>
            <a:pPr algn="l">
              <a:spcAft>
                <a:spcPts val="200"/>
              </a:spcAft>
            </a:pPr>
            <a:r>
              <a:rPr sz="1900" b="1"/>
              <a:t>Öppna terminal i mappen</a:t>
            </a:r>
          </a:p>
          <a:p>
            <a:pPr algn="l">
              <a:spcAft>
                <a:spcPts val="800"/>
              </a:spcAft>
            </a:pPr>
            <a:r>
              <a:rPr sz="1500" b="0">
                <a:solidFill>
                  <a:srgbClr val="595959"/>
                </a:solidFill>
              </a:rPr>
              <a:t>Högerklicka i mappen → Öppna i terminal</a:t>
            </a:r>
          </a:p>
        </p:txBody>
      </p:sp>
      <p:sp>
        <p:nvSpPr>
          <p:cNvPr id="9" name="Oval 8"/>
          <p:cNvSpPr/>
          <p:nvPr/>
        </p:nvSpPr>
        <p:spPr>
          <a:xfrm>
            <a:off x="813816" y="44805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4</a:t>
            </a:r>
          </a:p>
        </p:txBody>
      </p:sp>
      <p:sp>
        <p:nvSpPr>
          <p:cNvPr id="10" name="TextBox 9"/>
          <p:cNvSpPr txBox="1"/>
          <p:nvPr/>
        </p:nvSpPr>
        <p:spPr>
          <a:xfrm>
            <a:off x="1591056" y="4462272"/>
            <a:ext cx="5394960" cy="914400"/>
          </a:xfrm>
          <a:prstGeom prst="rect">
            <a:avLst/>
          </a:prstGeom>
          <a:noFill/>
        </p:spPr>
        <p:txBody>
          <a:bodyPr wrap="square" lIns="0" tIns="0" rIns="0" bIns="0" anchor="t">
            <a:spAutoFit/>
          </a:bodyPr>
          <a:lstStyle/>
          <a:p>
            <a:pPr algn="l">
              <a:spcAft>
                <a:spcPts val="200"/>
              </a:spcAft>
            </a:pPr>
            <a:r>
              <a:rPr sz="1900" b="1"/>
              <a:t>Starta</a:t>
            </a:r>
          </a:p>
          <a:p>
            <a:pPr algn="l">
              <a:spcAft>
                <a:spcPts val="800"/>
              </a:spcAft>
            </a:pPr>
            <a:r>
              <a:rPr sz="1500" b="0">
                <a:solidFill>
                  <a:srgbClr val="595959"/>
                </a:solidFill>
              </a:rPr>
              <a:t>Skriv .\pocketbase.exe serve och tryck Enter</a:t>
            </a:r>
          </a:p>
        </p:txBody>
      </p:sp>
      <p:sp>
        <p:nvSpPr>
          <p:cNvPr id="11" name="Oval 10"/>
          <p:cNvSpPr/>
          <p:nvPr/>
        </p:nvSpPr>
        <p:spPr>
          <a:xfrm>
            <a:off x="813816" y="53949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5</a:t>
            </a:r>
          </a:p>
        </p:txBody>
      </p:sp>
      <p:sp>
        <p:nvSpPr>
          <p:cNvPr id="12" name="TextBox 11"/>
          <p:cNvSpPr txBox="1"/>
          <p:nvPr/>
        </p:nvSpPr>
        <p:spPr>
          <a:xfrm>
            <a:off x="1591056" y="5376672"/>
            <a:ext cx="5394960" cy="914400"/>
          </a:xfrm>
          <a:prstGeom prst="rect">
            <a:avLst/>
          </a:prstGeom>
          <a:noFill/>
        </p:spPr>
        <p:txBody>
          <a:bodyPr wrap="square" lIns="0" tIns="0" rIns="0" bIns="0" anchor="t">
            <a:spAutoFit/>
          </a:bodyPr>
          <a:lstStyle/>
          <a:p>
            <a:pPr algn="l">
              <a:spcAft>
                <a:spcPts val="200"/>
              </a:spcAft>
            </a:pPr>
            <a:r>
              <a:rPr sz="1900" b="1"/>
              <a:t>Skapa administratörskonto</a:t>
            </a:r>
          </a:p>
          <a:p>
            <a:pPr algn="l">
              <a:spcAft>
                <a:spcPts val="800"/>
              </a:spcAft>
            </a:pPr>
            <a:r>
              <a:rPr sz="1500" b="0">
                <a:solidFill>
                  <a:srgbClr val="595959"/>
                </a:solidFill>
              </a:rPr>
              <a:t>Webbläsaren öppnas. Fyll i e-post och lösenord (superuser)</a:t>
            </a:r>
          </a:p>
        </p:txBody>
      </p:sp>
      <p:sp>
        <p:nvSpPr>
          <p:cNvPr id="13" name="Rounded Rectangle 12"/>
          <p:cNvSpPr/>
          <p:nvPr/>
        </p:nvSpPr>
        <p:spPr>
          <a:xfrm>
            <a:off x="7223760" y="1737360"/>
            <a:ext cx="4474159" cy="233299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PowerShell</a:t>
            </a:r>
          </a:p>
          <a:p>
            <a:pPr algn="l"/>
            <a:r>
              <a:rPr sz="1400">
                <a:solidFill>
                  <a:srgbClr val="E6E9EF"/>
                </a:solidFill>
                <a:latin typeface="Courier New"/>
              </a:rPr>
              <a:t>PS&gt; .\pocketbase.exe serve</a:t>
            </a:r>
          </a:p>
          <a:p>
            <a:pPr algn="l"/>
            <a:r>
              <a:rPr sz="1400">
                <a:solidFill>
                  <a:srgbClr val="E6E9EF"/>
                </a:solidFill>
                <a:latin typeface="Courier New"/>
              </a:rPr>
              <a:t> </a:t>
            </a:r>
          </a:p>
          <a:p>
            <a:pPr algn="l"/>
            <a:r>
              <a:rPr sz="1400">
                <a:solidFill>
                  <a:srgbClr val="E6E9EF"/>
                </a:solidFill>
                <a:latin typeface="Courier New"/>
              </a:rPr>
              <a:t>Server started at</a:t>
            </a:r>
          </a:p>
          <a:p>
            <a:pPr algn="l"/>
            <a:r>
              <a:rPr sz="1400">
                <a:solidFill>
                  <a:srgbClr val="E6E9EF"/>
                </a:solidFill>
                <a:latin typeface="Courier New"/>
              </a:rPr>
              <a:t>  http://127.0.0.1:8090</a:t>
            </a:r>
          </a:p>
          <a:p>
            <a:pPr algn="l"/>
            <a:r>
              <a:rPr sz="1400">
                <a:solidFill>
                  <a:srgbClr val="E6E9EF"/>
                </a:solidFill>
                <a:latin typeface="Courier New"/>
              </a:rPr>
              <a:t> </a:t>
            </a:r>
          </a:p>
          <a:p>
            <a:pPr algn="l"/>
            <a:r>
              <a:rPr sz="1400">
                <a:solidFill>
                  <a:srgbClr val="E6E9EF"/>
                </a:solidFill>
                <a:latin typeface="Courier New"/>
              </a:rPr>
              <a:t>Dashboard:</a:t>
            </a:r>
          </a:p>
          <a:p>
            <a:pPr algn="l"/>
            <a:r>
              <a:rPr sz="1400">
                <a:solidFill>
                  <a:srgbClr val="E6E9EF"/>
                </a:solidFill>
                <a:latin typeface="Courier New"/>
              </a:rPr>
              <a:t>  http://127.0.0.1:8090/_/</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PocketBase – kom ihåg</a:t>
            </a:r>
          </a:p>
        </p:txBody>
      </p:sp>
      <p:graphicFrame>
        <p:nvGraphicFramePr>
          <p:cNvPr id="3" name="Table 2"/>
          <p:cNvGraphicFramePr>
            <a:graphicFrameLocks noGrp="1"/>
          </p:cNvGraphicFramePr>
          <p:nvPr/>
        </p:nvGraphicFramePr>
        <p:xfrm>
          <a:off x="768096" y="1691640"/>
          <a:ext cx="10607040" cy="27432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548640">
                <a:tc>
                  <a:txBody>
                    <a:bodyPr/>
                    <a:lstStyle/>
                    <a:p>
                      <a:r>
                        <a:rPr sz="1800" b="1"/>
                        <a:t>Du vill …</a:t>
                      </a:r>
                    </a:p>
                  </a:txBody>
                  <a:tcPr marT="36576" marB="36576" anchor="ctr"/>
                </a:tc>
                <a:tc>
                  <a:txBody>
                    <a:bodyPr/>
                    <a:lstStyle/>
                    <a:p>
                      <a:r>
                        <a:rPr sz="1800" b="1"/>
                        <a:t>Gör så här</a:t>
                      </a:r>
                    </a:p>
                  </a:txBody>
                  <a:tcPr marT="36576" marB="36576" anchor="ctr"/>
                </a:tc>
                <a:extLst>
                  <a:ext uri="{0D108BD9-81ED-4DB2-BD59-A6C34878D82A}">
                    <a16:rowId xmlns:a16="http://schemas.microsoft.com/office/drawing/2014/main" val="10000"/>
                  </a:ext>
                </a:extLst>
              </a:tr>
              <a:tr h="548640">
                <a:tc>
                  <a:txBody>
                    <a:bodyPr/>
                    <a:lstStyle/>
                    <a:p>
                      <a:r>
                        <a:rPr sz="1800"/>
                        <a:t>Starta PocketBase</a:t>
                      </a:r>
                    </a:p>
                  </a:txBody>
                  <a:tcPr marT="36576" marB="36576" anchor="ctr"/>
                </a:tc>
                <a:tc>
                  <a:txBody>
                    <a:bodyPr/>
                    <a:lstStyle/>
                    <a:p>
                      <a:r>
                        <a:rPr sz="1800"/>
                        <a:t>Öppna terminal i mappen → .\pocketbase.exe serve</a:t>
                      </a:r>
                    </a:p>
                  </a:txBody>
                  <a:tcPr marT="36576" marB="36576" anchor="ctr"/>
                </a:tc>
                <a:extLst>
                  <a:ext uri="{0D108BD9-81ED-4DB2-BD59-A6C34878D82A}">
                    <a16:rowId xmlns:a16="http://schemas.microsoft.com/office/drawing/2014/main" val="10001"/>
                  </a:ext>
                </a:extLst>
              </a:tr>
              <a:tr h="548640">
                <a:tc>
                  <a:txBody>
                    <a:bodyPr/>
                    <a:lstStyle/>
                    <a:p>
                      <a:r>
                        <a:rPr sz="1800"/>
                        <a:t>Öppna Dashboard</a:t>
                      </a:r>
                    </a:p>
                  </a:txBody>
                  <a:tcPr marT="36576" marB="36576" anchor="ctr"/>
                </a:tc>
                <a:tc>
                  <a:txBody>
                    <a:bodyPr/>
                    <a:lstStyle/>
                    <a:p>
                      <a:r>
                        <a:rPr sz="1800"/>
                        <a:t>http://127.0.0.1:8090/_/</a:t>
                      </a:r>
                    </a:p>
                  </a:txBody>
                  <a:tcPr marT="36576" marB="36576" anchor="ctr"/>
                </a:tc>
                <a:extLst>
                  <a:ext uri="{0D108BD9-81ED-4DB2-BD59-A6C34878D82A}">
                    <a16:rowId xmlns:a16="http://schemas.microsoft.com/office/drawing/2014/main" val="10002"/>
                  </a:ext>
                </a:extLst>
              </a:tr>
              <a:tr h="548640">
                <a:tc>
                  <a:txBody>
                    <a:bodyPr/>
                    <a:lstStyle/>
                    <a:p>
                      <a:r>
                        <a:rPr sz="1800"/>
                        <a:t>Stänga av</a:t>
                      </a:r>
                    </a:p>
                  </a:txBody>
                  <a:tcPr marT="36576" marB="36576" anchor="ctr"/>
                </a:tc>
                <a:tc>
                  <a:txBody>
                    <a:bodyPr/>
                    <a:lstStyle/>
                    <a:p>
                      <a:r>
                        <a:rPr sz="1800"/>
                        <a:t>Ctrl + C i terminalen</a:t>
                      </a:r>
                    </a:p>
                  </a:txBody>
                  <a:tcPr marT="36576" marB="36576" anchor="ctr"/>
                </a:tc>
                <a:extLst>
                  <a:ext uri="{0D108BD9-81ED-4DB2-BD59-A6C34878D82A}">
                    <a16:rowId xmlns:a16="http://schemas.microsoft.com/office/drawing/2014/main" val="10003"/>
                  </a:ext>
                </a:extLst>
              </a:tr>
              <a:tr h="548640">
                <a:tc>
                  <a:txBody>
                    <a:bodyPr/>
                    <a:lstStyle/>
                    <a:p>
                      <a:r>
                        <a:rPr sz="1800"/>
                        <a:t>Börja om från noll</a:t>
                      </a:r>
                    </a:p>
                  </a:txBody>
                  <a:tcPr marT="36576" marB="36576" anchor="ctr"/>
                </a:tc>
                <a:tc>
                  <a:txBody>
                    <a:bodyPr/>
                    <a:lstStyle/>
                    <a:p>
                      <a:r>
                        <a:rPr sz="1800"/>
                        <a:t>Stäng av och ta bort mappen pb_data</a:t>
                      </a:r>
                    </a:p>
                  </a:txBody>
                  <a:tcPr marT="36576" marB="36576" anchor="ctr"/>
                </a:tc>
                <a:extLst>
                  <a:ext uri="{0D108BD9-81ED-4DB2-BD59-A6C34878D82A}">
                    <a16:rowId xmlns:a16="http://schemas.microsoft.com/office/drawing/2014/main" val="10004"/>
                  </a:ext>
                </a:extLst>
              </a:tr>
            </a:tbl>
          </a:graphicData>
        </a:graphic>
      </p:graphicFrame>
      <p:sp>
        <p:nvSpPr>
          <p:cNvPr id="4" name="TextBox 3"/>
          <p:cNvSpPr txBox="1"/>
          <p:nvPr/>
        </p:nvSpPr>
        <p:spPr>
          <a:xfrm>
            <a:off x="768096" y="4663440"/>
            <a:ext cx="10655503" cy="731520"/>
          </a:xfrm>
          <a:prstGeom prst="rect">
            <a:avLst/>
          </a:prstGeom>
          <a:noFill/>
        </p:spPr>
        <p:txBody>
          <a:bodyPr wrap="square" lIns="0" tIns="0" rIns="0" bIns="0" anchor="t">
            <a:spAutoFit/>
          </a:bodyPr>
          <a:lstStyle/>
          <a:p>
            <a:pPr algn="l">
              <a:spcAft>
                <a:spcPts val="800"/>
              </a:spcAft>
            </a:pPr>
            <a:r>
              <a:rPr sz="1600" b="0">
                <a:solidFill>
                  <a:srgbClr val="595959"/>
                </a:solidFill>
              </a:rPr>
              <a:t>Collections = tabeller. users finns redan från början och används för användarkonton.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Varför inte bara ett Excel-ark?</a:t>
            </a:r>
          </a:p>
        </p:txBody>
      </p:sp>
      <p:graphicFrame>
        <p:nvGraphicFramePr>
          <p:cNvPr id="3" name="Table 2"/>
          <p:cNvGraphicFramePr>
            <a:graphicFrameLocks noGrp="1"/>
          </p:cNvGraphicFramePr>
          <p:nvPr/>
        </p:nvGraphicFramePr>
        <p:xfrm>
          <a:off x="768096" y="1691640"/>
          <a:ext cx="10607040" cy="20116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502920">
                <a:tc>
                  <a:txBody>
                    <a:bodyPr/>
                    <a:lstStyle/>
                    <a:p>
                      <a:r>
                        <a:rPr sz="1500" b="1"/>
                        <a:t>Datum</a:t>
                      </a:r>
                    </a:p>
                  </a:txBody>
                  <a:tcPr marT="36576" marB="36576" anchor="ctr"/>
                </a:tc>
                <a:tc>
                  <a:txBody>
                    <a:bodyPr/>
                    <a:lstStyle/>
                    <a:p>
                      <a:r>
                        <a:rPr sz="1500" b="1"/>
                        <a:t>Författare</a:t>
                      </a:r>
                    </a:p>
                  </a:txBody>
                  <a:tcPr marT="36576" marB="36576" anchor="ctr"/>
                </a:tc>
                <a:tc>
                  <a:txBody>
                    <a:bodyPr/>
                    <a:lstStyle/>
                    <a:p>
                      <a:r>
                        <a:rPr sz="1500" b="1"/>
                        <a:t>E-post</a:t>
                      </a:r>
                    </a:p>
                  </a:txBody>
                  <a:tcPr marT="36576" marB="36576" anchor="ctr"/>
                </a:tc>
                <a:tc>
                  <a:txBody>
                    <a:bodyPr/>
                    <a:lstStyle/>
                    <a:p>
                      <a:r>
                        <a:rPr sz="1500" b="1"/>
                        <a:t>Inlägg</a:t>
                      </a:r>
                    </a:p>
                  </a:txBody>
                  <a:tcPr marT="36576" marB="36576" anchor="ctr"/>
                </a:tc>
                <a:tc>
                  <a:txBody>
                    <a:bodyPr/>
                    <a:lstStyle/>
                    <a:p>
                      <a:r>
                        <a:rPr sz="1500" b="1"/>
                        <a:t>Gillat av</a:t>
                      </a:r>
                    </a:p>
                  </a:txBody>
                  <a:tcPr marT="36576" marB="36576" anchor="ctr"/>
                </a:tc>
                <a:extLst>
                  <a:ext uri="{0D108BD9-81ED-4DB2-BD59-A6C34878D82A}">
                    <a16:rowId xmlns:a16="http://schemas.microsoft.com/office/drawing/2014/main" val="10000"/>
                  </a:ext>
                </a:extLst>
              </a:tr>
              <a:tr h="502920">
                <a:tc>
                  <a:txBody>
                    <a:bodyPr/>
                    <a:lstStyle/>
                    <a:p>
                      <a:r>
                        <a:rPr sz="1500"/>
                        <a:t>2026-09-01</a:t>
                      </a:r>
                    </a:p>
                  </a:txBody>
                  <a:tcPr marT="36576" marB="36576" anchor="ctr"/>
                </a:tc>
                <a:tc>
                  <a:txBody>
                    <a:bodyPr/>
                    <a:lstStyle/>
                    <a:p>
                      <a:r>
                        <a:rPr sz="1500"/>
                        <a:t>Anna Andersson</a:t>
                      </a:r>
                    </a:p>
                  </a:txBody>
                  <a:tcPr marT="36576" marB="36576" anchor="ctr"/>
                </a:tc>
                <a:tc>
                  <a:txBody>
                    <a:bodyPr/>
                    <a:lstStyle/>
                    <a:p>
                      <a:r>
                        <a:rPr sz="1500"/>
                        <a:t>anna@example.com</a:t>
                      </a:r>
                    </a:p>
                  </a:txBody>
                  <a:tcPr marT="36576" marB="36576" anchor="ctr"/>
                </a:tc>
                <a:tc>
                  <a:txBody>
                    <a:bodyPr/>
                    <a:lstStyle/>
                    <a:p>
                      <a:r>
                        <a:rPr sz="1500"/>
                        <a:t>Höstpromenad</a:t>
                      </a:r>
                    </a:p>
                  </a:txBody>
                  <a:tcPr marT="36576" marB="36576" anchor="ctr"/>
                </a:tc>
                <a:tc>
                  <a:txBody>
                    <a:bodyPr/>
                    <a:lstStyle/>
                    <a:p>
                      <a:r>
                        <a:rPr sz="1500"/>
                        <a:t>bertil, cissi</a:t>
                      </a:r>
                    </a:p>
                  </a:txBody>
                  <a:tcPr marT="36576" marB="36576" anchor="ctr"/>
                </a:tc>
                <a:extLst>
                  <a:ext uri="{0D108BD9-81ED-4DB2-BD59-A6C34878D82A}">
                    <a16:rowId xmlns:a16="http://schemas.microsoft.com/office/drawing/2014/main" val="10001"/>
                  </a:ext>
                </a:extLst>
              </a:tr>
              <a:tr h="502920">
                <a:tc>
                  <a:txBody>
                    <a:bodyPr/>
                    <a:lstStyle/>
                    <a:p>
                      <a:r>
                        <a:rPr sz="1500"/>
                        <a:t>2026-09-03</a:t>
                      </a:r>
                    </a:p>
                  </a:txBody>
                  <a:tcPr marT="36576" marB="36576" anchor="ctr"/>
                </a:tc>
                <a:tc>
                  <a:txBody>
                    <a:bodyPr/>
                    <a:lstStyle/>
                    <a:p>
                      <a:r>
                        <a:rPr sz="1500"/>
                        <a:t>Bertil Berg</a:t>
                      </a:r>
                    </a:p>
                  </a:txBody>
                  <a:tcPr marT="36576" marB="36576" anchor="ctr"/>
                </a:tc>
                <a:tc>
                  <a:txBody>
                    <a:bodyPr/>
                    <a:lstStyle/>
                    <a:p>
                      <a:r>
                        <a:rPr sz="1500"/>
                        <a:t>bertil@example.com</a:t>
                      </a:r>
                    </a:p>
                  </a:txBody>
                  <a:tcPr marT="36576" marB="36576" anchor="ctr"/>
                </a:tc>
                <a:tc>
                  <a:txBody>
                    <a:bodyPr/>
                    <a:lstStyle/>
                    <a:p>
                      <a:r>
                        <a:rPr sz="1500"/>
                        <a:t>Surdegsbröd</a:t>
                      </a:r>
                    </a:p>
                  </a:txBody>
                  <a:tcPr marT="36576" marB="36576" anchor="ctr"/>
                </a:tc>
                <a:tc>
                  <a:txBody>
                    <a:bodyPr/>
                    <a:lstStyle/>
                    <a:p>
                      <a:r>
                        <a:rPr sz="1500"/>
                        <a:t>anna</a:t>
                      </a:r>
                    </a:p>
                  </a:txBody>
                  <a:tcPr marT="36576" marB="36576" anchor="ctr"/>
                </a:tc>
                <a:extLst>
                  <a:ext uri="{0D108BD9-81ED-4DB2-BD59-A6C34878D82A}">
                    <a16:rowId xmlns:a16="http://schemas.microsoft.com/office/drawing/2014/main" val="10002"/>
                  </a:ext>
                </a:extLst>
              </a:tr>
              <a:tr h="502920">
                <a:tc>
                  <a:txBody>
                    <a:bodyPr/>
                    <a:lstStyle/>
                    <a:p>
                      <a:r>
                        <a:rPr sz="1500"/>
                        <a:t>2026-10-11</a:t>
                      </a:r>
                    </a:p>
                  </a:txBody>
                  <a:tcPr marT="36576" marB="36576" anchor="ctr"/>
                </a:tc>
                <a:tc>
                  <a:txBody>
                    <a:bodyPr/>
                    <a:lstStyle/>
                    <a:p>
                      <a:r>
                        <a:rPr sz="1500"/>
                        <a:t>anna andersson</a:t>
                      </a:r>
                    </a:p>
                  </a:txBody>
                  <a:tcPr marT="36576" marB="36576" anchor="ctr"/>
                </a:tc>
                <a:tc>
                  <a:txBody>
                    <a:bodyPr/>
                    <a:lstStyle/>
                    <a:p>
                      <a:r>
                        <a:rPr sz="1500"/>
                        <a:t>anna@exmaple.com</a:t>
                      </a:r>
                    </a:p>
                  </a:txBody>
                  <a:tcPr marT="36576" marB="36576" anchor="ctr"/>
                </a:tc>
                <a:tc>
                  <a:txBody>
                    <a:bodyPr/>
                    <a:lstStyle/>
                    <a:p>
                      <a:r>
                        <a:rPr sz="1500"/>
                        <a:t>Morgondimma</a:t>
                      </a:r>
                    </a:p>
                  </a:txBody>
                  <a:tcPr marT="36576" marB="36576" anchor="ctr"/>
                </a:tc>
                <a:tc>
                  <a:txBody>
                    <a:bodyPr/>
                    <a:lstStyle/>
                    <a:p>
                      <a:r>
                        <a:rPr sz="1500"/>
                        <a:t>bertil, cissi, Bertil</a:t>
                      </a:r>
                    </a:p>
                  </a:txBody>
                  <a:tcPr marT="36576" marB="36576" anchor="ctr"/>
                </a:tc>
                <a:extLst>
                  <a:ext uri="{0D108BD9-81ED-4DB2-BD59-A6C34878D82A}">
                    <a16:rowId xmlns:a16="http://schemas.microsoft.com/office/drawing/2014/main" val="10003"/>
                  </a:ext>
                </a:extLst>
              </a:tr>
            </a:tbl>
          </a:graphicData>
        </a:graphic>
      </p:graphicFrame>
      <p:sp>
        <p:nvSpPr>
          <p:cNvPr id="4" name="TextBox 3"/>
          <p:cNvSpPr txBox="1"/>
          <p:nvPr/>
        </p:nvSpPr>
        <p:spPr>
          <a:xfrm>
            <a:off x="768096" y="3931920"/>
            <a:ext cx="10655503" cy="731520"/>
          </a:xfrm>
          <a:prstGeom prst="rect">
            <a:avLst/>
          </a:prstGeom>
          <a:noFill/>
        </p:spPr>
        <p:txBody>
          <a:bodyPr wrap="square" lIns="0" tIns="0" rIns="0" bIns="0" anchor="t">
            <a:spAutoFit/>
          </a:bodyPr>
          <a:lstStyle/>
          <a:p>
            <a:pPr algn="l">
              <a:spcAft>
                <a:spcPts val="800"/>
              </a:spcAft>
            </a:pPr>
            <a:r>
              <a:rPr sz="1600" b="0">
                <a:solidFill>
                  <a:srgbClr val="595959"/>
                </a:solidFill>
              </a:rPr>
              <a:t>Problem: Annas namn och e-post står flera gånger (och är felstavade). Byter hon e-post måste alla rader ändras. ”Gillat av” är en lista i en ruta.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Tabeller, rader och kolumner</a:t>
            </a:r>
          </a:p>
        </p:txBody>
      </p:sp>
      <p:sp>
        <p:nvSpPr>
          <p:cNvPr id="4" name="TextBox 3"/>
          <p:cNvSpPr txBox="1"/>
          <p:nvPr/>
        </p:nvSpPr>
        <p:spPr>
          <a:xfrm>
            <a:off x="768096" y="4775200"/>
            <a:ext cx="10655503" cy="640080"/>
          </a:xfrm>
          <a:prstGeom prst="rect">
            <a:avLst/>
          </a:prstGeom>
          <a:noFill/>
        </p:spPr>
        <p:txBody>
          <a:bodyPr wrap="square" lIns="0" tIns="0" rIns="0" bIns="0" anchor="t">
            <a:spAutoFit/>
          </a:bodyPr>
          <a:lstStyle/>
          <a:p>
            <a:pPr algn="l">
              <a:spcAft>
                <a:spcPts val="800"/>
              </a:spcAft>
            </a:pPr>
            <a:r>
              <a:rPr sz="1600" b="0">
                <a:solidFill>
                  <a:srgbClr val="595959"/>
                </a:solidFill>
              </a:rPr>
              <a:t>I PocketBase: tabell = collection, rad = record, kolumn = field. Varje kolumn har en datatyp: text, tal, datum, ja/nej …</a:t>
            </a:r>
          </a:p>
        </p:txBody>
      </p:sp>
      <p:graphicFrame>
        <p:nvGraphicFramePr>
          <p:cNvPr id="5" name="Tabell users"/>
          <p:cNvGraphicFramePr>
            <a:graphicFrameLocks noGrp="1"/>
          </p:cNvGraphicFramePr>
          <p:nvPr/>
        </p:nvGraphicFramePr>
        <p:xfrm>
          <a:off x="2377440" y="2240280"/>
          <a:ext cx="7132320" cy="2011680"/>
        </p:xfrm>
        <a:graphic>
          <a:graphicData uri="http://schemas.openxmlformats.org/drawingml/2006/table">
            <a:tbl>
              <a:tblPr firstRow="1" bandRow="1">
                <a:tableStyleId>{5C22544A-7EE6-4342-B048-85BDC9FD1C3A}</a:tableStyleId>
              </a:tblPr>
              <a:tblGrid>
                <a:gridCol w="1463040"/>
                <a:gridCol w="2377440"/>
                <a:gridCol w="3291840"/>
              </a:tblGrid>
              <a:tr h="502920">
                <a:tc>
                  <a:txBody>
                    <a:bodyPr/>
                    <a:lstStyle/>
                    <a:p>
                      <a:r>
                        <a:rPr sz="1800" b="1"/>
                        <a:t>id</a:t>
                      </a:r>
                    </a:p>
                  </a:txBody>
                  <a:tcPr anchor="ctr" marL="91440" marR="91440" marT="18288" marB="18288"/>
                </a:tc>
                <a:tc>
                  <a:txBody>
                    <a:bodyPr/>
                    <a:lstStyle/>
                    <a:p>
                      <a:r>
                        <a:rPr sz="1800" b="1"/>
                        <a:t>username</a:t>
                      </a:r>
                    </a:p>
                  </a:txBody>
                  <a:tcPr anchor="ctr" marL="91440" marR="91440" marT="18288" marB="18288"/>
                </a:tc>
                <a:tc>
                  <a:txBody>
                    <a:bodyPr/>
                    <a:lstStyle/>
                    <a:p>
                      <a:r>
                        <a:rPr sz="1800" b="1"/>
                        <a:t>name</a:t>
                      </a:r>
                    </a:p>
                  </a:txBody>
                  <a:tcPr anchor="ctr" marL="91440" marR="91440" marT="18288" marB="18288"/>
                </a:tc>
              </a:tr>
              <a:tr h="502920">
                <a:tc>
                  <a:txBody>
                    <a:bodyPr/>
                    <a:lstStyle/>
                    <a:p>
                      <a:r>
                        <a:rPr sz="1800">
                          <a:latin typeface="Courier New"/>
                        </a:rPr>
                        <a:t>u1</a:t>
                      </a:r>
                    </a:p>
                  </a:txBody>
                  <a:tcPr anchor="ctr" marL="91440" marR="91440" marT="18288" marB="18288"/>
                </a:tc>
                <a:tc>
                  <a:txBody>
                    <a:bodyPr/>
                    <a:lstStyle/>
                    <a:p>
                      <a:r>
                        <a:rPr sz="1800">
                          <a:latin typeface="Courier New"/>
                        </a:rPr>
                        <a:t>anna</a:t>
                      </a:r>
                    </a:p>
                  </a:txBody>
                  <a:tcPr anchor="ctr" marL="91440" marR="91440" marT="18288" marB="18288"/>
                </a:tc>
                <a:tc>
                  <a:txBody>
                    <a:bodyPr/>
                    <a:lstStyle/>
                    <a:p>
                      <a:r>
                        <a:rPr sz="1800"/>
                        <a:t>Anna Andersson</a:t>
                      </a:r>
                    </a:p>
                  </a:txBody>
                  <a:tcPr anchor="ctr" marL="91440" marR="91440" marT="18288" marB="18288"/>
                </a:tc>
              </a:tr>
              <a:tr h="502920">
                <a:tc>
                  <a:txBody>
                    <a:bodyPr/>
                    <a:lstStyle/>
                    <a:p>
                      <a:r>
                        <a:rPr sz="1800">
                          <a:latin typeface="Courier New"/>
                        </a:rPr>
                        <a:t>u2</a:t>
                      </a:r>
                    </a:p>
                  </a:txBody>
                  <a:tcPr anchor="ctr" marL="91440" marR="91440" marT="18288" marB="18288"/>
                </a:tc>
                <a:tc>
                  <a:txBody>
                    <a:bodyPr/>
                    <a:lstStyle/>
                    <a:p>
                      <a:r>
                        <a:rPr sz="1800">
                          <a:latin typeface="Courier New"/>
                        </a:rPr>
                        <a:t>bertil</a:t>
                      </a:r>
                    </a:p>
                  </a:txBody>
                  <a:tcPr anchor="ctr" marL="91440" marR="91440" marT="18288" marB="18288"/>
                </a:tc>
                <a:tc>
                  <a:txBody>
                    <a:bodyPr/>
                    <a:lstStyle/>
                    <a:p>
                      <a:r>
                        <a:rPr sz="1800"/>
                        <a:t>Bertil Berg</a:t>
                      </a:r>
                    </a:p>
                  </a:txBody>
                  <a:tcPr anchor="ctr" marL="91440" marR="91440" marT="18288" marB="18288"/>
                </a:tc>
              </a:tr>
              <a:tr h="502920">
                <a:tc>
                  <a:txBody>
                    <a:bodyPr/>
                    <a:lstStyle/>
                    <a:p>
                      <a:r>
                        <a:rPr sz="1800">
                          <a:latin typeface="Courier New"/>
                        </a:rPr>
                        <a:t>u3</a:t>
                      </a:r>
                    </a:p>
                  </a:txBody>
                  <a:tcPr anchor="ctr" marL="91440" marR="91440" marT="18288" marB="18288"/>
                </a:tc>
                <a:tc>
                  <a:txBody>
                    <a:bodyPr/>
                    <a:lstStyle/>
                    <a:p>
                      <a:r>
                        <a:rPr sz="1800">
                          <a:latin typeface="Courier New"/>
                        </a:rPr>
                        <a:t>cissi</a:t>
                      </a:r>
                    </a:p>
                  </a:txBody>
                  <a:tcPr anchor="ctr" marL="91440" marR="91440" marT="18288" marB="18288"/>
                </a:tc>
                <a:tc>
                  <a:txBody>
                    <a:bodyPr/>
                    <a:lstStyle/>
                    <a:p>
                      <a:r>
                        <a:rPr sz="1800"/>
                        <a:t>Cecilia Carlsson</a:t>
                      </a:r>
                    </a:p>
                  </a:txBody>
                  <a:tcPr anchor="ctr" marL="91440" marR="91440" marT="18288" marB="18288"/>
                </a:tc>
              </a:tr>
            </a:tbl>
          </a:graphicData>
        </a:graphic>
      </p:graphicFrame>
      <p:sp>
        <p:nvSpPr>
          <p:cNvPr id="6" name="TextBox 5"/>
          <p:cNvSpPr txBox="1"/>
          <p:nvPr/>
        </p:nvSpPr>
        <p:spPr>
          <a:xfrm>
            <a:off x="2377440" y="1783080"/>
            <a:ext cx="3200400" cy="365760"/>
          </a:xfrm>
          <a:prstGeom prst="rect">
            <a:avLst/>
          </a:prstGeom>
          <a:noFill/>
        </p:spPr>
        <p:txBody>
          <a:bodyPr wrap="square" lIns="0" rIns="0" tIns="0" bIns="0" anchor="ctr">
            <a:spAutoFit/>
          </a:bodyPr>
          <a:lstStyle/>
          <a:p>
            <a:pPr algn="l"/>
            <a:r>
              <a:rPr sz="1600" b="1" i="0"/>
              <a:t>Tabellen users</a:t>
            </a:r>
          </a:p>
        </p:txBody>
      </p:sp>
      <p:sp>
        <p:nvSpPr>
          <p:cNvPr id="7" name="TextBox 6"/>
          <p:cNvSpPr txBox="1"/>
          <p:nvPr/>
        </p:nvSpPr>
        <p:spPr>
          <a:xfrm>
            <a:off x="9738360" y="2240280"/>
            <a:ext cx="2194560" cy="502920"/>
          </a:xfrm>
          <a:prstGeom prst="rect">
            <a:avLst/>
          </a:prstGeom>
          <a:noFill/>
        </p:spPr>
        <p:txBody>
          <a:bodyPr wrap="square" lIns="0" rIns="0" tIns="0" bIns="0" anchor="ctr">
            <a:spAutoFit/>
          </a:bodyPr>
          <a:lstStyle/>
          <a:p>
            <a:pPr algn="l"/>
            <a:r>
              <a:rPr sz="1600" b="0" i="0">
                <a:solidFill>
                  <a:srgbClr val="595959"/>
                </a:solidFill>
              </a:rPr>
              <a:t>← kolumner (fält)</a:t>
            </a:r>
          </a:p>
        </p:txBody>
      </p:sp>
      <p:sp>
        <p:nvSpPr>
          <p:cNvPr id="8" name="TextBox 7"/>
          <p:cNvSpPr txBox="1"/>
          <p:nvPr/>
        </p:nvSpPr>
        <p:spPr>
          <a:xfrm>
            <a:off x="1051560" y="2743200"/>
            <a:ext cx="1188720" cy="502920"/>
          </a:xfrm>
          <a:prstGeom prst="rect">
            <a:avLst/>
          </a:prstGeom>
          <a:noFill/>
        </p:spPr>
        <p:txBody>
          <a:bodyPr wrap="square" lIns="0" rIns="0" tIns="0" bIns="0" anchor="ctr">
            <a:spAutoFit/>
          </a:bodyPr>
          <a:lstStyle/>
          <a:p>
            <a:pPr algn="r"/>
            <a:r>
              <a:rPr sz="1600" b="0" i="0">
                <a:solidFill>
                  <a:srgbClr val="595959"/>
                </a:solidFill>
              </a:rPr>
              <a:t>rad →</a:t>
            </a:r>
          </a:p>
        </p:txBody>
      </p:sp>
      <p:sp>
        <p:nvSpPr>
          <p:cNvPr id="9" name="TextBox 8"/>
          <p:cNvSpPr txBox="1"/>
          <p:nvPr/>
        </p:nvSpPr>
        <p:spPr>
          <a:xfrm>
            <a:off x="1051560" y="3246120"/>
            <a:ext cx="1188720" cy="502920"/>
          </a:xfrm>
          <a:prstGeom prst="rect">
            <a:avLst/>
          </a:prstGeom>
          <a:noFill/>
        </p:spPr>
        <p:txBody>
          <a:bodyPr wrap="square" lIns="0" rIns="0" tIns="0" bIns="0" anchor="ctr">
            <a:spAutoFit/>
          </a:bodyPr>
          <a:lstStyle/>
          <a:p>
            <a:pPr algn="r"/>
            <a:r>
              <a:rPr sz="1600" b="0" i="0">
                <a:solidFill>
                  <a:srgbClr val="595959"/>
                </a:solidFill>
              </a:rPr>
              <a:t>rad →</a:t>
            </a:r>
          </a:p>
        </p:txBody>
      </p:sp>
      <p:sp>
        <p:nvSpPr>
          <p:cNvPr id="10" name="TextBox 9"/>
          <p:cNvSpPr txBox="1"/>
          <p:nvPr/>
        </p:nvSpPr>
        <p:spPr>
          <a:xfrm>
            <a:off x="1051560" y="3749040"/>
            <a:ext cx="1188720" cy="502920"/>
          </a:xfrm>
          <a:prstGeom prst="rect">
            <a:avLst/>
          </a:prstGeom>
          <a:noFill/>
        </p:spPr>
        <p:txBody>
          <a:bodyPr wrap="square" lIns="0" rIns="0" tIns="0" bIns="0" anchor="ctr">
            <a:spAutoFit/>
          </a:bodyPr>
          <a:lstStyle/>
          <a:p>
            <a:pPr algn="r"/>
            <a:r>
              <a:rPr sz="1600" b="0" i="0">
                <a:solidFill>
                  <a:srgbClr val="595959"/>
                </a:solidFill>
              </a:rPr>
              <a:t>rad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Nycklar – så hänger tabellerna ihop</a:t>
            </a:r>
          </a:p>
        </p:txBody>
      </p:sp>
      <p:sp>
        <p:nvSpPr>
          <p:cNvPr id="3" name="TextBox 2"/>
          <p:cNvSpPr txBox="1"/>
          <p:nvPr/>
        </p:nvSpPr>
        <p:spPr>
          <a:xfrm>
            <a:off x="768096" y="1691640"/>
            <a:ext cx="10655503" cy="548640"/>
          </a:xfrm>
          <a:prstGeom prst="rect">
            <a:avLst/>
          </a:prstGeom>
          <a:noFill/>
        </p:spPr>
        <p:txBody>
          <a:bodyPr wrap="square" lIns="0" tIns="0" rIns="0" bIns="0" anchor="t">
            <a:spAutoFit/>
          </a:bodyPr>
          <a:lstStyle/>
          <a:p>
            <a:pPr algn="l">
              <a:spcAft>
                <a:spcPts val="800"/>
              </a:spcAft>
            </a:pPr>
            <a:r>
              <a:rPr sz="1800" b="0"/>
              <a:t>Primärnyckel = radens unika id.   Främmande nyckel = ett id som pekar på en rad i en annan tabell.</a:t>
            </a:r>
          </a:p>
        </p:txBody>
      </p:sp>
      <p:sp>
        <p:nvSpPr>
          <p:cNvPr id="5" name="TextBox 4"/>
          <p:cNvSpPr txBox="1"/>
          <p:nvPr/>
        </p:nvSpPr>
        <p:spPr>
          <a:xfrm>
            <a:off x="768096" y="5111496"/>
            <a:ext cx="10655503" cy="640080"/>
          </a:xfrm>
          <a:prstGeom prst="rect">
            <a:avLst/>
          </a:prstGeom>
          <a:noFill/>
        </p:spPr>
        <p:txBody>
          <a:bodyPr wrap="square" lIns="0" tIns="0" rIns="0" bIns="0" anchor="t">
            <a:spAutoFit/>
          </a:bodyPr>
          <a:lstStyle/>
          <a:p>
            <a:pPr algn="l">
              <a:spcAft>
                <a:spcPts val="800"/>
              </a:spcAft>
            </a:pPr>
            <a:r>
              <a:rPr sz="1600" b="0">
                <a:solidFill>
                  <a:srgbClr val="595959"/>
                </a:solidFill>
              </a:rPr>
              <a:t>Annas namn står bara på ett ställe. Inläggen pekar på henne med author = u1. I PocketBase heter det ett relationsfält.</a:t>
            </a:r>
          </a:p>
        </p:txBody>
      </p:sp>
      <p:sp>
        <p:nvSpPr>
          <p:cNvPr id="6" name="TextBox 5"/>
          <p:cNvSpPr txBox="1"/>
          <p:nvPr/>
        </p:nvSpPr>
        <p:spPr>
          <a:xfrm>
            <a:off x="768096" y="2286000"/>
            <a:ext cx="2743200" cy="365760"/>
          </a:xfrm>
          <a:prstGeom prst="rect">
            <a:avLst/>
          </a:prstGeom>
          <a:noFill/>
        </p:spPr>
        <p:txBody>
          <a:bodyPr wrap="square" lIns="0" rIns="0" tIns="0" bIns="0" anchor="ctr">
            <a:spAutoFit/>
          </a:bodyPr>
          <a:lstStyle/>
          <a:p>
            <a:pPr algn="l"/>
            <a:r>
              <a:rPr sz="1600" b="1" i="0"/>
              <a:t>posts</a:t>
            </a:r>
          </a:p>
        </p:txBody>
      </p:sp>
      <p:sp>
        <p:nvSpPr>
          <p:cNvPr id="7" name="TextBox 6"/>
          <p:cNvSpPr txBox="1"/>
          <p:nvPr/>
        </p:nvSpPr>
        <p:spPr>
          <a:xfrm>
            <a:off x="8321040" y="2286000"/>
            <a:ext cx="2743200" cy="365760"/>
          </a:xfrm>
          <a:prstGeom prst="rect">
            <a:avLst/>
          </a:prstGeom>
          <a:noFill/>
        </p:spPr>
        <p:txBody>
          <a:bodyPr wrap="square" lIns="0" rIns="0" tIns="0" bIns="0" anchor="ctr">
            <a:spAutoFit/>
          </a:bodyPr>
          <a:lstStyle/>
          <a:p>
            <a:pPr algn="l"/>
            <a:r>
              <a:rPr sz="1600" b="1" i="0"/>
              <a:t>users</a:t>
            </a:r>
          </a:p>
        </p:txBody>
      </p:sp>
      <p:graphicFrame>
        <p:nvGraphicFramePr>
          <p:cNvPr id="8" name="Tabell posts"/>
          <p:cNvGraphicFramePr>
            <a:graphicFrameLocks noGrp="1"/>
          </p:cNvGraphicFramePr>
          <p:nvPr/>
        </p:nvGraphicFramePr>
        <p:xfrm>
          <a:off x="768096" y="2697480"/>
          <a:ext cx="5120640" cy="1828800"/>
        </p:xfrm>
        <a:graphic>
          <a:graphicData uri="http://schemas.openxmlformats.org/drawingml/2006/table">
            <a:tbl>
              <a:tblPr firstRow="1" bandRow="1">
                <a:tableStyleId>{5C22544A-7EE6-4342-B048-85BDC9FD1C3A}</a:tableStyleId>
              </a:tblPr>
              <a:tblGrid>
                <a:gridCol w="822960"/>
                <a:gridCol w="3108960"/>
                <a:gridCol w="1188720"/>
              </a:tblGrid>
              <a:tr h="457200">
                <a:tc>
                  <a:txBody>
                    <a:bodyPr/>
                    <a:lstStyle/>
                    <a:p>
                      <a:r>
                        <a:rPr sz="1600" b="1"/>
                        <a:t>id</a:t>
                      </a:r>
                    </a:p>
                  </a:txBody>
                  <a:tcPr anchor="ctr" marL="91440" marR="91440" marT="18288" marB="18288"/>
                </a:tc>
                <a:tc>
                  <a:txBody>
                    <a:bodyPr/>
                    <a:lstStyle/>
                    <a:p>
                      <a:r>
                        <a:rPr sz="1600" b="1"/>
                        <a:t>title</a:t>
                      </a:r>
                    </a:p>
                  </a:txBody>
                  <a:tcPr anchor="ctr" marL="91440" marR="91440" marT="18288" marB="18288"/>
                </a:tc>
                <a:tc>
                  <a:txBody>
                    <a:bodyPr/>
                    <a:lstStyle/>
                    <a:p>
                      <a:r>
                        <a:rPr sz="1600" b="1"/>
                        <a:t>author</a:t>
                      </a:r>
                    </a:p>
                  </a:txBody>
                  <a:tcPr anchor="ctr" marL="91440" marR="91440" marT="18288" marB="18288"/>
                </a:tc>
              </a:tr>
              <a:tr h="457200">
                <a:tc>
                  <a:txBody>
                    <a:bodyPr/>
                    <a:lstStyle/>
                    <a:p>
                      <a:r>
                        <a:rPr sz="1600">
                          <a:latin typeface="Courier New"/>
                        </a:rPr>
                        <a:t>p1</a:t>
                      </a:r>
                    </a:p>
                  </a:txBody>
                  <a:tcPr anchor="ctr" marL="91440" marR="91440" marT="18288" marB="18288"/>
                </a:tc>
                <a:tc>
                  <a:txBody>
                    <a:bodyPr/>
                    <a:lstStyle/>
                    <a:p>
                      <a:r>
                        <a:rPr sz="1600"/>
                        <a:t>Höstpromenad</a:t>
                      </a:r>
                    </a:p>
                  </a:txBody>
                  <a:tcPr anchor="ctr" marL="91440" marR="91440" marT="18288" marB="18288"/>
                </a:tc>
                <a:tc>
                  <a:txBody>
                    <a:bodyPr/>
                    <a:lstStyle/>
                    <a:p>
                      <a:r>
                        <a:rPr sz="1600">
                          <a:latin typeface="Courier New"/>
                        </a:rPr>
                        <a:t>u1</a:t>
                      </a:r>
                    </a:p>
                  </a:txBody>
                  <a:tcPr anchor="ctr" marL="91440" marR="91440" marT="18288" marB="18288"/>
                </a:tc>
              </a:tr>
              <a:tr h="457200">
                <a:tc>
                  <a:txBody>
                    <a:bodyPr/>
                    <a:lstStyle/>
                    <a:p>
                      <a:r>
                        <a:rPr sz="1600">
                          <a:latin typeface="Courier New"/>
                        </a:rPr>
                        <a:t>p2</a:t>
                      </a:r>
                    </a:p>
                  </a:txBody>
                  <a:tcPr anchor="ctr" marL="91440" marR="91440" marT="18288" marB="18288"/>
                </a:tc>
                <a:tc>
                  <a:txBody>
                    <a:bodyPr/>
                    <a:lstStyle/>
                    <a:p>
                      <a:r>
                        <a:rPr sz="1600"/>
                        <a:t>Surdegsbröd</a:t>
                      </a:r>
                    </a:p>
                  </a:txBody>
                  <a:tcPr anchor="ctr" marL="91440" marR="91440" marT="18288" marB="18288"/>
                </a:tc>
                <a:tc>
                  <a:txBody>
                    <a:bodyPr/>
                    <a:lstStyle/>
                    <a:p>
                      <a:r>
                        <a:rPr sz="1600">
                          <a:latin typeface="Courier New"/>
                        </a:rPr>
                        <a:t>u2</a:t>
                      </a:r>
                    </a:p>
                  </a:txBody>
                  <a:tcPr anchor="ctr" marL="91440" marR="91440" marT="18288" marB="18288"/>
                </a:tc>
              </a:tr>
              <a:tr h="457200">
                <a:tc>
                  <a:txBody>
                    <a:bodyPr/>
                    <a:lstStyle/>
                    <a:p>
                      <a:r>
                        <a:rPr sz="1600">
                          <a:latin typeface="Courier New"/>
                        </a:rPr>
                        <a:t>p3</a:t>
                      </a:r>
                    </a:p>
                  </a:txBody>
                  <a:tcPr anchor="ctr" marL="91440" marR="91440" marT="18288" marB="18288"/>
                </a:tc>
                <a:tc>
                  <a:txBody>
                    <a:bodyPr/>
                    <a:lstStyle/>
                    <a:p>
                      <a:r>
                        <a:rPr sz="1600"/>
                        <a:t>Morgondimma</a:t>
                      </a:r>
                    </a:p>
                  </a:txBody>
                  <a:tcPr anchor="ctr" marL="91440" marR="91440" marT="18288" marB="18288"/>
                </a:tc>
                <a:tc>
                  <a:txBody>
                    <a:bodyPr/>
                    <a:lstStyle/>
                    <a:p>
                      <a:r>
                        <a:rPr sz="1600">
                          <a:latin typeface="Courier New"/>
                        </a:rPr>
                        <a:t>u1</a:t>
                      </a:r>
                    </a:p>
                  </a:txBody>
                  <a:tcPr anchor="ctr" marL="91440" marR="91440" marT="18288" marB="18288"/>
                </a:tc>
              </a:tr>
            </a:tbl>
          </a:graphicData>
        </a:graphic>
      </p:graphicFrame>
      <p:graphicFrame>
        <p:nvGraphicFramePr>
          <p:cNvPr id="9" name="Tabell users"/>
          <p:cNvGraphicFramePr>
            <a:graphicFrameLocks noGrp="1"/>
          </p:cNvGraphicFramePr>
          <p:nvPr/>
        </p:nvGraphicFramePr>
        <p:xfrm>
          <a:off x="8321040" y="2697480"/>
          <a:ext cx="3108960" cy="1828800"/>
        </p:xfrm>
        <a:graphic>
          <a:graphicData uri="http://schemas.openxmlformats.org/drawingml/2006/table">
            <a:tbl>
              <a:tblPr firstRow="1" bandRow="1">
                <a:tableStyleId>{5C22544A-7EE6-4342-B048-85BDC9FD1C3A}</a:tableStyleId>
              </a:tblPr>
              <a:tblGrid>
                <a:gridCol w="1097280"/>
                <a:gridCol w="2011680"/>
              </a:tblGrid>
              <a:tr h="457200">
                <a:tc>
                  <a:txBody>
                    <a:bodyPr/>
                    <a:lstStyle/>
                    <a:p>
                      <a:r>
                        <a:rPr sz="1600" b="1"/>
                        <a:t>id</a:t>
                      </a:r>
                    </a:p>
                  </a:txBody>
                  <a:tcPr anchor="ctr" marL="91440" marR="91440" marT="18288" marB="18288"/>
                </a:tc>
                <a:tc>
                  <a:txBody>
                    <a:bodyPr/>
                    <a:lstStyle/>
                    <a:p>
                      <a:r>
                        <a:rPr sz="1600" b="1"/>
                        <a:t>username</a:t>
                      </a:r>
                    </a:p>
                  </a:txBody>
                  <a:tcPr anchor="ctr" marL="91440" marR="91440" marT="18288" marB="18288"/>
                </a:tc>
              </a:tr>
              <a:tr h="457200">
                <a:tc>
                  <a:txBody>
                    <a:bodyPr/>
                    <a:lstStyle/>
                    <a:p>
                      <a:r>
                        <a:rPr sz="1600">
                          <a:latin typeface="Courier New"/>
                        </a:rPr>
                        <a:t>u1</a:t>
                      </a:r>
                    </a:p>
                  </a:txBody>
                  <a:tcPr anchor="ctr" marL="91440" marR="91440" marT="18288" marB="18288"/>
                </a:tc>
                <a:tc>
                  <a:txBody>
                    <a:bodyPr/>
                    <a:lstStyle/>
                    <a:p>
                      <a:r>
                        <a:rPr sz="1600"/>
                        <a:t>anna</a:t>
                      </a:r>
                    </a:p>
                  </a:txBody>
                  <a:tcPr anchor="ctr" marL="91440" marR="91440" marT="18288" marB="18288"/>
                </a:tc>
              </a:tr>
              <a:tr h="457200">
                <a:tc>
                  <a:txBody>
                    <a:bodyPr/>
                    <a:lstStyle/>
                    <a:p>
                      <a:r>
                        <a:rPr sz="1600">
                          <a:latin typeface="Courier New"/>
                        </a:rPr>
                        <a:t>u2</a:t>
                      </a:r>
                    </a:p>
                  </a:txBody>
                  <a:tcPr anchor="ctr" marL="91440" marR="91440" marT="18288" marB="18288"/>
                </a:tc>
                <a:tc>
                  <a:txBody>
                    <a:bodyPr/>
                    <a:lstStyle/>
                    <a:p>
                      <a:r>
                        <a:rPr sz="1600"/>
                        <a:t>bertil</a:t>
                      </a:r>
                    </a:p>
                  </a:txBody>
                  <a:tcPr anchor="ctr" marL="91440" marR="91440" marT="18288" marB="18288"/>
                </a:tc>
              </a:tr>
              <a:tr h="457200">
                <a:tc>
                  <a:txBody>
                    <a:bodyPr/>
                    <a:lstStyle/>
                    <a:p>
                      <a:r>
                        <a:rPr sz="1600">
                          <a:latin typeface="Courier New"/>
                        </a:rPr>
                        <a:t>u3</a:t>
                      </a:r>
                    </a:p>
                  </a:txBody>
                  <a:tcPr anchor="ctr" marL="91440" marR="91440" marT="18288" marB="18288"/>
                </a:tc>
                <a:tc>
                  <a:txBody>
                    <a:bodyPr/>
                    <a:lstStyle/>
                    <a:p>
                      <a:r>
                        <a:rPr sz="1600"/>
                        <a:t>cissi</a:t>
                      </a:r>
                    </a:p>
                  </a:txBody>
                  <a:tcPr anchor="ctr" marL="91440" marR="91440" marT="18288" marB="18288"/>
                </a:tc>
              </a:tr>
            </a:tbl>
          </a:graphicData>
        </a:graphic>
      </p:graphicFrame>
      <p:cxnSp>
        <p:nvCxnSpPr>
          <p:cNvPr id="10" name="Connector 9"/>
          <p:cNvCxnSpPr/>
          <p:nvPr/>
        </p:nvCxnSpPr>
        <p:spPr>
          <a:xfrm>
            <a:off x="5961888" y="3383280"/>
            <a:ext cx="2286000"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61888" y="3840480"/>
            <a:ext cx="2286000"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5961888" y="3383280"/>
            <a:ext cx="2286000" cy="91440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700016" y="4572000"/>
            <a:ext cx="2377440" cy="320040"/>
          </a:xfrm>
          <a:prstGeom prst="rect">
            <a:avLst/>
          </a:prstGeom>
          <a:noFill/>
        </p:spPr>
        <p:txBody>
          <a:bodyPr wrap="square" lIns="0" rIns="0" tIns="0" bIns="0" anchor="ctr">
            <a:spAutoFit/>
          </a:bodyPr>
          <a:lstStyle/>
          <a:p>
            <a:pPr algn="l"/>
            <a:r>
              <a:rPr sz="1300" b="0" i="0">
                <a:solidFill>
                  <a:srgbClr val="595959"/>
                </a:solidFill>
              </a:rPr>
              <a:t>↑ främmande nyckel</a:t>
            </a:r>
          </a:p>
        </p:txBody>
      </p:sp>
      <p:sp>
        <p:nvSpPr>
          <p:cNvPr id="14" name="TextBox 13"/>
          <p:cNvSpPr txBox="1"/>
          <p:nvPr/>
        </p:nvSpPr>
        <p:spPr>
          <a:xfrm>
            <a:off x="8321040" y="4572000"/>
            <a:ext cx="2377440" cy="320040"/>
          </a:xfrm>
          <a:prstGeom prst="rect">
            <a:avLst/>
          </a:prstGeom>
          <a:noFill/>
        </p:spPr>
        <p:txBody>
          <a:bodyPr wrap="square" lIns="0" rIns="0" tIns="0" bIns="0" anchor="ctr">
            <a:spAutoFit/>
          </a:bodyPr>
          <a:lstStyle/>
          <a:p>
            <a:pPr algn="l"/>
            <a:r>
              <a:rPr sz="1300" b="0" i="0">
                <a:solidFill>
                  <a:srgbClr val="595959"/>
                </a:solidFill>
              </a:rPr>
              <a:t>↑ primärnyckel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Olika typer av databaser</a:t>
            </a:r>
          </a:p>
        </p:txBody>
      </p:sp>
      <p:sp>
        <p:nvSpPr>
          <p:cNvPr id="3" name="Rounded Rectangle 2"/>
          <p:cNvSpPr/>
          <p:nvPr/>
        </p:nvSpPr>
        <p:spPr>
          <a:xfrm>
            <a:off x="676656" y="1783080"/>
            <a:ext cx="2526715" cy="329184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32688" y="2039112"/>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SQL</a:t>
            </a:r>
          </a:p>
        </p:txBody>
      </p:sp>
      <p:sp>
        <p:nvSpPr>
          <p:cNvPr id="5" name="TextBox 4"/>
          <p:cNvSpPr txBox="1"/>
          <p:nvPr/>
        </p:nvSpPr>
        <p:spPr>
          <a:xfrm>
            <a:off x="932688" y="2834640"/>
            <a:ext cx="2014651" cy="548640"/>
          </a:xfrm>
          <a:prstGeom prst="rect">
            <a:avLst/>
          </a:prstGeom>
          <a:noFill/>
        </p:spPr>
        <p:txBody>
          <a:bodyPr wrap="square" lIns="0" tIns="0" rIns="0" bIns="0" anchor="t">
            <a:spAutoFit/>
          </a:bodyPr>
          <a:lstStyle/>
          <a:p>
            <a:pPr algn="l">
              <a:spcAft>
                <a:spcPts val="800"/>
              </a:spcAft>
            </a:pPr>
            <a:r>
              <a:rPr sz="1900" b="1"/>
              <a:t>Relationsdatabas</a:t>
            </a:r>
          </a:p>
        </p:txBody>
      </p:sp>
      <p:sp>
        <p:nvSpPr>
          <p:cNvPr id="6" name="TextBox 5"/>
          <p:cNvSpPr txBox="1"/>
          <p:nvPr/>
        </p:nvSpPr>
        <p:spPr>
          <a:xfrm>
            <a:off x="932688" y="3429000"/>
            <a:ext cx="2014651" cy="1280160"/>
          </a:xfrm>
          <a:prstGeom prst="rect">
            <a:avLst/>
          </a:prstGeom>
          <a:noFill/>
        </p:spPr>
        <p:txBody>
          <a:bodyPr wrap="square" lIns="0" tIns="0" rIns="0" bIns="0" anchor="t">
            <a:spAutoFit/>
          </a:bodyPr>
          <a:lstStyle/>
          <a:p>
            <a:pPr algn="l">
              <a:spcAft>
                <a:spcPts val="800"/>
              </a:spcAft>
            </a:pPr>
            <a:r>
              <a:rPr sz="1600" b="0"/>
              <a:t>Tabeller som pekar på varandra. SQLite, PostgreSQL, MySQL. PocketBase använder SQLite.</a:t>
            </a:r>
          </a:p>
        </p:txBody>
      </p:sp>
      <p:sp>
        <p:nvSpPr>
          <p:cNvPr id="7" name="Rounded Rectangle 6"/>
          <p:cNvSpPr/>
          <p:nvPr/>
        </p:nvSpPr>
        <p:spPr>
          <a:xfrm>
            <a:off x="3431971" y="1783080"/>
            <a:ext cx="2526715" cy="329184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3688003" y="2039112"/>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 }</a:t>
            </a:r>
          </a:p>
        </p:txBody>
      </p:sp>
      <p:sp>
        <p:nvSpPr>
          <p:cNvPr id="9" name="TextBox 8"/>
          <p:cNvSpPr txBox="1"/>
          <p:nvPr/>
        </p:nvSpPr>
        <p:spPr>
          <a:xfrm>
            <a:off x="3688003" y="2834640"/>
            <a:ext cx="2177594" cy="292388"/>
          </a:xfrm>
          <a:prstGeom prst="rect">
            <a:avLst/>
          </a:prstGeom>
          <a:noFill/>
        </p:spPr>
        <p:txBody>
          <a:bodyPr wrap="square" lIns="0" tIns="0" rIns="0" bIns="0" anchor="t">
            <a:spAutoFit/>
          </a:bodyPr>
          <a:lstStyle/>
          <a:p>
            <a:pPr algn="l">
              <a:spcAft>
                <a:spcPts val="800"/>
              </a:spcAft>
            </a:pPr>
            <a:r>
              <a:rPr sz="1900" b="1"/>
              <a:t>Dokumentdatabas</a:t>
            </a:r>
          </a:p>
        </p:txBody>
      </p:sp>
      <p:sp>
        <p:nvSpPr>
          <p:cNvPr id="10" name="TextBox 9"/>
          <p:cNvSpPr txBox="1"/>
          <p:nvPr/>
        </p:nvSpPr>
        <p:spPr>
          <a:xfrm>
            <a:off x="3688003" y="3429000"/>
            <a:ext cx="2014651" cy="1280160"/>
          </a:xfrm>
          <a:prstGeom prst="rect">
            <a:avLst/>
          </a:prstGeom>
          <a:noFill/>
        </p:spPr>
        <p:txBody>
          <a:bodyPr wrap="square" lIns="0" tIns="0" rIns="0" bIns="0" anchor="t">
            <a:spAutoFit/>
          </a:bodyPr>
          <a:lstStyle/>
          <a:p>
            <a:pPr algn="l">
              <a:spcAft>
                <a:spcPts val="800"/>
              </a:spcAft>
            </a:pPr>
            <a:r>
              <a:rPr sz="1600" b="0"/>
              <a:t>JSON-liknande dokument. MongoDB, Firebase. Smidigt, men data kopieras lätt.</a:t>
            </a:r>
          </a:p>
        </p:txBody>
      </p:sp>
      <p:sp>
        <p:nvSpPr>
          <p:cNvPr id="11" name="Rounded Rectangle 10"/>
          <p:cNvSpPr/>
          <p:nvPr/>
        </p:nvSpPr>
        <p:spPr>
          <a:xfrm>
            <a:off x="6187287" y="1783080"/>
            <a:ext cx="2526715" cy="329184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43319" y="2039112"/>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K:V</a:t>
            </a:r>
          </a:p>
        </p:txBody>
      </p:sp>
      <p:sp>
        <p:nvSpPr>
          <p:cNvPr id="13" name="TextBox 12"/>
          <p:cNvSpPr txBox="1"/>
          <p:nvPr/>
        </p:nvSpPr>
        <p:spPr>
          <a:xfrm>
            <a:off x="6443319" y="2834640"/>
            <a:ext cx="2014651" cy="548640"/>
          </a:xfrm>
          <a:prstGeom prst="rect">
            <a:avLst/>
          </a:prstGeom>
          <a:noFill/>
        </p:spPr>
        <p:txBody>
          <a:bodyPr wrap="square" lIns="0" tIns="0" rIns="0" bIns="0" anchor="t">
            <a:spAutoFit/>
          </a:bodyPr>
          <a:lstStyle/>
          <a:p>
            <a:pPr algn="l">
              <a:spcAft>
                <a:spcPts val="800"/>
              </a:spcAft>
            </a:pPr>
            <a:r>
              <a:rPr sz="1900" b="1"/>
              <a:t>Nyckel–värde</a:t>
            </a:r>
          </a:p>
        </p:txBody>
      </p:sp>
      <p:sp>
        <p:nvSpPr>
          <p:cNvPr id="14" name="TextBox 13"/>
          <p:cNvSpPr txBox="1"/>
          <p:nvPr/>
        </p:nvSpPr>
        <p:spPr>
          <a:xfrm>
            <a:off x="6443319" y="3429000"/>
            <a:ext cx="2014651" cy="1280160"/>
          </a:xfrm>
          <a:prstGeom prst="rect">
            <a:avLst/>
          </a:prstGeom>
          <a:noFill/>
        </p:spPr>
        <p:txBody>
          <a:bodyPr wrap="square" lIns="0" tIns="0" rIns="0" bIns="0" anchor="t">
            <a:spAutoFit/>
          </a:bodyPr>
          <a:lstStyle/>
          <a:p>
            <a:pPr algn="l">
              <a:spcAft>
                <a:spcPts val="800"/>
              </a:spcAft>
            </a:pPr>
            <a:r>
              <a:rPr sz="1600" b="0"/>
              <a:t>Ett namn och ett värde. Redis. Väldigt snabb tillfällig lagring.</a:t>
            </a:r>
          </a:p>
        </p:txBody>
      </p:sp>
      <p:sp>
        <p:nvSpPr>
          <p:cNvPr id="15" name="Rounded Rectangle 14"/>
          <p:cNvSpPr/>
          <p:nvPr/>
        </p:nvSpPr>
        <p:spPr>
          <a:xfrm>
            <a:off x="8942603" y="1783080"/>
            <a:ext cx="2526715" cy="329184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198635" y="2039112"/>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a:t>
            </a:r>
          </a:p>
        </p:txBody>
      </p:sp>
      <p:sp>
        <p:nvSpPr>
          <p:cNvPr id="17" name="TextBox 16"/>
          <p:cNvSpPr txBox="1"/>
          <p:nvPr/>
        </p:nvSpPr>
        <p:spPr>
          <a:xfrm>
            <a:off x="9198635" y="2834640"/>
            <a:ext cx="2014651" cy="548640"/>
          </a:xfrm>
          <a:prstGeom prst="rect">
            <a:avLst/>
          </a:prstGeom>
          <a:noFill/>
        </p:spPr>
        <p:txBody>
          <a:bodyPr wrap="square" lIns="0" tIns="0" rIns="0" bIns="0" anchor="t">
            <a:spAutoFit/>
          </a:bodyPr>
          <a:lstStyle/>
          <a:p>
            <a:pPr algn="l">
              <a:spcAft>
                <a:spcPts val="800"/>
              </a:spcAft>
            </a:pPr>
            <a:r>
              <a:rPr sz="1900" b="1"/>
              <a:t>Grafdatabas</a:t>
            </a:r>
          </a:p>
        </p:txBody>
      </p:sp>
      <p:sp>
        <p:nvSpPr>
          <p:cNvPr id="18" name="TextBox 17"/>
          <p:cNvSpPr txBox="1"/>
          <p:nvPr/>
        </p:nvSpPr>
        <p:spPr>
          <a:xfrm>
            <a:off x="9198635" y="3429000"/>
            <a:ext cx="2014651" cy="1280160"/>
          </a:xfrm>
          <a:prstGeom prst="rect">
            <a:avLst/>
          </a:prstGeom>
          <a:noFill/>
        </p:spPr>
        <p:txBody>
          <a:bodyPr wrap="square" lIns="0" tIns="0" rIns="0" bIns="0" anchor="t">
            <a:spAutoFit/>
          </a:bodyPr>
          <a:lstStyle/>
          <a:p>
            <a:pPr algn="l">
              <a:spcAft>
                <a:spcPts val="800"/>
              </a:spcAft>
            </a:pPr>
            <a:r>
              <a:rPr sz="1600" b="0"/>
              <a:t>Punkter och kopplingar. Neo4j. Bra för ”vänner till vänner”.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Databasdesign i sex steg</a:t>
            </a:r>
          </a:p>
        </p:txBody>
      </p:sp>
      <p:sp>
        <p:nvSpPr>
          <p:cNvPr id="3" name="Oval 2"/>
          <p:cNvSpPr/>
          <p:nvPr/>
        </p:nvSpPr>
        <p:spPr>
          <a:xfrm>
            <a:off x="813816" y="17373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1</a:t>
            </a:r>
          </a:p>
        </p:txBody>
      </p:sp>
      <p:sp>
        <p:nvSpPr>
          <p:cNvPr id="4" name="TextBox 3"/>
          <p:cNvSpPr txBox="1"/>
          <p:nvPr/>
        </p:nvSpPr>
        <p:spPr>
          <a:xfrm>
            <a:off x="1591056" y="1719072"/>
            <a:ext cx="5394960" cy="758952"/>
          </a:xfrm>
          <a:prstGeom prst="rect">
            <a:avLst/>
          </a:prstGeom>
          <a:noFill/>
        </p:spPr>
        <p:txBody>
          <a:bodyPr wrap="square" lIns="0" tIns="0" rIns="0" bIns="0" anchor="t">
            <a:spAutoFit/>
          </a:bodyPr>
          <a:lstStyle/>
          <a:p>
            <a:pPr algn="l">
              <a:spcAft>
                <a:spcPts val="200"/>
              </a:spcAft>
            </a:pPr>
            <a:r>
              <a:rPr sz="1900" b="1"/>
              <a:t>Beskriv idén</a:t>
            </a:r>
          </a:p>
          <a:p>
            <a:pPr algn="l">
              <a:spcAft>
                <a:spcPts val="800"/>
              </a:spcAft>
            </a:pPr>
            <a:r>
              <a:rPr sz="1500" b="0">
                <a:solidFill>
                  <a:srgbClr val="595959"/>
                </a:solidFill>
              </a:rPr>
              <a:t>3–5 meningar om vad appen ska göra</a:t>
            </a:r>
          </a:p>
        </p:txBody>
      </p:sp>
      <p:sp>
        <p:nvSpPr>
          <p:cNvPr id="5" name="Oval 4"/>
          <p:cNvSpPr/>
          <p:nvPr/>
        </p:nvSpPr>
        <p:spPr>
          <a:xfrm>
            <a:off x="813816" y="2496312"/>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2</a:t>
            </a:r>
          </a:p>
        </p:txBody>
      </p:sp>
      <p:sp>
        <p:nvSpPr>
          <p:cNvPr id="6" name="TextBox 5"/>
          <p:cNvSpPr txBox="1"/>
          <p:nvPr/>
        </p:nvSpPr>
        <p:spPr>
          <a:xfrm>
            <a:off x="1591056" y="2478024"/>
            <a:ext cx="5394960" cy="758952"/>
          </a:xfrm>
          <a:prstGeom prst="rect">
            <a:avLst/>
          </a:prstGeom>
          <a:noFill/>
        </p:spPr>
        <p:txBody>
          <a:bodyPr wrap="square" lIns="0" tIns="0" rIns="0" bIns="0" anchor="t">
            <a:spAutoFit/>
          </a:bodyPr>
          <a:lstStyle/>
          <a:p>
            <a:pPr algn="l">
              <a:spcAft>
                <a:spcPts val="200"/>
              </a:spcAft>
            </a:pPr>
            <a:r>
              <a:rPr sz="1900" b="1"/>
              <a:t>Hitta tabellerna</a:t>
            </a:r>
          </a:p>
          <a:p>
            <a:pPr algn="l">
              <a:spcAft>
                <a:spcPts val="800"/>
              </a:spcAft>
            </a:pPr>
            <a:r>
              <a:rPr sz="1500" b="0">
                <a:solidFill>
                  <a:srgbClr val="595959"/>
                </a:solidFill>
              </a:rPr>
              <a:t>Stryk under substantiven</a:t>
            </a:r>
          </a:p>
        </p:txBody>
      </p:sp>
      <p:sp>
        <p:nvSpPr>
          <p:cNvPr id="7" name="Oval 6"/>
          <p:cNvSpPr/>
          <p:nvPr/>
        </p:nvSpPr>
        <p:spPr>
          <a:xfrm>
            <a:off x="813816" y="3255264"/>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3</a:t>
            </a:r>
          </a:p>
        </p:txBody>
      </p:sp>
      <p:sp>
        <p:nvSpPr>
          <p:cNvPr id="8" name="TextBox 7"/>
          <p:cNvSpPr txBox="1"/>
          <p:nvPr/>
        </p:nvSpPr>
        <p:spPr>
          <a:xfrm>
            <a:off x="1591056" y="3236976"/>
            <a:ext cx="5394960" cy="758952"/>
          </a:xfrm>
          <a:prstGeom prst="rect">
            <a:avLst/>
          </a:prstGeom>
          <a:noFill/>
        </p:spPr>
        <p:txBody>
          <a:bodyPr wrap="square" lIns="0" tIns="0" rIns="0" bIns="0" anchor="t">
            <a:spAutoFit/>
          </a:bodyPr>
          <a:lstStyle/>
          <a:p>
            <a:pPr algn="l">
              <a:spcAft>
                <a:spcPts val="200"/>
              </a:spcAft>
            </a:pPr>
            <a:r>
              <a:rPr sz="1900" b="1"/>
              <a:t>Bestäm fälten</a:t>
            </a:r>
          </a:p>
          <a:p>
            <a:pPr algn="l">
              <a:spcAft>
                <a:spcPts val="800"/>
              </a:spcAft>
            </a:pPr>
            <a:r>
              <a:rPr sz="1500" b="0">
                <a:solidFill>
                  <a:srgbClr val="595959"/>
                </a:solidFill>
              </a:rPr>
              <a:t>Vilka uppgifter, och vilken datatyp?</a:t>
            </a:r>
          </a:p>
        </p:txBody>
      </p:sp>
      <p:sp>
        <p:nvSpPr>
          <p:cNvPr id="9" name="Oval 8"/>
          <p:cNvSpPr/>
          <p:nvPr/>
        </p:nvSpPr>
        <p:spPr>
          <a:xfrm>
            <a:off x="813816" y="4014215"/>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4</a:t>
            </a:r>
          </a:p>
        </p:txBody>
      </p:sp>
      <p:sp>
        <p:nvSpPr>
          <p:cNvPr id="10" name="TextBox 9"/>
          <p:cNvSpPr txBox="1"/>
          <p:nvPr/>
        </p:nvSpPr>
        <p:spPr>
          <a:xfrm>
            <a:off x="1591056" y="3995928"/>
            <a:ext cx="5394960" cy="758952"/>
          </a:xfrm>
          <a:prstGeom prst="rect">
            <a:avLst/>
          </a:prstGeom>
          <a:noFill/>
        </p:spPr>
        <p:txBody>
          <a:bodyPr wrap="square" lIns="0" tIns="0" rIns="0" bIns="0" anchor="t">
            <a:spAutoFit/>
          </a:bodyPr>
          <a:lstStyle/>
          <a:p>
            <a:pPr algn="l">
              <a:spcAft>
                <a:spcPts val="200"/>
              </a:spcAft>
            </a:pPr>
            <a:r>
              <a:rPr sz="1900" b="1"/>
              <a:t>Hitta relationerna</a:t>
            </a:r>
          </a:p>
          <a:p>
            <a:pPr algn="l">
              <a:spcAft>
                <a:spcPts val="800"/>
              </a:spcAft>
            </a:pPr>
            <a:r>
              <a:rPr sz="1500" b="0">
                <a:solidFill>
                  <a:srgbClr val="595959"/>
                </a:solidFill>
              </a:rPr>
              <a:t>1:N eller N:M?</a:t>
            </a:r>
          </a:p>
        </p:txBody>
      </p:sp>
      <p:sp>
        <p:nvSpPr>
          <p:cNvPr id="11" name="Oval 10"/>
          <p:cNvSpPr/>
          <p:nvPr/>
        </p:nvSpPr>
        <p:spPr>
          <a:xfrm>
            <a:off x="813816" y="4773168"/>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5</a:t>
            </a:r>
          </a:p>
        </p:txBody>
      </p:sp>
      <p:sp>
        <p:nvSpPr>
          <p:cNvPr id="12" name="TextBox 11"/>
          <p:cNvSpPr txBox="1"/>
          <p:nvPr/>
        </p:nvSpPr>
        <p:spPr>
          <a:xfrm>
            <a:off x="1591056" y="4754880"/>
            <a:ext cx="5394960" cy="758952"/>
          </a:xfrm>
          <a:prstGeom prst="rect">
            <a:avLst/>
          </a:prstGeom>
          <a:noFill/>
        </p:spPr>
        <p:txBody>
          <a:bodyPr wrap="square" lIns="0" tIns="0" rIns="0" bIns="0" anchor="t">
            <a:spAutoFit/>
          </a:bodyPr>
          <a:lstStyle/>
          <a:p>
            <a:pPr algn="l">
              <a:spcAft>
                <a:spcPts val="200"/>
              </a:spcAft>
            </a:pPr>
            <a:r>
              <a:rPr sz="1900" b="1"/>
              <a:t>Rita ER-diagrammet</a:t>
            </a:r>
          </a:p>
          <a:p>
            <a:pPr algn="l">
              <a:spcAft>
                <a:spcPts val="800"/>
              </a:spcAft>
            </a:pPr>
            <a:r>
              <a:rPr sz="1500" b="0">
                <a:solidFill>
                  <a:srgbClr val="595959"/>
                </a:solidFill>
              </a:rPr>
              <a:t>Lådor och pilar</a:t>
            </a:r>
          </a:p>
        </p:txBody>
      </p:sp>
      <p:sp>
        <p:nvSpPr>
          <p:cNvPr id="13" name="Oval 12"/>
          <p:cNvSpPr/>
          <p:nvPr/>
        </p:nvSpPr>
        <p:spPr>
          <a:xfrm>
            <a:off x="813816" y="553212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6</a:t>
            </a:r>
          </a:p>
        </p:txBody>
      </p:sp>
      <p:sp>
        <p:nvSpPr>
          <p:cNvPr id="14" name="TextBox 13"/>
          <p:cNvSpPr txBox="1"/>
          <p:nvPr/>
        </p:nvSpPr>
        <p:spPr>
          <a:xfrm>
            <a:off x="1591056" y="5513832"/>
            <a:ext cx="5394960" cy="758952"/>
          </a:xfrm>
          <a:prstGeom prst="rect">
            <a:avLst/>
          </a:prstGeom>
          <a:noFill/>
        </p:spPr>
        <p:txBody>
          <a:bodyPr wrap="square" lIns="0" tIns="0" rIns="0" bIns="0" anchor="t">
            <a:spAutoFit/>
          </a:bodyPr>
          <a:lstStyle/>
          <a:p>
            <a:pPr algn="l">
              <a:spcAft>
                <a:spcPts val="200"/>
              </a:spcAft>
            </a:pPr>
            <a:r>
              <a:rPr sz="1900" b="1"/>
              <a:t>Kontrollera designen</a:t>
            </a:r>
          </a:p>
          <a:p>
            <a:pPr algn="l">
              <a:spcAft>
                <a:spcPts val="800"/>
              </a:spcAft>
            </a:pPr>
            <a:r>
              <a:rPr sz="1500" b="0">
                <a:solidFill>
                  <a:srgbClr val="595959"/>
                </a:solidFill>
              </a:rPr>
              <a:t>Gå igenom checklistan</a:t>
            </a:r>
          </a:p>
        </p:txBody>
      </p:sp>
      <p:sp>
        <p:nvSpPr>
          <p:cNvPr id="15" name="Rounded Rectangle 14"/>
          <p:cNvSpPr/>
          <p:nvPr/>
        </p:nvSpPr>
        <p:spPr>
          <a:xfrm>
            <a:off x="7223760" y="1737360"/>
            <a:ext cx="4474159" cy="329184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79" y="2011680"/>
            <a:ext cx="3925519" cy="2926080"/>
          </a:xfrm>
          <a:prstGeom prst="rect">
            <a:avLst/>
          </a:prstGeom>
          <a:noFill/>
        </p:spPr>
        <p:txBody>
          <a:bodyPr wrap="square" lIns="0" tIns="0" rIns="0" bIns="0" anchor="t">
            <a:spAutoFit/>
          </a:bodyPr>
          <a:lstStyle/>
          <a:p>
            <a:pPr algn="l">
              <a:spcAft>
                <a:spcPts val="1000"/>
              </a:spcAft>
            </a:pPr>
            <a:r>
              <a:rPr sz="1900" b="1"/>
              <a:t>Kvittra – idén</a:t>
            </a:r>
          </a:p>
          <a:p>
            <a:pPr algn="l">
              <a:spcAft>
                <a:spcPts val="600"/>
              </a:spcAft>
            </a:pPr>
            <a:r>
              <a:rPr sz="1600" b="0"/>
              <a:t>Kvittra är en enkel social app. Användare kan skriva inlägg med en rubrik och en text.</a:t>
            </a:r>
          </a:p>
          <a:p>
            <a:pPr algn="l">
              <a:spcAft>
                <a:spcPts val="600"/>
              </a:spcAft>
            </a:pPr>
            <a:r>
              <a:rPr sz="1600" b="0"/>
              <a:t>Andra användare kan kommentera inläggen och gilla dem.</a:t>
            </a:r>
          </a:p>
          <a:p>
            <a:pPr algn="l">
              <a:spcAft>
                <a:spcPts val="600"/>
              </a:spcAft>
            </a:pPr>
            <a:r>
              <a:rPr sz="1600" b="0"/>
              <a:t>Man kan följa andra användare för att se deras inlägg i sitt flöde.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Steg 2 – hitta tabellerna</a:t>
            </a:r>
          </a:p>
        </p:txBody>
      </p:sp>
      <p:graphicFrame>
        <p:nvGraphicFramePr>
          <p:cNvPr id="3" name="Table 2"/>
          <p:cNvGraphicFramePr>
            <a:graphicFrameLocks noGrp="1"/>
          </p:cNvGraphicFramePr>
          <p:nvPr/>
        </p:nvGraphicFramePr>
        <p:xfrm>
          <a:off x="768096" y="1691640"/>
          <a:ext cx="10607040" cy="365760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457200">
                <a:tc>
                  <a:txBody>
                    <a:bodyPr/>
                    <a:lstStyle/>
                    <a:p>
                      <a:r>
                        <a:rPr sz="1600" b="1"/>
                        <a:t>Substantiv</a:t>
                      </a:r>
                    </a:p>
                  </a:txBody>
                  <a:tcPr marT="36576" marB="36576" anchor="ctr"/>
                </a:tc>
                <a:tc>
                  <a:txBody>
                    <a:bodyPr/>
                    <a:lstStyle/>
                    <a:p>
                      <a:r>
                        <a:rPr sz="1600" b="1"/>
                        <a:t>Tabell?</a:t>
                      </a:r>
                    </a:p>
                  </a:txBody>
                  <a:tcPr marT="36576" marB="36576" anchor="ctr"/>
                </a:tc>
                <a:tc>
                  <a:txBody>
                    <a:bodyPr/>
                    <a:lstStyle/>
                    <a:p>
                      <a:r>
                        <a:rPr sz="1600" b="1"/>
                        <a:t>Varför</a:t>
                      </a:r>
                    </a:p>
                  </a:txBody>
                  <a:tcPr marT="36576" marB="36576" anchor="ctr"/>
                </a:tc>
                <a:extLst>
                  <a:ext uri="{0D108BD9-81ED-4DB2-BD59-A6C34878D82A}">
                    <a16:rowId xmlns:a16="http://schemas.microsoft.com/office/drawing/2014/main" val="10000"/>
                  </a:ext>
                </a:extLst>
              </a:tr>
              <a:tr h="457200">
                <a:tc>
                  <a:txBody>
                    <a:bodyPr/>
                    <a:lstStyle/>
                    <a:p>
                      <a:r>
                        <a:rPr sz="1600"/>
                        <a:t>användare</a:t>
                      </a:r>
                    </a:p>
                  </a:txBody>
                  <a:tcPr marT="36576" marB="36576" anchor="ctr"/>
                </a:tc>
                <a:tc>
                  <a:txBody>
                    <a:bodyPr/>
                    <a:lstStyle/>
                    <a:p>
                      <a:r>
                        <a:rPr sz="1600"/>
                        <a:t>✅ users</a:t>
                      </a:r>
                    </a:p>
                  </a:txBody>
                  <a:tcPr marT="36576" marB="36576" anchor="ctr"/>
                </a:tc>
                <a:tc>
                  <a:txBody>
                    <a:bodyPr/>
                    <a:lstStyle/>
                    <a:p>
                      <a:r>
                        <a:rPr sz="1600"/>
                        <a:t>Många, med egna uppgifter</a:t>
                      </a:r>
                    </a:p>
                  </a:txBody>
                  <a:tcPr marT="36576" marB="36576" anchor="ctr"/>
                </a:tc>
                <a:extLst>
                  <a:ext uri="{0D108BD9-81ED-4DB2-BD59-A6C34878D82A}">
                    <a16:rowId xmlns:a16="http://schemas.microsoft.com/office/drawing/2014/main" val="10001"/>
                  </a:ext>
                </a:extLst>
              </a:tr>
              <a:tr h="457200">
                <a:tc>
                  <a:txBody>
                    <a:bodyPr/>
                    <a:lstStyle/>
                    <a:p>
                      <a:r>
                        <a:rPr sz="1600"/>
                        <a:t>inlägg</a:t>
                      </a:r>
                    </a:p>
                  </a:txBody>
                  <a:tcPr marT="36576" marB="36576" anchor="ctr"/>
                </a:tc>
                <a:tc>
                  <a:txBody>
                    <a:bodyPr/>
                    <a:lstStyle/>
                    <a:p>
                      <a:r>
                        <a:rPr sz="1600"/>
                        <a:t>✅ posts</a:t>
                      </a:r>
                    </a:p>
                  </a:txBody>
                  <a:tcPr marT="36576" marB="36576" anchor="ctr"/>
                </a:tc>
                <a:tc>
                  <a:txBody>
                    <a:bodyPr/>
                    <a:lstStyle/>
                    <a:p>
                      <a:r>
                        <a:rPr sz="1600"/>
                        <a:t>Många, med rubrik, text och författare</a:t>
                      </a:r>
                    </a:p>
                  </a:txBody>
                  <a:tcPr marT="36576" marB="36576" anchor="ctr"/>
                </a:tc>
                <a:extLst>
                  <a:ext uri="{0D108BD9-81ED-4DB2-BD59-A6C34878D82A}">
                    <a16:rowId xmlns:a16="http://schemas.microsoft.com/office/drawing/2014/main" val="10002"/>
                  </a:ext>
                </a:extLst>
              </a:tr>
              <a:tr h="457200">
                <a:tc>
                  <a:txBody>
                    <a:bodyPr/>
                    <a:lstStyle/>
                    <a:p>
                      <a:r>
                        <a:rPr sz="1600"/>
                        <a:t>kommentar</a:t>
                      </a:r>
                    </a:p>
                  </a:txBody>
                  <a:tcPr marT="36576" marB="36576" anchor="ctr"/>
                </a:tc>
                <a:tc>
                  <a:txBody>
                    <a:bodyPr/>
                    <a:lstStyle/>
                    <a:p>
                      <a:r>
                        <a:rPr sz="1600"/>
                        <a:t>✅ comments</a:t>
                      </a:r>
                    </a:p>
                  </a:txBody>
                  <a:tcPr marT="36576" marB="36576" anchor="ctr"/>
                </a:tc>
                <a:tc>
                  <a:txBody>
                    <a:bodyPr/>
                    <a:lstStyle/>
                    <a:p>
                      <a:r>
                        <a:rPr sz="1600"/>
                        <a:t>Många kommentarer på varje inlägg</a:t>
                      </a:r>
                    </a:p>
                  </a:txBody>
                  <a:tcPr marT="36576" marB="36576" anchor="ctr"/>
                </a:tc>
                <a:extLst>
                  <a:ext uri="{0D108BD9-81ED-4DB2-BD59-A6C34878D82A}">
                    <a16:rowId xmlns:a16="http://schemas.microsoft.com/office/drawing/2014/main" val="10003"/>
                  </a:ext>
                </a:extLst>
              </a:tr>
              <a:tr h="457200">
                <a:tc>
                  <a:txBody>
                    <a:bodyPr/>
                    <a:lstStyle/>
                    <a:p>
                      <a:r>
                        <a:rPr sz="1600"/>
                        <a:t>gilla</a:t>
                      </a:r>
                    </a:p>
                  </a:txBody>
                  <a:tcPr marT="36576" marB="36576" anchor="ctr"/>
                </a:tc>
                <a:tc>
                  <a:txBody>
                    <a:bodyPr/>
                    <a:lstStyle/>
                    <a:p>
                      <a:r>
                        <a:rPr sz="1600"/>
                        <a:t>✅ likes</a:t>
                      </a:r>
                    </a:p>
                  </a:txBody>
                  <a:tcPr marT="36576" marB="36576" anchor="ctr"/>
                </a:tc>
                <a:tc>
                  <a:txBody>
                    <a:bodyPr/>
                    <a:lstStyle/>
                    <a:p>
                      <a:r>
                        <a:rPr sz="1600"/>
                        <a:t>Vi måste komma ihåg vem som gillat vilket inlägg</a:t>
                      </a:r>
                    </a:p>
                  </a:txBody>
                  <a:tcPr marT="36576" marB="36576" anchor="ctr"/>
                </a:tc>
                <a:extLst>
                  <a:ext uri="{0D108BD9-81ED-4DB2-BD59-A6C34878D82A}">
                    <a16:rowId xmlns:a16="http://schemas.microsoft.com/office/drawing/2014/main" val="10004"/>
                  </a:ext>
                </a:extLst>
              </a:tr>
              <a:tr h="457200">
                <a:tc>
                  <a:txBody>
                    <a:bodyPr/>
                    <a:lstStyle/>
                    <a:p>
                      <a:r>
                        <a:rPr sz="1600"/>
                        <a:t>följa</a:t>
                      </a:r>
                    </a:p>
                  </a:txBody>
                  <a:tcPr marT="36576" marB="36576" anchor="ctr"/>
                </a:tc>
                <a:tc>
                  <a:txBody>
                    <a:bodyPr/>
                    <a:lstStyle/>
                    <a:p>
                      <a:r>
                        <a:rPr sz="1600"/>
                        <a:t>✅ follows</a:t>
                      </a:r>
                    </a:p>
                  </a:txBody>
                  <a:tcPr marT="36576" marB="36576" anchor="ctr"/>
                </a:tc>
                <a:tc>
                  <a:txBody>
                    <a:bodyPr/>
                    <a:lstStyle/>
                    <a:p>
                      <a:r>
                        <a:rPr sz="1600"/>
                        <a:t>Vi måste komma ihåg vem som följer vem</a:t>
                      </a:r>
                    </a:p>
                  </a:txBody>
                  <a:tcPr marT="36576" marB="36576" anchor="ctr"/>
                </a:tc>
                <a:extLst>
                  <a:ext uri="{0D108BD9-81ED-4DB2-BD59-A6C34878D82A}">
                    <a16:rowId xmlns:a16="http://schemas.microsoft.com/office/drawing/2014/main" val="10005"/>
                  </a:ext>
                </a:extLst>
              </a:tr>
              <a:tr h="457200">
                <a:tc>
                  <a:txBody>
                    <a:bodyPr/>
                    <a:lstStyle/>
                    <a:p>
                      <a:r>
                        <a:rPr sz="1600"/>
                        <a:t>rubrik, text</a:t>
                      </a:r>
                    </a:p>
                  </a:txBody>
                  <a:tcPr marT="36576" marB="36576" anchor="ctr"/>
                </a:tc>
                <a:tc>
                  <a:txBody>
                    <a:bodyPr/>
                    <a:lstStyle/>
                    <a:p>
                      <a:r>
                        <a:rPr sz="1600"/>
                        <a:t>❌</a:t>
                      </a:r>
                    </a:p>
                  </a:txBody>
                  <a:tcPr marT="36576" marB="36576" anchor="ctr"/>
                </a:tc>
                <a:tc>
                  <a:txBody>
                    <a:bodyPr/>
                    <a:lstStyle/>
                    <a:p>
                      <a:r>
                        <a:rPr sz="1600"/>
                        <a:t>Egenskaper hos ett inlägg → fält</a:t>
                      </a:r>
                    </a:p>
                  </a:txBody>
                  <a:tcPr marT="36576" marB="36576" anchor="ctr"/>
                </a:tc>
                <a:extLst>
                  <a:ext uri="{0D108BD9-81ED-4DB2-BD59-A6C34878D82A}">
                    <a16:rowId xmlns:a16="http://schemas.microsoft.com/office/drawing/2014/main" val="10006"/>
                  </a:ext>
                </a:extLst>
              </a:tr>
              <a:tr h="457200">
                <a:tc>
                  <a:txBody>
                    <a:bodyPr/>
                    <a:lstStyle/>
                    <a:p>
                      <a:r>
                        <a:rPr sz="1600"/>
                        <a:t>flöde</a:t>
                      </a:r>
                    </a:p>
                  </a:txBody>
                  <a:tcPr marT="36576" marB="36576" anchor="ctr"/>
                </a:tc>
                <a:tc>
                  <a:txBody>
                    <a:bodyPr/>
                    <a:lstStyle/>
                    <a:p>
                      <a:r>
                        <a:rPr sz="1600"/>
                        <a:t>❌</a:t>
                      </a:r>
                    </a:p>
                  </a:txBody>
                  <a:tcPr marT="36576" marB="36576" anchor="ctr"/>
                </a:tc>
                <a:tc>
                  <a:txBody>
                    <a:bodyPr/>
                    <a:lstStyle/>
                    <a:p>
                      <a:r>
                        <a:rPr sz="1600"/>
                        <a:t>Kan räknas fram ur inlägg och följningar</a:t>
                      </a:r>
                    </a:p>
                  </a:txBody>
                  <a:tcPr marT="36576" marB="36576" anchor="ctr"/>
                </a:tc>
                <a:extLst>
                  <a:ext uri="{0D108BD9-81ED-4DB2-BD59-A6C34878D82A}">
                    <a16:rowId xmlns:a16="http://schemas.microsoft.com/office/drawing/2014/main" val="10007"/>
                  </a:ext>
                </a:extLst>
              </a:tr>
            </a:tbl>
          </a:graphicData>
        </a:graphic>
      </p:graphicFrame>
      <p:sp>
        <p:nvSpPr>
          <p:cNvPr id="4" name="TextBox 3"/>
          <p:cNvSpPr txBox="1"/>
          <p:nvPr/>
        </p:nvSpPr>
        <p:spPr>
          <a:xfrm>
            <a:off x="768096" y="5577840"/>
            <a:ext cx="10655503" cy="731520"/>
          </a:xfrm>
          <a:prstGeom prst="rect">
            <a:avLst/>
          </a:prstGeom>
          <a:noFill/>
        </p:spPr>
        <p:txBody>
          <a:bodyPr wrap="square" lIns="0" tIns="0" rIns="0" bIns="0" anchor="t">
            <a:spAutoFit/>
          </a:bodyPr>
          <a:lstStyle/>
          <a:p>
            <a:pPr algn="l">
              <a:spcAft>
                <a:spcPts val="800"/>
              </a:spcAft>
            </a:pPr>
            <a:r>
              <a:rPr sz="1600" b="0">
                <a:solidFill>
                  <a:srgbClr val="595959"/>
                </a:solidFill>
              </a:rPr>
              <a:t>Tumregel: finns det många av något, med egna uppgifter, blir det en tabell.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Steg 3 – bestäm fälten</a:t>
            </a:r>
          </a:p>
        </p:txBody>
      </p:sp>
      <p:graphicFrame>
        <p:nvGraphicFramePr>
          <p:cNvPr id="3" name="Table 2"/>
          <p:cNvGraphicFramePr>
            <a:graphicFrameLocks noGrp="1"/>
          </p:cNvGraphicFramePr>
          <p:nvPr/>
        </p:nvGraphicFramePr>
        <p:xfrm>
          <a:off x="768096" y="1691640"/>
          <a:ext cx="5212080" cy="2743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457200">
                <a:tc>
                  <a:txBody>
                    <a:bodyPr/>
                    <a:lstStyle/>
                    <a:p>
                      <a:r>
                        <a:rPr sz="1600" b="1"/>
                        <a:t>posts</a:t>
                      </a:r>
                    </a:p>
                  </a:txBody>
                  <a:tcPr marT="36576" marB="36576" anchor="ctr"/>
                </a:tc>
                <a:tc>
                  <a:txBody>
                    <a:bodyPr/>
                    <a:lstStyle/>
                    <a:p>
                      <a:r>
                        <a:rPr sz="1600" b="1"/>
                        <a:t>Typ</a:t>
                      </a:r>
                    </a:p>
                  </a:txBody>
                  <a:tcPr marT="36576" marB="36576" anchor="ctr"/>
                </a:tc>
                <a:extLst>
                  <a:ext uri="{0D108BD9-81ED-4DB2-BD59-A6C34878D82A}">
                    <a16:rowId xmlns:a16="http://schemas.microsoft.com/office/drawing/2014/main" val="10000"/>
                  </a:ext>
                </a:extLst>
              </a:tr>
              <a:tr h="457200">
                <a:tc>
                  <a:txBody>
                    <a:bodyPr/>
                    <a:lstStyle/>
                    <a:p>
                      <a:r>
                        <a:rPr sz="1600">
                          <a:latin typeface="Courier New"/>
                        </a:rPr>
                        <a:t>id</a:t>
                      </a:r>
                    </a:p>
                  </a:txBody>
                  <a:tcPr marT="36576" marB="36576" anchor="ctr"/>
                </a:tc>
                <a:tc>
                  <a:txBody>
                    <a:bodyPr/>
                    <a:lstStyle/>
                    <a:p>
                      <a:r>
                        <a:rPr sz="1600"/>
                        <a:t>id (automatiskt)</a:t>
                      </a:r>
                    </a:p>
                  </a:txBody>
                  <a:tcPr marT="36576" marB="36576" anchor="ctr"/>
                </a:tc>
                <a:extLst>
                  <a:ext uri="{0D108BD9-81ED-4DB2-BD59-A6C34878D82A}">
                    <a16:rowId xmlns:a16="http://schemas.microsoft.com/office/drawing/2014/main" val="10001"/>
                  </a:ext>
                </a:extLst>
              </a:tr>
              <a:tr h="457200">
                <a:tc>
                  <a:txBody>
                    <a:bodyPr/>
                    <a:lstStyle/>
                    <a:p>
                      <a:r>
                        <a:rPr sz="1600">
                          <a:latin typeface="Courier New"/>
                        </a:rPr>
                        <a:t>author</a:t>
                      </a:r>
                    </a:p>
                  </a:txBody>
                  <a:tcPr marT="36576" marB="36576" anchor="ctr"/>
                </a:tc>
                <a:tc>
                  <a:txBody>
                    <a:bodyPr/>
                    <a:lstStyle/>
                    <a:p>
                      <a:r>
                        <a:rPr sz="1600"/>
                        <a:t>relation → users</a:t>
                      </a:r>
                    </a:p>
                  </a:txBody>
                  <a:tcPr marT="36576" marB="36576" anchor="ctr"/>
                </a:tc>
                <a:extLst>
                  <a:ext uri="{0D108BD9-81ED-4DB2-BD59-A6C34878D82A}">
                    <a16:rowId xmlns:a16="http://schemas.microsoft.com/office/drawing/2014/main" val="10002"/>
                  </a:ext>
                </a:extLst>
              </a:tr>
              <a:tr h="457200">
                <a:tc>
                  <a:txBody>
                    <a:bodyPr/>
                    <a:lstStyle/>
                    <a:p>
                      <a:r>
                        <a:rPr sz="1600">
                          <a:latin typeface="Courier New"/>
                        </a:rPr>
                        <a:t>title</a:t>
                      </a:r>
                    </a:p>
                  </a:txBody>
                  <a:tcPr marT="36576" marB="36576" anchor="ctr"/>
                </a:tc>
                <a:tc>
                  <a:txBody>
                    <a:bodyPr/>
                    <a:lstStyle/>
                    <a:p>
                      <a:r>
                        <a:rPr sz="1600"/>
                        <a:t>text</a:t>
                      </a:r>
                    </a:p>
                  </a:txBody>
                  <a:tcPr marT="36576" marB="36576" anchor="ctr"/>
                </a:tc>
                <a:extLst>
                  <a:ext uri="{0D108BD9-81ED-4DB2-BD59-A6C34878D82A}">
                    <a16:rowId xmlns:a16="http://schemas.microsoft.com/office/drawing/2014/main" val="10003"/>
                  </a:ext>
                </a:extLst>
              </a:tr>
              <a:tr h="457200">
                <a:tc>
                  <a:txBody>
                    <a:bodyPr/>
                    <a:lstStyle/>
                    <a:p>
                      <a:r>
                        <a:rPr sz="1600">
                          <a:latin typeface="Courier New"/>
                        </a:rPr>
                        <a:t>body</a:t>
                      </a:r>
                    </a:p>
                  </a:txBody>
                  <a:tcPr marT="36576" marB="36576" anchor="ctr"/>
                </a:tc>
                <a:tc>
                  <a:txBody>
                    <a:bodyPr/>
                    <a:lstStyle/>
                    <a:p>
                      <a:r>
                        <a:rPr sz="1600"/>
                        <a:t>lång text</a:t>
                      </a:r>
                    </a:p>
                  </a:txBody>
                  <a:tcPr marT="36576" marB="36576" anchor="ctr"/>
                </a:tc>
                <a:extLst>
                  <a:ext uri="{0D108BD9-81ED-4DB2-BD59-A6C34878D82A}">
                    <a16:rowId xmlns:a16="http://schemas.microsoft.com/office/drawing/2014/main" val="10004"/>
                  </a:ext>
                </a:extLst>
              </a:tr>
              <a:tr h="457200">
                <a:tc>
                  <a:txBody>
                    <a:bodyPr/>
                    <a:lstStyle/>
                    <a:p>
                      <a:r>
                        <a:rPr sz="1600">
                          <a:latin typeface="Courier New"/>
                        </a:rPr>
                        <a:t>created</a:t>
                      </a:r>
                    </a:p>
                  </a:txBody>
                  <a:tcPr marT="36576" marB="36576" anchor="ctr"/>
                </a:tc>
                <a:tc>
                  <a:txBody>
                    <a:bodyPr/>
                    <a:lstStyle/>
                    <a:p>
                      <a:r>
                        <a:rPr sz="1600"/>
                        <a:t>datum (automatiskt)</a:t>
                      </a:r>
                    </a:p>
                  </a:txBody>
                  <a:tcPr marT="36576" marB="36576" anchor="ctr"/>
                </a:tc>
                <a:extLst>
                  <a:ext uri="{0D108BD9-81ED-4DB2-BD59-A6C34878D82A}">
                    <a16:rowId xmlns:a16="http://schemas.microsoft.com/office/drawing/2014/main" val="10005"/>
                  </a:ext>
                </a:extLst>
              </a:tr>
            </a:tbl>
          </a:graphicData>
        </a:graphic>
      </p:graphicFrame>
      <p:graphicFrame>
        <p:nvGraphicFramePr>
          <p:cNvPr id="4" name="Table 3"/>
          <p:cNvGraphicFramePr>
            <a:graphicFrameLocks noGrp="1"/>
          </p:cNvGraphicFramePr>
          <p:nvPr/>
        </p:nvGraphicFramePr>
        <p:xfrm>
          <a:off x="6400800" y="1691640"/>
          <a:ext cx="5029200" cy="22860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457200">
                <a:tc>
                  <a:txBody>
                    <a:bodyPr/>
                    <a:lstStyle/>
                    <a:p>
                      <a:r>
                        <a:rPr sz="1600" b="1"/>
                        <a:t>likes</a:t>
                      </a:r>
                    </a:p>
                  </a:txBody>
                  <a:tcPr marT="36576" marB="36576" anchor="ctr"/>
                </a:tc>
                <a:tc>
                  <a:txBody>
                    <a:bodyPr/>
                    <a:lstStyle/>
                    <a:p>
                      <a:r>
                        <a:rPr sz="1600" b="1"/>
                        <a:t>Typ</a:t>
                      </a:r>
                    </a:p>
                  </a:txBody>
                  <a:tcPr marT="36576" marB="36576" anchor="ctr"/>
                </a:tc>
                <a:extLst>
                  <a:ext uri="{0D108BD9-81ED-4DB2-BD59-A6C34878D82A}">
                    <a16:rowId xmlns:a16="http://schemas.microsoft.com/office/drawing/2014/main" val="10000"/>
                  </a:ext>
                </a:extLst>
              </a:tr>
              <a:tr h="457200">
                <a:tc>
                  <a:txBody>
                    <a:bodyPr/>
                    <a:lstStyle/>
                    <a:p>
                      <a:r>
                        <a:rPr sz="1600">
                          <a:latin typeface="Courier New"/>
                        </a:rPr>
                        <a:t>id</a:t>
                      </a:r>
                    </a:p>
                  </a:txBody>
                  <a:tcPr marT="36576" marB="36576" anchor="ctr"/>
                </a:tc>
                <a:tc>
                  <a:txBody>
                    <a:bodyPr/>
                    <a:lstStyle/>
                    <a:p>
                      <a:r>
                        <a:rPr sz="1600"/>
                        <a:t>id (automatiskt)</a:t>
                      </a:r>
                    </a:p>
                  </a:txBody>
                  <a:tcPr marT="36576" marB="36576" anchor="ctr"/>
                </a:tc>
                <a:extLst>
                  <a:ext uri="{0D108BD9-81ED-4DB2-BD59-A6C34878D82A}">
                    <a16:rowId xmlns:a16="http://schemas.microsoft.com/office/drawing/2014/main" val="10001"/>
                  </a:ext>
                </a:extLst>
              </a:tr>
              <a:tr h="457200">
                <a:tc>
                  <a:txBody>
                    <a:bodyPr/>
                    <a:lstStyle/>
                    <a:p>
                      <a:r>
                        <a:rPr sz="1600">
                          <a:latin typeface="Courier New"/>
                        </a:rPr>
                        <a:t>post</a:t>
                      </a:r>
                    </a:p>
                  </a:txBody>
                  <a:tcPr marT="36576" marB="36576" anchor="ctr"/>
                </a:tc>
                <a:tc>
                  <a:txBody>
                    <a:bodyPr/>
                    <a:lstStyle/>
                    <a:p>
                      <a:r>
                        <a:rPr sz="1600"/>
                        <a:t>relation → posts</a:t>
                      </a:r>
                    </a:p>
                  </a:txBody>
                  <a:tcPr marT="36576" marB="36576" anchor="ctr"/>
                </a:tc>
                <a:extLst>
                  <a:ext uri="{0D108BD9-81ED-4DB2-BD59-A6C34878D82A}">
                    <a16:rowId xmlns:a16="http://schemas.microsoft.com/office/drawing/2014/main" val="10002"/>
                  </a:ext>
                </a:extLst>
              </a:tr>
              <a:tr h="457200">
                <a:tc>
                  <a:txBody>
                    <a:bodyPr/>
                    <a:lstStyle/>
                    <a:p>
                      <a:r>
                        <a:rPr sz="1600">
                          <a:latin typeface="Courier New"/>
                        </a:rPr>
                        <a:t>user</a:t>
                      </a:r>
                    </a:p>
                  </a:txBody>
                  <a:tcPr marT="36576" marB="36576" anchor="ctr"/>
                </a:tc>
                <a:tc>
                  <a:txBody>
                    <a:bodyPr/>
                    <a:lstStyle/>
                    <a:p>
                      <a:r>
                        <a:rPr sz="1600"/>
                        <a:t>relation → users</a:t>
                      </a:r>
                    </a:p>
                  </a:txBody>
                  <a:tcPr marT="36576" marB="36576" anchor="ctr"/>
                </a:tc>
                <a:extLst>
                  <a:ext uri="{0D108BD9-81ED-4DB2-BD59-A6C34878D82A}">
                    <a16:rowId xmlns:a16="http://schemas.microsoft.com/office/drawing/2014/main" val="10003"/>
                  </a:ext>
                </a:extLst>
              </a:tr>
              <a:tr h="457200">
                <a:tc>
                  <a:txBody>
                    <a:bodyPr/>
                    <a:lstStyle/>
                    <a:p>
                      <a:r>
                        <a:rPr sz="1600">
                          <a:latin typeface="Courier New"/>
                        </a:rPr>
                        <a:t>created</a:t>
                      </a:r>
                    </a:p>
                  </a:txBody>
                  <a:tcPr marT="36576" marB="36576" anchor="ctr"/>
                </a:tc>
                <a:tc>
                  <a:txBody>
                    <a:bodyPr/>
                    <a:lstStyle/>
                    <a:p>
                      <a:r>
                        <a:rPr sz="1600"/>
                        <a:t>datum (automatiskt)</a:t>
                      </a:r>
                    </a:p>
                  </a:txBody>
                  <a:tcPr marT="36576" marB="36576" anchor="ctr"/>
                </a:tc>
                <a:extLst>
                  <a:ext uri="{0D108BD9-81ED-4DB2-BD59-A6C34878D82A}">
                    <a16:rowId xmlns:a16="http://schemas.microsoft.com/office/drawing/2014/main" val="10004"/>
                  </a:ext>
                </a:extLst>
              </a:tr>
            </a:tbl>
          </a:graphicData>
        </a:graphic>
      </p:graphicFrame>
      <p:sp>
        <p:nvSpPr>
          <p:cNvPr id="5" name="TextBox 4"/>
          <p:cNvSpPr txBox="1"/>
          <p:nvPr/>
        </p:nvSpPr>
        <p:spPr>
          <a:xfrm>
            <a:off x="768096" y="4800600"/>
            <a:ext cx="10655503" cy="1097280"/>
          </a:xfrm>
          <a:prstGeom prst="rect">
            <a:avLst/>
          </a:prstGeom>
          <a:noFill/>
        </p:spPr>
        <p:txBody>
          <a:bodyPr wrap="square" lIns="0" tIns="0" rIns="0" bIns="0" anchor="t">
            <a:spAutoFit/>
          </a:bodyPr>
          <a:lstStyle/>
          <a:p>
            <a:pPr algn="l">
              <a:spcAft>
                <a:spcPts val="600"/>
              </a:spcAft>
            </a:pPr>
            <a:r>
              <a:rPr sz="1600" b="0"/>
              <a:t>⚠️ Spara inte samma sak två gånger: posts har bara author, inte författarens namn.</a:t>
            </a:r>
          </a:p>
          <a:p>
            <a:pPr algn="l">
              <a:spcAft>
                <a:spcPts val="800"/>
              </a:spcAft>
            </a:pPr>
            <a:r>
              <a:rPr sz="1600" b="0"/>
              <a:t>⚠️ Spara inte det som kan räknas fram: antal likes räknar vi i likes-tabellen.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Steg 4 – hitta relationerna</a:t>
            </a:r>
          </a:p>
        </p:txBody>
      </p:sp>
      <p:sp>
        <p:nvSpPr>
          <p:cNvPr id="3" name="Rounded Rectangle 2"/>
          <p:cNvSpPr/>
          <p:nvPr/>
        </p:nvSpPr>
        <p:spPr>
          <a:xfrm>
            <a:off x="676656" y="1783080"/>
            <a:ext cx="3445154" cy="356616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32688" y="2039112"/>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1:N</a:t>
            </a:r>
          </a:p>
        </p:txBody>
      </p:sp>
      <p:sp>
        <p:nvSpPr>
          <p:cNvPr id="5" name="TextBox 4"/>
          <p:cNvSpPr txBox="1"/>
          <p:nvPr/>
        </p:nvSpPr>
        <p:spPr>
          <a:xfrm>
            <a:off x="932688" y="2834640"/>
            <a:ext cx="2933090" cy="548640"/>
          </a:xfrm>
          <a:prstGeom prst="rect">
            <a:avLst/>
          </a:prstGeom>
          <a:noFill/>
        </p:spPr>
        <p:txBody>
          <a:bodyPr wrap="square" lIns="0" tIns="0" rIns="0" bIns="0" anchor="t">
            <a:spAutoFit/>
          </a:bodyPr>
          <a:lstStyle/>
          <a:p>
            <a:pPr algn="l">
              <a:spcAft>
                <a:spcPts val="800"/>
              </a:spcAft>
            </a:pPr>
            <a:r>
              <a:rPr sz="1900" b="1"/>
              <a:t>En till många</a:t>
            </a:r>
          </a:p>
        </p:txBody>
      </p:sp>
      <p:sp>
        <p:nvSpPr>
          <p:cNvPr id="6" name="TextBox 5"/>
          <p:cNvSpPr txBox="1"/>
          <p:nvPr/>
        </p:nvSpPr>
        <p:spPr>
          <a:xfrm>
            <a:off x="932688" y="3429000"/>
            <a:ext cx="2933090" cy="1554479"/>
          </a:xfrm>
          <a:prstGeom prst="rect">
            <a:avLst/>
          </a:prstGeom>
          <a:noFill/>
        </p:spPr>
        <p:txBody>
          <a:bodyPr wrap="square" lIns="0" tIns="0" rIns="0" bIns="0" anchor="t">
            <a:spAutoFit/>
          </a:bodyPr>
          <a:lstStyle/>
          <a:p>
            <a:pPr algn="l">
              <a:spcAft>
                <a:spcPts val="800"/>
              </a:spcAft>
            </a:pPr>
            <a:r>
              <a:rPr sz="1600" b="0"/>
              <a:t>En användare skriver många inlägg.</a:t>
            </a:r>
          </a:p>
          <a:p>
            <a:pPr algn="l">
              <a:spcAft>
                <a:spcPts val="800"/>
              </a:spcAft>
            </a:pPr>
            <a:r>
              <a:rPr sz="1600" b="0"/>
              <a:t>Ett inlägg har en författare.</a:t>
            </a:r>
          </a:p>
          <a:p>
            <a:pPr algn="l">
              <a:spcAft>
                <a:spcPts val="800"/>
              </a:spcAft>
            </a:pPr>
            <a:r>
              <a:rPr sz="1600" b="1"/>
              <a:t>→ relationsfält på ”många”-sidan: posts.author</a:t>
            </a:r>
          </a:p>
        </p:txBody>
      </p:sp>
      <p:sp>
        <p:nvSpPr>
          <p:cNvPr id="7" name="Rounded Rectangle 6"/>
          <p:cNvSpPr/>
          <p:nvPr/>
        </p:nvSpPr>
        <p:spPr>
          <a:xfrm>
            <a:off x="4350410" y="1783080"/>
            <a:ext cx="3445154" cy="356616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606442" y="2039112"/>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N:M</a:t>
            </a:r>
          </a:p>
        </p:txBody>
      </p:sp>
      <p:sp>
        <p:nvSpPr>
          <p:cNvPr id="9" name="TextBox 8"/>
          <p:cNvSpPr txBox="1"/>
          <p:nvPr/>
        </p:nvSpPr>
        <p:spPr>
          <a:xfrm>
            <a:off x="4606442" y="2834640"/>
            <a:ext cx="2933090" cy="548640"/>
          </a:xfrm>
          <a:prstGeom prst="rect">
            <a:avLst/>
          </a:prstGeom>
          <a:noFill/>
        </p:spPr>
        <p:txBody>
          <a:bodyPr wrap="square" lIns="0" tIns="0" rIns="0" bIns="0" anchor="t">
            <a:spAutoFit/>
          </a:bodyPr>
          <a:lstStyle/>
          <a:p>
            <a:pPr algn="l">
              <a:spcAft>
                <a:spcPts val="800"/>
              </a:spcAft>
            </a:pPr>
            <a:r>
              <a:rPr sz="1900" b="1"/>
              <a:t>Många till många</a:t>
            </a:r>
          </a:p>
        </p:txBody>
      </p:sp>
      <p:sp>
        <p:nvSpPr>
          <p:cNvPr id="10" name="TextBox 9"/>
          <p:cNvSpPr txBox="1"/>
          <p:nvPr/>
        </p:nvSpPr>
        <p:spPr>
          <a:xfrm>
            <a:off x="4606442" y="3429000"/>
            <a:ext cx="2933090" cy="1554479"/>
          </a:xfrm>
          <a:prstGeom prst="rect">
            <a:avLst/>
          </a:prstGeom>
          <a:noFill/>
        </p:spPr>
        <p:txBody>
          <a:bodyPr wrap="square" lIns="0" tIns="0" rIns="0" bIns="0" anchor="t">
            <a:spAutoFit/>
          </a:bodyPr>
          <a:lstStyle/>
          <a:p>
            <a:pPr algn="l">
              <a:spcAft>
                <a:spcPts val="800"/>
              </a:spcAft>
            </a:pPr>
            <a:r>
              <a:rPr sz="1600" b="0"/>
              <a:t>En användare gillar många inlägg.</a:t>
            </a:r>
          </a:p>
          <a:p>
            <a:pPr algn="l">
              <a:spcAft>
                <a:spcPts val="800"/>
              </a:spcAft>
            </a:pPr>
            <a:r>
              <a:rPr sz="1600" b="0"/>
              <a:t>Ett inlägg gillas av många.</a:t>
            </a:r>
          </a:p>
          <a:p>
            <a:pPr algn="l">
              <a:spcAft>
                <a:spcPts val="800"/>
              </a:spcAft>
            </a:pPr>
            <a:r>
              <a:rPr sz="1600" b="1"/>
              <a:t>→ kopplingstabell: likes (post, user)</a:t>
            </a:r>
          </a:p>
        </p:txBody>
      </p:sp>
      <p:sp>
        <p:nvSpPr>
          <p:cNvPr id="11" name="Rounded Rectangle 10"/>
          <p:cNvSpPr/>
          <p:nvPr/>
        </p:nvSpPr>
        <p:spPr>
          <a:xfrm>
            <a:off x="8024164" y="1783080"/>
            <a:ext cx="3445154" cy="356616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80196" y="2039112"/>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1:1</a:t>
            </a:r>
          </a:p>
        </p:txBody>
      </p:sp>
      <p:sp>
        <p:nvSpPr>
          <p:cNvPr id="13" name="TextBox 12"/>
          <p:cNvSpPr txBox="1"/>
          <p:nvPr/>
        </p:nvSpPr>
        <p:spPr>
          <a:xfrm>
            <a:off x="8280196" y="2834640"/>
            <a:ext cx="2933090" cy="548640"/>
          </a:xfrm>
          <a:prstGeom prst="rect">
            <a:avLst/>
          </a:prstGeom>
          <a:noFill/>
        </p:spPr>
        <p:txBody>
          <a:bodyPr wrap="square" lIns="0" tIns="0" rIns="0" bIns="0" anchor="t">
            <a:spAutoFit/>
          </a:bodyPr>
          <a:lstStyle/>
          <a:p>
            <a:pPr algn="l">
              <a:spcAft>
                <a:spcPts val="800"/>
              </a:spcAft>
            </a:pPr>
            <a:r>
              <a:rPr sz="1900" b="1"/>
              <a:t>En till en</a:t>
            </a:r>
          </a:p>
        </p:txBody>
      </p:sp>
      <p:sp>
        <p:nvSpPr>
          <p:cNvPr id="14" name="TextBox 13"/>
          <p:cNvSpPr txBox="1"/>
          <p:nvPr/>
        </p:nvSpPr>
        <p:spPr>
          <a:xfrm>
            <a:off x="8280196" y="3429000"/>
            <a:ext cx="2933090" cy="1554479"/>
          </a:xfrm>
          <a:prstGeom prst="rect">
            <a:avLst/>
          </a:prstGeom>
          <a:noFill/>
        </p:spPr>
        <p:txBody>
          <a:bodyPr wrap="square" lIns="0" tIns="0" rIns="0" bIns="0" anchor="t">
            <a:spAutoFit/>
          </a:bodyPr>
          <a:lstStyle/>
          <a:p>
            <a:pPr algn="l">
              <a:spcAft>
                <a:spcPts val="800"/>
              </a:spcAft>
            </a:pPr>
            <a:r>
              <a:rPr sz="1600" b="0"/>
              <a:t>En användare har en profilbild.</a:t>
            </a:r>
          </a:p>
          <a:p>
            <a:pPr algn="l">
              <a:spcAft>
                <a:spcPts val="800"/>
              </a:spcAft>
            </a:pPr>
            <a:r>
              <a:rPr sz="1600" b="1"/>
              <a:t>→ oftast bara ett fält i samma tabell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Steg 5 – ER-diagrammet för Kvittra</a:t>
            </a:r>
          </a:p>
        </p:txBody>
      </p:sp>
      <p:graphicFrame>
        <p:nvGraphicFramePr>
          <p:cNvPr id="3" name="ER users"/>
          <p:cNvGraphicFramePr>
            <a:graphicFrameLocks noGrp="1"/>
          </p:cNvGraphicFramePr>
          <p:nvPr/>
        </p:nvGraphicFramePr>
        <p:xfrm>
          <a:off x="4727448" y="1783080"/>
          <a:ext cx="2743200" cy="2112264"/>
        </p:xfrm>
        <a:graphic>
          <a:graphicData uri="http://schemas.openxmlformats.org/drawingml/2006/table">
            <a:tbl>
              <a:tblPr firstRow="1" bandRow="1">
                <a:tableStyleId>{5C22544A-7EE6-4342-B048-85BDC9FD1C3A}</a:tableStyleId>
              </a:tblPr>
              <a:tblGrid>
                <a:gridCol w="2743200"/>
              </a:tblGrid>
              <a:tr h="301752">
                <a:tc>
                  <a:txBody>
                    <a:bodyPr/>
                    <a:lstStyle/>
                    <a:p>
                      <a:r>
                        <a:rPr sz="1300" b="1"/>
                        <a:t>users</a:t>
                      </a:r>
                    </a:p>
                  </a:txBody>
                  <a:tcPr anchor="ctr" marL="91440" marR="91440" marT="18288" marB="18288"/>
                </a:tc>
              </a:tr>
              <a:tr h="301752">
                <a:tc>
                  <a:txBody>
                    <a:bodyPr/>
                    <a:lstStyle/>
                    <a:p>
                      <a:r>
                        <a:rPr sz="1300">
                          <a:latin typeface="Courier New"/>
                        </a:rPr>
                        <a:t>id</a:t>
                      </a:r>
                    </a:p>
                  </a:txBody>
                  <a:tcPr anchor="ctr" marL="91440" marR="91440" marT="18288" marB="18288"/>
                </a:tc>
              </a:tr>
              <a:tr h="301752">
                <a:tc>
                  <a:txBody>
                    <a:bodyPr/>
                    <a:lstStyle/>
                    <a:p>
                      <a:r>
                        <a:rPr sz="1300">
                          <a:latin typeface="Courier New"/>
                        </a:rPr>
                        <a:t>username (unik)</a:t>
                      </a:r>
                    </a:p>
                  </a:txBody>
                  <a:tcPr anchor="ctr" marL="91440" marR="91440" marT="18288" marB="18288"/>
                </a:tc>
              </a:tr>
              <a:tr h="301752">
                <a:tc>
                  <a:txBody>
                    <a:bodyPr/>
                    <a:lstStyle/>
                    <a:p>
                      <a:r>
                        <a:rPr sz="1300">
                          <a:latin typeface="Courier New"/>
                        </a:rPr>
                        <a:t>name</a:t>
                      </a:r>
                    </a:p>
                  </a:txBody>
                  <a:tcPr anchor="ctr" marL="91440" marR="91440" marT="18288" marB="18288"/>
                </a:tc>
              </a:tr>
              <a:tr h="301752">
                <a:tc>
                  <a:txBody>
                    <a:bodyPr/>
                    <a:lstStyle/>
                    <a:p>
                      <a:r>
                        <a:rPr sz="1300">
                          <a:latin typeface="Courier New"/>
                        </a:rPr>
                        <a:t>email</a:t>
                      </a:r>
                    </a:p>
                  </a:txBody>
                  <a:tcPr anchor="ctr" marL="91440" marR="91440" marT="18288" marB="18288"/>
                </a:tc>
              </a:tr>
              <a:tr h="301752">
                <a:tc>
                  <a:txBody>
                    <a:bodyPr/>
                    <a:lstStyle/>
                    <a:p>
                      <a:r>
                        <a:rPr sz="1300">
                          <a:latin typeface="Courier New"/>
                        </a:rPr>
                        <a:t>bio</a:t>
                      </a:r>
                    </a:p>
                  </a:txBody>
                  <a:tcPr anchor="ctr" marL="91440" marR="91440" marT="18288" marB="18288"/>
                </a:tc>
              </a:tr>
              <a:tr h="301752">
                <a:tc>
                  <a:txBody>
                    <a:bodyPr/>
                    <a:lstStyle/>
                    <a:p>
                      <a:r>
                        <a:rPr sz="1300">
                          <a:latin typeface="Courier New"/>
                        </a:rPr>
                        <a:t>website</a:t>
                      </a:r>
                    </a:p>
                  </a:txBody>
                  <a:tcPr anchor="ctr" marL="91440" marR="91440" marT="18288" marB="18288"/>
                </a:tc>
              </a:tr>
            </a:tbl>
          </a:graphicData>
        </a:graphic>
      </p:graphicFrame>
      <p:graphicFrame>
        <p:nvGraphicFramePr>
          <p:cNvPr id="4" name="ER follows"/>
          <p:cNvGraphicFramePr>
            <a:graphicFrameLocks noGrp="1"/>
          </p:cNvGraphicFramePr>
          <p:nvPr/>
        </p:nvGraphicFramePr>
        <p:xfrm>
          <a:off x="8686800" y="1783080"/>
          <a:ext cx="2743200" cy="1508760"/>
        </p:xfrm>
        <a:graphic>
          <a:graphicData uri="http://schemas.openxmlformats.org/drawingml/2006/table">
            <a:tbl>
              <a:tblPr firstRow="1" bandRow="1">
                <a:tableStyleId>{5C22544A-7EE6-4342-B048-85BDC9FD1C3A}</a:tableStyleId>
              </a:tblPr>
              <a:tblGrid>
                <a:gridCol w="2743200"/>
              </a:tblGrid>
              <a:tr h="301752">
                <a:tc>
                  <a:txBody>
                    <a:bodyPr/>
                    <a:lstStyle/>
                    <a:p>
                      <a:r>
                        <a:rPr sz="1300" b="1"/>
                        <a:t>follows</a:t>
                      </a:r>
                    </a:p>
                  </a:txBody>
                  <a:tcPr anchor="ctr" marL="91440" marR="91440" marT="18288" marB="18288"/>
                </a:tc>
              </a:tr>
              <a:tr h="301752">
                <a:tc>
                  <a:txBody>
                    <a:bodyPr/>
                    <a:lstStyle/>
                    <a:p>
                      <a:r>
                        <a:rPr sz="1300">
                          <a:latin typeface="Courier New"/>
                        </a:rPr>
                        <a:t>id</a:t>
                      </a:r>
                    </a:p>
                  </a:txBody>
                  <a:tcPr anchor="ctr" marL="91440" marR="91440" marT="18288" marB="18288"/>
                </a:tc>
              </a:tr>
              <a:tr h="301752">
                <a:tc>
                  <a:txBody>
                    <a:bodyPr/>
                    <a:lstStyle/>
                    <a:p>
                      <a:r>
                        <a:rPr sz="1300" b="1">
                          <a:latin typeface="Courier New"/>
                        </a:rPr>
                        <a:t>follower  → users</a:t>
                      </a:r>
                    </a:p>
                  </a:txBody>
                  <a:tcPr anchor="ctr" marL="91440" marR="91440" marT="18288" marB="18288"/>
                </a:tc>
              </a:tr>
              <a:tr h="301752">
                <a:tc>
                  <a:txBody>
                    <a:bodyPr/>
                    <a:lstStyle/>
                    <a:p>
                      <a:r>
                        <a:rPr sz="1300" b="1">
                          <a:latin typeface="Courier New"/>
                        </a:rPr>
                        <a:t>following → users</a:t>
                      </a:r>
                    </a:p>
                  </a:txBody>
                  <a:tcPr anchor="ctr" marL="91440" marR="91440" marT="18288" marB="18288"/>
                </a:tc>
              </a:tr>
              <a:tr h="301752">
                <a:tc>
                  <a:txBody>
                    <a:bodyPr/>
                    <a:lstStyle/>
                    <a:p>
                      <a:r>
                        <a:rPr sz="1300">
                          <a:latin typeface="Courier New"/>
                        </a:rPr>
                        <a:t>created</a:t>
                      </a:r>
                    </a:p>
                  </a:txBody>
                  <a:tcPr anchor="ctr" marL="91440" marR="91440" marT="18288" marB="18288"/>
                </a:tc>
              </a:tr>
            </a:tbl>
          </a:graphicData>
        </a:graphic>
      </p:graphicFrame>
      <p:graphicFrame>
        <p:nvGraphicFramePr>
          <p:cNvPr id="5" name="ER posts"/>
          <p:cNvGraphicFramePr>
            <a:graphicFrameLocks noGrp="1"/>
          </p:cNvGraphicFramePr>
          <p:nvPr/>
        </p:nvGraphicFramePr>
        <p:xfrm>
          <a:off x="4727448" y="4389120"/>
          <a:ext cx="2743200" cy="1810512"/>
        </p:xfrm>
        <a:graphic>
          <a:graphicData uri="http://schemas.openxmlformats.org/drawingml/2006/table">
            <a:tbl>
              <a:tblPr firstRow="1" bandRow="1">
                <a:tableStyleId>{5C22544A-7EE6-4342-B048-85BDC9FD1C3A}</a:tableStyleId>
              </a:tblPr>
              <a:tblGrid>
                <a:gridCol w="2743200"/>
              </a:tblGrid>
              <a:tr h="301752">
                <a:tc>
                  <a:txBody>
                    <a:bodyPr/>
                    <a:lstStyle/>
                    <a:p>
                      <a:r>
                        <a:rPr sz="1300" b="1"/>
                        <a:t>posts</a:t>
                      </a:r>
                    </a:p>
                  </a:txBody>
                  <a:tcPr anchor="ctr" marL="91440" marR="91440" marT="18288" marB="18288"/>
                </a:tc>
              </a:tr>
              <a:tr h="301752">
                <a:tc>
                  <a:txBody>
                    <a:bodyPr/>
                    <a:lstStyle/>
                    <a:p>
                      <a:r>
                        <a:rPr sz="1300">
                          <a:latin typeface="Courier New"/>
                        </a:rPr>
                        <a:t>id</a:t>
                      </a:r>
                    </a:p>
                  </a:txBody>
                  <a:tcPr anchor="ctr" marL="91440" marR="91440" marT="18288" marB="18288"/>
                </a:tc>
              </a:tr>
              <a:tr h="301752">
                <a:tc>
                  <a:txBody>
                    <a:bodyPr/>
                    <a:lstStyle/>
                    <a:p>
                      <a:r>
                        <a:rPr sz="1300" b="1">
                          <a:latin typeface="Courier New"/>
                        </a:rPr>
                        <a:t>author → users</a:t>
                      </a:r>
                    </a:p>
                  </a:txBody>
                  <a:tcPr anchor="ctr" marL="91440" marR="91440" marT="18288" marB="18288"/>
                </a:tc>
              </a:tr>
              <a:tr h="301752">
                <a:tc>
                  <a:txBody>
                    <a:bodyPr/>
                    <a:lstStyle/>
                    <a:p>
                      <a:r>
                        <a:rPr sz="1300">
                          <a:latin typeface="Courier New"/>
                        </a:rPr>
                        <a:t>title</a:t>
                      </a:r>
                    </a:p>
                  </a:txBody>
                  <a:tcPr anchor="ctr" marL="91440" marR="91440" marT="18288" marB="18288"/>
                </a:tc>
              </a:tr>
              <a:tr h="301752">
                <a:tc>
                  <a:txBody>
                    <a:bodyPr/>
                    <a:lstStyle/>
                    <a:p>
                      <a:r>
                        <a:rPr sz="1300">
                          <a:latin typeface="Courier New"/>
                        </a:rPr>
                        <a:t>body</a:t>
                      </a:r>
                    </a:p>
                  </a:txBody>
                  <a:tcPr anchor="ctr" marL="91440" marR="91440" marT="18288" marB="18288"/>
                </a:tc>
              </a:tr>
              <a:tr h="301752">
                <a:tc>
                  <a:txBody>
                    <a:bodyPr/>
                    <a:lstStyle/>
                    <a:p>
                      <a:r>
                        <a:rPr sz="1300">
                          <a:latin typeface="Courier New"/>
                        </a:rPr>
                        <a:t>created</a:t>
                      </a:r>
                    </a:p>
                  </a:txBody>
                  <a:tcPr anchor="ctr" marL="91440" marR="91440" marT="18288" marB="18288"/>
                </a:tc>
              </a:tr>
            </a:tbl>
          </a:graphicData>
        </a:graphic>
      </p:graphicFrame>
      <p:graphicFrame>
        <p:nvGraphicFramePr>
          <p:cNvPr id="6" name="ER comments"/>
          <p:cNvGraphicFramePr>
            <a:graphicFrameLocks noGrp="1"/>
          </p:cNvGraphicFramePr>
          <p:nvPr/>
        </p:nvGraphicFramePr>
        <p:xfrm>
          <a:off x="768096" y="4389120"/>
          <a:ext cx="2743200" cy="1810512"/>
        </p:xfrm>
        <a:graphic>
          <a:graphicData uri="http://schemas.openxmlformats.org/drawingml/2006/table">
            <a:tbl>
              <a:tblPr firstRow="1" bandRow="1">
                <a:tableStyleId>{5C22544A-7EE6-4342-B048-85BDC9FD1C3A}</a:tableStyleId>
              </a:tblPr>
              <a:tblGrid>
                <a:gridCol w="2743200"/>
              </a:tblGrid>
              <a:tr h="301752">
                <a:tc>
                  <a:txBody>
                    <a:bodyPr/>
                    <a:lstStyle/>
                    <a:p>
                      <a:r>
                        <a:rPr sz="1300" b="1"/>
                        <a:t>comments</a:t>
                      </a:r>
                    </a:p>
                  </a:txBody>
                  <a:tcPr anchor="ctr" marL="91440" marR="91440" marT="18288" marB="18288"/>
                </a:tc>
              </a:tr>
              <a:tr h="301752">
                <a:tc>
                  <a:txBody>
                    <a:bodyPr/>
                    <a:lstStyle/>
                    <a:p>
                      <a:r>
                        <a:rPr sz="1300">
                          <a:latin typeface="Courier New"/>
                        </a:rPr>
                        <a:t>id</a:t>
                      </a:r>
                    </a:p>
                  </a:txBody>
                  <a:tcPr anchor="ctr" marL="91440" marR="91440" marT="18288" marB="18288"/>
                </a:tc>
              </a:tr>
              <a:tr h="301752">
                <a:tc>
                  <a:txBody>
                    <a:bodyPr/>
                    <a:lstStyle/>
                    <a:p>
                      <a:r>
                        <a:rPr sz="1300" b="1">
                          <a:latin typeface="Courier New"/>
                        </a:rPr>
                        <a:t>post   → posts</a:t>
                      </a:r>
                    </a:p>
                  </a:txBody>
                  <a:tcPr anchor="ctr" marL="91440" marR="91440" marT="18288" marB="18288"/>
                </a:tc>
              </a:tr>
              <a:tr h="301752">
                <a:tc>
                  <a:txBody>
                    <a:bodyPr/>
                    <a:lstStyle/>
                    <a:p>
                      <a:r>
                        <a:rPr sz="1300" b="1">
                          <a:latin typeface="Courier New"/>
                        </a:rPr>
                        <a:t>author → users</a:t>
                      </a:r>
                    </a:p>
                  </a:txBody>
                  <a:tcPr anchor="ctr" marL="91440" marR="91440" marT="18288" marB="18288"/>
                </a:tc>
              </a:tr>
              <a:tr h="301752">
                <a:tc>
                  <a:txBody>
                    <a:bodyPr/>
                    <a:lstStyle/>
                    <a:p>
                      <a:r>
                        <a:rPr sz="1300">
                          <a:latin typeface="Courier New"/>
                        </a:rPr>
                        <a:t>body</a:t>
                      </a:r>
                    </a:p>
                  </a:txBody>
                  <a:tcPr anchor="ctr" marL="91440" marR="91440" marT="18288" marB="18288"/>
                </a:tc>
              </a:tr>
              <a:tr h="301752">
                <a:tc>
                  <a:txBody>
                    <a:bodyPr/>
                    <a:lstStyle/>
                    <a:p>
                      <a:r>
                        <a:rPr sz="1300">
                          <a:latin typeface="Courier New"/>
                        </a:rPr>
                        <a:t>created</a:t>
                      </a:r>
                    </a:p>
                  </a:txBody>
                  <a:tcPr anchor="ctr" marL="91440" marR="91440" marT="18288" marB="18288"/>
                </a:tc>
              </a:tr>
            </a:tbl>
          </a:graphicData>
        </a:graphic>
      </p:graphicFrame>
      <p:graphicFrame>
        <p:nvGraphicFramePr>
          <p:cNvPr id="7" name="ER likes"/>
          <p:cNvGraphicFramePr>
            <a:graphicFrameLocks noGrp="1"/>
          </p:cNvGraphicFramePr>
          <p:nvPr/>
        </p:nvGraphicFramePr>
        <p:xfrm>
          <a:off x="8686800" y="4389120"/>
          <a:ext cx="2743200" cy="1508760"/>
        </p:xfrm>
        <a:graphic>
          <a:graphicData uri="http://schemas.openxmlformats.org/drawingml/2006/table">
            <a:tbl>
              <a:tblPr firstRow="1" bandRow="1">
                <a:tableStyleId>{5C22544A-7EE6-4342-B048-85BDC9FD1C3A}</a:tableStyleId>
              </a:tblPr>
              <a:tblGrid>
                <a:gridCol w="2743200"/>
              </a:tblGrid>
              <a:tr h="301752">
                <a:tc>
                  <a:txBody>
                    <a:bodyPr/>
                    <a:lstStyle/>
                    <a:p>
                      <a:r>
                        <a:rPr sz="1300" b="1"/>
                        <a:t>likes</a:t>
                      </a:r>
                    </a:p>
                  </a:txBody>
                  <a:tcPr anchor="ctr" marL="91440" marR="91440" marT="18288" marB="18288"/>
                </a:tc>
              </a:tr>
              <a:tr h="301752">
                <a:tc>
                  <a:txBody>
                    <a:bodyPr/>
                    <a:lstStyle/>
                    <a:p>
                      <a:r>
                        <a:rPr sz="1300">
                          <a:latin typeface="Courier New"/>
                        </a:rPr>
                        <a:t>id</a:t>
                      </a:r>
                    </a:p>
                  </a:txBody>
                  <a:tcPr anchor="ctr" marL="91440" marR="91440" marT="18288" marB="18288"/>
                </a:tc>
              </a:tr>
              <a:tr h="301752">
                <a:tc>
                  <a:txBody>
                    <a:bodyPr/>
                    <a:lstStyle/>
                    <a:p>
                      <a:r>
                        <a:rPr sz="1300" b="1">
                          <a:latin typeface="Courier New"/>
                        </a:rPr>
                        <a:t>post → posts</a:t>
                      </a:r>
                    </a:p>
                  </a:txBody>
                  <a:tcPr anchor="ctr" marL="91440" marR="91440" marT="18288" marB="18288"/>
                </a:tc>
              </a:tr>
              <a:tr h="301752">
                <a:tc>
                  <a:txBody>
                    <a:bodyPr/>
                    <a:lstStyle/>
                    <a:p>
                      <a:r>
                        <a:rPr sz="1300" b="1">
                          <a:latin typeface="Courier New"/>
                        </a:rPr>
                        <a:t>user → users</a:t>
                      </a:r>
                    </a:p>
                  </a:txBody>
                  <a:tcPr anchor="ctr" marL="91440" marR="91440" marT="18288" marB="18288"/>
                </a:tc>
              </a:tr>
              <a:tr h="301752">
                <a:tc>
                  <a:txBody>
                    <a:bodyPr/>
                    <a:lstStyle/>
                    <a:p>
                      <a:r>
                        <a:rPr sz="1300">
                          <a:latin typeface="Courier New"/>
                        </a:rPr>
                        <a:t>created</a:t>
                      </a:r>
                    </a:p>
                  </a:txBody>
                  <a:tcPr anchor="ctr" marL="91440" marR="91440" marT="18288" marB="18288"/>
                </a:tc>
              </a:tr>
            </a:tbl>
          </a:graphicData>
        </a:graphic>
      </p:graphicFrame>
      <p:cxnSp>
        <p:nvCxnSpPr>
          <p:cNvPr id="8" name="Connector 7"/>
          <p:cNvCxnSpPr/>
          <p:nvPr/>
        </p:nvCxnSpPr>
        <p:spPr>
          <a:xfrm flipV="1">
            <a:off x="6099048" y="3941063"/>
            <a:ext cx="0" cy="402337"/>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516368" y="2537460"/>
            <a:ext cx="1124712"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516368" y="2839212"/>
            <a:ext cx="1124712"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557015" y="5143500"/>
            <a:ext cx="1124713"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962656" y="3140964"/>
            <a:ext cx="1719072" cy="1202436"/>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516368" y="5143500"/>
            <a:ext cx="1124712"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7516368" y="3442716"/>
            <a:ext cx="1719072" cy="900684"/>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68096" y="1828800"/>
            <a:ext cx="3566160" cy="2194560"/>
          </a:xfrm>
          <a:prstGeom prst="rect">
            <a:avLst/>
          </a:prstGeom>
          <a:noFill/>
        </p:spPr>
        <p:txBody>
          <a:bodyPr wrap="square" lIns="0" rIns="0" tIns="0" bIns="0" anchor="ctr">
            <a:spAutoFit/>
          </a:bodyPr>
          <a:lstStyle/>
          <a:p>
            <a:pPr algn="l"/>
            <a:r>
              <a:rPr sz="1400" b="0" i="0">
                <a:solidFill>
                  <a:srgbClr val="595959"/>
                </a:solidFill>
              </a:rPr>
              <a:t>Pilen går från relationsfältet till tabellen det pekar på.</a:t>
            </a:r>
          </a:p>
          <a:p>
            <a:pPr>
              <a:spcBef>
                <a:spcPts val="1000"/>
              </a:spcBef>
            </a:pPr>
            <a:r>
              <a:rPr sz="1400">
                <a:solidFill>
                  <a:srgbClr val="595959"/>
                </a:solidFill>
              </a:rPr>
              <a:t>Många → en: många inlägg kan ha samma author.</a:t>
            </a:r>
          </a:p>
          <a:p>
            <a:pPr>
              <a:spcBef>
                <a:spcPts val="1000"/>
              </a:spcBef>
            </a:pPr>
            <a:r>
              <a:rPr sz="1400">
                <a:solidFill>
                  <a:srgbClr val="595959"/>
                </a:solidFill>
              </a:rPr>
              <a:t>likes och follows är kopplingstabeller (N:M).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Steg 6 – checklista för designen</a:t>
            </a:r>
          </a:p>
        </p:txBody>
      </p:sp>
      <p:sp>
        <p:nvSpPr>
          <p:cNvPr id="3" name="TextBox 2"/>
          <p:cNvSpPr txBox="1"/>
          <p:nvPr/>
        </p:nvSpPr>
        <p:spPr>
          <a:xfrm>
            <a:off x="768096" y="1691640"/>
            <a:ext cx="6583680" cy="4572000"/>
          </a:xfrm>
          <a:prstGeom prst="rect">
            <a:avLst/>
          </a:prstGeom>
          <a:noFill/>
        </p:spPr>
        <p:txBody>
          <a:bodyPr wrap="square" lIns="0" tIns="0" rIns="0" bIns="0">
            <a:spAutoFit/>
          </a:bodyPr>
          <a:lstStyle/>
          <a:p>
            <a:pPr marL="365760" indent="-274320">
              <a:spcAft>
                <a:spcPts val="800"/>
              </a:spcAft>
              <a:buChar char="•"/>
            </a:pPr>
            <a:r>
              <a:rPr sz="2000"/>
              <a:t>Varje tabell beskriver en sorts sak, med namn i plural (posts)</a:t>
            </a:r>
          </a:p>
          <a:p>
            <a:pPr marL="365760" indent="-274320">
              <a:spcAft>
                <a:spcPts val="800"/>
              </a:spcAft>
              <a:buChar char="•"/>
            </a:pPr>
            <a:r>
              <a:rPr sz="2000"/>
              <a:t>Ingen uppgift står på två ställen</a:t>
            </a:r>
          </a:p>
          <a:p>
            <a:pPr marL="365760" indent="-274320">
              <a:spcAft>
                <a:spcPts val="800"/>
              </a:spcAft>
              <a:buChar char="•"/>
            </a:pPr>
            <a:r>
              <a:rPr sz="2000"/>
              <a:t>Inget fält innehåller en lista (”bertil, cissi”)</a:t>
            </a:r>
          </a:p>
          <a:p>
            <a:pPr marL="365760" indent="-274320">
              <a:spcAft>
                <a:spcPts val="800"/>
              </a:spcAft>
              <a:buChar char="•"/>
            </a:pPr>
            <a:r>
              <a:rPr sz="2000"/>
              <a:t>Inget sparas som kan räknas fram (antal likes)</a:t>
            </a:r>
          </a:p>
          <a:p>
            <a:pPr marL="365760" indent="-274320">
              <a:spcAft>
                <a:spcPts val="800"/>
              </a:spcAft>
              <a:buChar char="•"/>
            </a:pPr>
            <a:r>
              <a:rPr sz="2000"/>
              <a:t>Varje N:M-relation har en kopplingstabell</a:t>
            </a:r>
          </a:p>
          <a:p>
            <a:pPr marL="365760" indent="-274320">
              <a:spcAft>
                <a:spcPts val="800"/>
              </a:spcAft>
              <a:buChar char="•"/>
            </a:pPr>
            <a:r>
              <a:rPr sz="2000"/>
              <a:t>Du vet vilka fält som måste fyllas i och vilka som måste vara unika</a:t>
            </a:r>
          </a:p>
          <a:p>
            <a:pPr marL="365760" indent="-274320">
              <a:spcAft>
                <a:spcPts val="800"/>
              </a:spcAft>
              <a:buChar char="•"/>
            </a:pPr>
            <a:r>
              <a:rPr sz="2000"/>
              <a:t>Fältnamn på engelska, små bokstäver: created_at</a:t>
            </a:r>
          </a:p>
        </p:txBody>
      </p:sp>
      <p:sp>
        <p:nvSpPr>
          <p:cNvPr id="4" name="Rounded Rectangle 3"/>
          <p:cNvSpPr/>
          <p:nvPr/>
        </p:nvSpPr>
        <p:spPr>
          <a:xfrm>
            <a:off x="7863840" y="1737360"/>
            <a:ext cx="3834079" cy="292608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38160" y="2011680"/>
            <a:ext cx="3285439" cy="2560320"/>
          </a:xfrm>
          <a:prstGeom prst="rect">
            <a:avLst/>
          </a:prstGeom>
          <a:noFill/>
        </p:spPr>
        <p:txBody>
          <a:bodyPr wrap="square" lIns="0" tIns="0" rIns="0" bIns="0" anchor="t">
            <a:spAutoFit/>
          </a:bodyPr>
          <a:lstStyle/>
          <a:p>
            <a:pPr algn="l">
              <a:spcAft>
                <a:spcPts val="1000"/>
              </a:spcAft>
            </a:pPr>
            <a:r>
              <a:rPr sz="1900" b="1"/>
              <a:t>Dålig design</a:t>
            </a:r>
          </a:p>
          <a:p>
            <a:pPr algn="l">
              <a:spcAft>
                <a:spcPts val="800"/>
              </a:spcAft>
            </a:pPr>
            <a:r>
              <a:rPr sz="1600" b="0"/>
              <a:t>posts: title, author_name, author_email, liked_by, like_count</a:t>
            </a:r>
          </a:p>
          <a:p>
            <a:pPr algn="l">
              <a:spcAft>
                <a:spcPts val="800"/>
              </a:spcAft>
            </a:pPr>
            <a:r>
              <a:rPr sz="1600" b="0"/>
              <a:t>Alla fem problem i listan finns här!</a:t>
            </a:r>
          </a:p>
          <a:p>
            <a:pPr algn="l">
              <a:spcAft>
                <a:spcPts val="800"/>
              </a:spcAft>
            </a:pPr>
            <a:r>
              <a:rPr sz="1600" b="0"/>
              <a:t>Att dela upp data så att inget upprepas kallas normalisering.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err="1"/>
              <a:t>Övning</a:t>
            </a:r>
            <a:r>
              <a:rPr dirty="0"/>
              <a:t>: </a:t>
            </a:r>
            <a:r>
              <a:rPr err="1"/>
              <a:t>designa</a:t>
            </a:r>
            <a:r>
              <a:rPr dirty="0"/>
              <a:t> ert </a:t>
            </a:r>
            <a:r>
              <a:rPr lang="sv-SE"/>
              <a:t>förstudie</a:t>
            </a:r>
            <a:r>
              <a:t>projekt</a:t>
            </a:r>
            <a:endParaRPr lang="sv-SE"/>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653142"/>
          </a:xfrm>
          <a:prstGeom prst="rect">
            <a:avLst/>
          </a:prstGeom>
          <a:noFill/>
        </p:spPr>
        <p:txBody>
          <a:bodyPr wrap="square" lIns="0" tIns="0" rIns="0" bIns="0" anchor="t">
            <a:spAutoFit/>
          </a:bodyPr>
          <a:lstStyle/>
          <a:p>
            <a:pPr algn="l">
              <a:spcAft>
                <a:spcPts val="800"/>
              </a:spcAft>
            </a:pPr>
            <a:r>
              <a:rPr sz="1700" b="1">
                <a:solidFill>
                  <a:srgbClr val="8A5A00"/>
                </a:solidFill>
              </a:rPr>
              <a:t>Steg 1</a:t>
            </a:r>
          </a:p>
        </p:txBody>
      </p:sp>
      <p:sp>
        <p:nvSpPr>
          <p:cNvPr id="5" name="TextBox 4"/>
          <p:cNvSpPr txBox="1"/>
          <p:nvPr/>
        </p:nvSpPr>
        <p:spPr>
          <a:xfrm>
            <a:off x="1636776" y="1691640"/>
            <a:ext cx="9786823" cy="653142"/>
          </a:xfrm>
          <a:prstGeom prst="rect">
            <a:avLst/>
          </a:prstGeom>
          <a:noFill/>
        </p:spPr>
        <p:txBody>
          <a:bodyPr wrap="square" lIns="0" tIns="0" rIns="0" bIns="0" anchor="t">
            <a:spAutoFit/>
          </a:bodyPr>
          <a:lstStyle/>
          <a:p>
            <a:pPr algn="l">
              <a:spcAft>
                <a:spcPts val="800"/>
              </a:spcAft>
            </a:pPr>
            <a:r>
              <a:rPr sz="1700" b="0"/>
              <a:t>Beskriv idén i 3–5 meningar, utifrån er förstudie.</a:t>
            </a:r>
          </a:p>
        </p:txBody>
      </p:sp>
      <p:sp>
        <p:nvSpPr>
          <p:cNvPr id="6" name="TextBox 5"/>
          <p:cNvSpPr txBox="1"/>
          <p:nvPr/>
        </p:nvSpPr>
        <p:spPr>
          <a:xfrm>
            <a:off x="768096" y="2344782"/>
            <a:ext cx="822960" cy="653142"/>
          </a:xfrm>
          <a:prstGeom prst="rect">
            <a:avLst/>
          </a:prstGeom>
          <a:noFill/>
        </p:spPr>
        <p:txBody>
          <a:bodyPr wrap="square" lIns="0" tIns="0" rIns="0" bIns="0" anchor="t">
            <a:spAutoFit/>
          </a:bodyPr>
          <a:lstStyle/>
          <a:p>
            <a:pPr algn="l">
              <a:spcAft>
                <a:spcPts val="800"/>
              </a:spcAft>
            </a:pPr>
            <a:r>
              <a:rPr sz="1700" b="1">
                <a:solidFill>
                  <a:srgbClr val="8A5A00"/>
                </a:solidFill>
              </a:rPr>
              <a:t>Steg 2</a:t>
            </a:r>
          </a:p>
        </p:txBody>
      </p:sp>
      <p:sp>
        <p:nvSpPr>
          <p:cNvPr id="7" name="TextBox 6"/>
          <p:cNvSpPr txBox="1"/>
          <p:nvPr/>
        </p:nvSpPr>
        <p:spPr>
          <a:xfrm>
            <a:off x="1636776" y="2344782"/>
            <a:ext cx="9786823" cy="653142"/>
          </a:xfrm>
          <a:prstGeom prst="rect">
            <a:avLst/>
          </a:prstGeom>
          <a:noFill/>
        </p:spPr>
        <p:txBody>
          <a:bodyPr wrap="square" lIns="0" tIns="0" rIns="0" bIns="0" anchor="t">
            <a:spAutoFit/>
          </a:bodyPr>
          <a:lstStyle/>
          <a:p>
            <a:pPr algn="l">
              <a:spcAft>
                <a:spcPts val="800"/>
              </a:spcAft>
            </a:pPr>
            <a:r>
              <a:rPr sz="1700" b="0"/>
              <a:t>Stryk under substantiven. Vilka blir tabeller?</a:t>
            </a:r>
          </a:p>
        </p:txBody>
      </p:sp>
      <p:sp>
        <p:nvSpPr>
          <p:cNvPr id="8" name="TextBox 7"/>
          <p:cNvSpPr txBox="1"/>
          <p:nvPr/>
        </p:nvSpPr>
        <p:spPr>
          <a:xfrm>
            <a:off x="768096" y="2997925"/>
            <a:ext cx="822960" cy="653142"/>
          </a:xfrm>
          <a:prstGeom prst="rect">
            <a:avLst/>
          </a:prstGeom>
          <a:noFill/>
        </p:spPr>
        <p:txBody>
          <a:bodyPr wrap="square" lIns="0" tIns="0" rIns="0" bIns="0" anchor="t">
            <a:spAutoFit/>
          </a:bodyPr>
          <a:lstStyle/>
          <a:p>
            <a:pPr algn="l">
              <a:spcAft>
                <a:spcPts val="800"/>
              </a:spcAft>
            </a:pPr>
            <a:r>
              <a:rPr sz="1700" b="1">
                <a:solidFill>
                  <a:srgbClr val="8A5A00"/>
                </a:solidFill>
              </a:rPr>
              <a:t>Steg 3</a:t>
            </a:r>
          </a:p>
        </p:txBody>
      </p:sp>
      <p:sp>
        <p:nvSpPr>
          <p:cNvPr id="9" name="TextBox 8"/>
          <p:cNvSpPr txBox="1"/>
          <p:nvPr/>
        </p:nvSpPr>
        <p:spPr>
          <a:xfrm>
            <a:off x="1636776" y="2997925"/>
            <a:ext cx="9786823" cy="653142"/>
          </a:xfrm>
          <a:prstGeom prst="rect">
            <a:avLst/>
          </a:prstGeom>
          <a:noFill/>
        </p:spPr>
        <p:txBody>
          <a:bodyPr wrap="square" lIns="0" tIns="0" rIns="0" bIns="0" anchor="t">
            <a:spAutoFit/>
          </a:bodyPr>
          <a:lstStyle/>
          <a:p>
            <a:pPr algn="l">
              <a:spcAft>
                <a:spcPts val="800"/>
              </a:spcAft>
            </a:pPr>
            <a:r>
              <a:rPr sz="1700" b="0"/>
              <a:t>Gör en fälttabell per tabell: fält, typ, måste fyllas i, unikt.</a:t>
            </a:r>
          </a:p>
        </p:txBody>
      </p:sp>
      <p:sp>
        <p:nvSpPr>
          <p:cNvPr id="10" name="TextBox 9"/>
          <p:cNvSpPr txBox="1"/>
          <p:nvPr/>
        </p:nvSpPr>
        <p:spPr>
          <a:xfrm>
            <a:off x="768096" y="3651068"/>
            <a:ext cx="822960" cy="653142"/>
          </a:xfrm>
          <a:prstGeom prst="rect">
            <a:avLst/>
          </a:prstGeom>
          <a:noFill/>
        </p:spPr>
        <p:txBody>
          <a:bodyPr wrap="square" lIns="0" tIns="0" rIns="0" bIns="0" anchor="t">
            <a:spAutoFit/>
          </a:bodyPr>
          <a:lstStyle/>
          <a:p>
            <a:pPr algn="l">
              <a:spcAft>
                <a:spcPts val="800"/>
              </a:spcAft>
            </a:pPr>
            <a:r>
              <a:rPr sz="1700" b="1">
                <a:solidFill>
                  <a:srgbClr val="8A5A00"/>
                </a:solidFill>
              </a:rPr>
              <a:t>Steg 4</a:t>
            </a:r>
          </a:p>
        </p:txBody>
      </p:sp>
      <p:sp>
        <p:nvSpPr>
          <p:cNvPr id="11" name="TextBox 10"/>
          <p:cNvSpPr txBox="1"/>
          <p:nvPr/>
        </p:nvSpPr>
        <p:spPr>
          <a:xfrm>
            <a:off x="1636776" y="3651068"/>
            <a:ext cx="9786823" cy="653142"/>
          </a:xfrm>
          <a:prstGeom prst="rect">
            <a:avLst/>
          </a:prstGeom>
          <a:noFill/>
        </p:spPr>
        <p:txBody>
          <a:bodyPr wrap="square" lIns="0" tIns="0" rIns="0" bIns="0" anchor="t">
            <a:spAutoFit/>
          </a:bodyPr>
          <a:lstStyle/>
          <a:p>
            <a:pPr algn="l">
              <a:spcAft>
                <a:spcPts val="800"/>
              </a:spcAft>
            </a:pPr>
            <a:r>
              <a:rPr sz="1700" b="0"/>
              <a:t>Skriv relationerna som två meningar. 1:N eller N:M?</a:t>
            </a:r>
          </a:p>
        </p:txBody>
      </p:sp>
      <p:sp>
        <p:nvSpPr>
          <p:cNvPr id="12" name="TextBox 11"/>
          <p:cNvSpPr txBox="1"/>
          <p:nvPr/>
        </p:nvSpPr>
        <p:spPr>
          <a:xfrm>
            <a:off x="768096" y="4304211"/>
            <a:ext cx="822960" cy="653142"/>
          </a:xfrm>
          <a:prstGeom prst="rect">
            <a:avLst/>
          </a:prstGeom>
          <a:noFill/>
        </p:spPr>
        <p:txBody>
          <a:bodyPr wrap="square" lIns="0" tIns="0" rIns="0" bIns="0" anchor="t">
            <a:spAutoFit/>
          </a:bodyPr>
          <a:lstStyle/>
          <a:p>
            <a:pPr algn="l">
              <a:spcAft>
                <a:spcPts val="800"/>
              </a:spcAft>
            </a:pPr>
            <a:r>
              <a:rPr sz="1700" b="1">
                <a:solidFill>
                  <a:srgbClr val="8A5A00"/>
                </a:solidFill>
              </a:rPr>
              <a:t>Steg 5</a:t>
            </a:r>
          </a:p>
        </p:txBody>
      </p:sp>
      <p:sp>
        <p:nvSpPr>
          <p:cNvPr id="13" name="TextBox 12"/>
          <p:cNvSpPr txBox="1"/>
          <p:nvPr/>
        </p:nvSpPr>
        <p:spPr>
          <a:xfrm>
            <a:off x="1636776" y="4304211"/>
            <a:ext cx="9786823" cy="653142"/>
          </a:xfrm>
          <a:prstGeom prst="rect">
            <a:avLst/>
          </a:prstGeom>
          <a:noFill/>
        </p:spPr>
        <p:txBody>
          <a:bodyPr wrap="square" lIns="0" tIns="0" rIns="0" bIns="0" anchor="t">
            <a:spAutoFit/>
          </a:bodyPr>
          <a:lstStyle/>
          <a:p>
            <a:pPr algn="l">
              <a:spcAft>
                <a:spcPts val="800"/>
              </a:spcAft>
            </a:pPr>
            <a:r>
              <a:rPr sz="1700" b="0"/>
              <a:t>Rita ER-diagrammet (papper, draw.io eller dbdiagram.io).</a:t>
            </a:r>
          </a:p>
        </p:txBody>
      </p:sp>
      <p:sp>
        <p:nvSpPr>
          <p:cNvPr id="14" name="TextBox 13"/>
          <p:cNvSpPr txBox="1"/>
          <p:nvPr/>
        </p:nvSpPr>
        <p:spPr>
          <a:xfrm>
            <a:off x="768096" y="4957354"/>
            <a:ext cx="822960" cy="653142"/>
          </a:xfrm>
          <a:prstGeom prst="rect">
            <a:avLst/>
          </a:prstGeom>
          <a:noFill/>
        </p:spPr>
        <p:txBody>
          <a:bodyPr wrap="square" lIns="0" tIns="0" rIns="0" bIns="0" anchor="t">
            <a:spAutoFit/>
          </a:bodyPr>
          <a:lstStyle/>
          <a:p>
            <a:pPr algn="l">
              <a:spcAft>
                <a:spcPts val="800"/>
              </a:spcAft>
            </a:pPr>
            <a:r>
              <a:rPr sz="1700" b="1">
                <a:solidFill>
                  <a:srgbClr val="8A5A00"/>
                </a:solidFill>
              </a:rPr>
              <a:t>Steg 6</a:t>
            </a:r>
          </a:p>
        </p:txBody>
      </p:sp>
      <p:sp>
        <p:nvSpPr>
          <p:cNvPr id="15" name="TextBox 14"/>
          <p:cNvSpPr txBox="1"/>
          <p:nvPr/>
        </p:nvSpPr>
        <p:spPr>
          <a:xfrm>
            <a:off x="1636776" y="4957354"/>
            <a:ext cx="9786823" cy="653142"/>
          </a:xfrm>
          <a:prstGeom prst="rect">
            <a:avLst/>
          </a:prstGeom>
          <a:noFill/>
        </p:spPr>
        <p:txBody>
          <a:bodyPr wrap="square" lIns="0" tIns="0" rIns="0" bIns="0" anchor="t">
            <a:spAutoFit/>
          </a:bodyPr>
          <a:lstStyle/>
          <a:p>
            <a:pPr algn="l">
              <a:spcAft>
                <a:spcPts val="800"/>
              </a:spcAft>
            </a:pPr>
            <a:r>
              <a:rPr sz="1700" b="0"/>
              <a:t>Gå igenom checklistan.</a:t>
            </a:r>
          </a:p>
        </p:txBody>
      </p:sp>
      <p:sp>
        <p:nvSpPr>
          <p:cNvPr id="16" name="TextBox 15"/>
          <p:cNvSpPr txBox="1"/>
          <p:nvPr/>
        </p:nvSpPr>
        <p:spPr>
          <a:xfrm>
            <a:off x="768096" y="5610497"/>
            <a:ext cx="822960" cy="653142"/>
          </a:xfrm>
          <a:prstGeom prst="rect">
            <a:avLst/>
          </a:prstGeom>
          <a:noFill/>
        </p:spPr>
        <p:txBody>
          <a:bodyPr wrap="square" lIns="0" tIns="0" rIns="0" bIns="0" anchor="t">
            <a:spAutoFit/>
          </a:bodyPr>
          <a:lstStyle/>
          <a:p>
            <a:pPr algn="l">
              <a:spcAft>
                <a:spcPts val="800"/>
              </a:spcAft>
            </a:pPr>
            <a:r>
              <a:rPr sz="1700" b="1">
                <a:solidFill>
                  <a:srgbClr val="8A5A00"/>
                </a:solidFill>
              </a:rPr>
              <a:t>Steg 7</a:t>
            </a:r>
          </a:p>
        </p:txBody>
      </p:sp>
      <p:sp>
        <p:nvSpPr>
          <p:cNvPr id="17" name="TextBox 16"/>
          <p:cNvSpPr txBox="1"/>
          <p:nvPr/>
        </p:nvSpPr>
        <p:spPr>
          <a:xfrm>
            <a:off x="1636776" y="5610497"/>
            <a:ext cx="9786823" cy="653142"/>
          </a:xfrm>
          <a:prstGeom prst="rect">
            <a:avLst/>
          </a:prstGeom>
          <a:noFill/>
        </p:spPr>
        <p:txBody>
          <a:bodyPr wrap="square" lIns="0" tIns="0" rIns="0" bIns="0" anchor="t">
            <a:spAutoFit/>
          </a:bodyPr>
          <a:lstStyle/>
          <a:p>
            <a:pPr algn="l">
              <a:spcAft>
                <a:spcPts val="800"/>
              </a:spcAft>
            </a:pPr>
            <a:r>
              <a:rPr sz="1700" b="0"/>
              <a:t>Byt design med en annan grupp och granska varandras.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Bygg Kvittra i PocketBase</a:t>
            </a:r>
          </a:p>
        </p:txBody>
      </p:sp>
      <p:graphicFrame>
        <p:nvGraphicFramePr>
          <p:cNvPr id="3" name="Table 2"/>
          <p:cNvGraphicFramePr>
            <a:graphicFrameLocks noGrp="1"/>
          </p:cNvGraphicFramePr>
          <p:nvPr/>
        </p:nvGraphicFramePr>
        <p:xfrm>
          <a:off x="768096" y="1691640"/>
          <a:ext cx="5120640" cy="201168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502920">
                <a:tc>
                  <a:txBody>
                    <a:bodyPr/>
                    <a:lstStyle/>
                    <a:p>
                      <a:r>
                        <a:rPr sz="1700" b="1"/>
                        <a:t>Databasord</a:t>
                      </a:r>
                    </a:p>
                  </a:txBody>
                  <a:tcPr marT="36576" marB="36576" anchor="ctr"/>
                </a:tc>
                <a:tc>
                  <a:txBody>
                    <a:bodyPr/>
                    <a:lstStyle/>
                    <a:p>
                      <a:r>
                        <a:rPr sz="1700" b="1"/>
                        <a:t>PocketBase-ord</a:t>
                      </a:r>
                    </a:p>
                  </a:txBody>
                  <a:tcPr marT="36576" marB="36576" anchor="ctr"/>
                </a:tc>
                <a:extLst>
                  <a:ext uri="{0D108BD9-81ED-4DB2-BD59-A6C34878D82A}">
                    <a16:rowId xmlns:a16="http://schemas.microsoft.com/office/drawing/2014/main" val="10000"/>
                  </a:ext>
                </a:extLst>
              </a:tr>
              <a:tr h="502920">
                <a:tc>
                  <a:txBody>
                    <a:bodyPr/>
                    <a:lstStyle/>
                    <a:p>
                      <a:r>
                        <a:rPr sz="1700"/>
                        <a:t>tabell</a:t>
                      </a:r>
                    </a:p>
                  </a:txBody>
                  <a:tcPr marT="36576" marB="36576" anchor="ctr"/>
                </a:tc>
                <a:tc>
                  <a:txBody>
                    <a:bodyPr/>
                    <a:lstStyle/>
                    <a:p>
                      <a:r>
                        <a:rPr sz="1700"/>
                        <a:t>collection</a:t>
                      </a:r>
                    </a:p>
                  </a:txBody>
                  <a:tcPr marT="36576" marB="36576" anchor="ctr"/>
                </a:tc>
                <a:extLst>
                  <a:ext uri="{0D108BD9-81ED-4DB2-BD59-A6C34878D82A}">
                    <a16:rowId xmlns:a16="http://schemas.microsoft.com/office/drawing/2014/main" val="10001"/>
                  </a:ext>
                </a:extLst>
              </a:tr>
              <a:tr h="502920">
                <a:tc>
                  <a:txBody>
                    <a:bodyPr/>
                    <a:lstStyle/>
                    <a:p>
                      <a:r>
                        <a:rPr sz="1700"/>
                        <a:t>rad</a:t>
                      </a:r>
                    </a:p>
                  </a:txBody>
                  <a:tcPr marT="36576" marB="36576" anchor="ctr"/>
                </a:tc>
                <a:tc>
                  <a:txBody>
                    <a:bodyPr/>
                    <a:lstStyle/>
                    <a:p>
                      <a:r>
                        <a:rPr sz="1700"/>
                        <a:t>record</a:t>
                      </a:r>
                    </a:p>
                  </a:txBody>
                  <a:tcPr marT="36576" marB="36576" anchor="ctr"/>
                </a:tc>
                <a:extLst>
                  <a:ext uri="{0D108BD9-81ED-4DB2-BD59-A6C34878D82A}">
                    <a16:rowId xmlns:a16="http://schemas.microsoft.com/office/drawing/2014/main" val="10002"/>
                  </a:ext>
                </a:extLst>
              </a:tr>
              <a:tr h="502920">
                <a:tc>
                  <a:txBody>
                    <a:bodyPr/>
                    <a:lstStyle/>
                    <a:p>
                      <a:r>
                        <a:rPr sz="1700"/>
                        <a:t>kolumn</a:t>
                      </a:r>
                    </a:p>
                  </a:txBody>
                  <a:tcPr marT="36576" marB="36576" anchor="ctr"/>
                </a:tc>
                <a:tc>
                  <a:txBody>
                    <a:bodyPr/>
                    <a:lstStyle/>
                    <a:p>
                      <a:r>
                        <a:rPr sz="1700"/>
                        <a:t>field</a:t>
                      </a:r>
                    </a:p>
                  </a:txBody>
                  <a:tcPr marT="36576" marB="36576" anchor="ct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nvGraphicFramePr>
        <p:xfrm>
          <a:off x="6400800" y="1691640"/>
          <a:ext cx="5029200" cy="20116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502920">
                <a:tc>
                  <a:txBody>
                    <a:bodyPr/>
                    <a:lstStyle/>
                    <a:p>
                      <a:r>
                        <a:rPr sz="1700" b="1"/>
                        <a:t>Collection-typ</a:t>
                      </a:r>
                    </a:p>
                  </a:txBody>
                  <a:tcPr marT="36576" marB="36576" anchor="ctr"/>
                </a:tc>
                <a:tc>
                  <a:txBody>
                    <a:bodyPr/>
                    <a:lstStyle/>
                    <a:p>
                      <a:r>
                        <a:rPr sz="1700" b="1"/>
                        <a:t>Används till</a:t>
                      </a:r>
                    </a:p>
                  </a:txBody>
                  <a:tcPr marT="36576" marB="36576" anchor="ctr"/>
                </a:tc>
                <a:extLst>
                  <a:ext uri="{0D108BD9-81ED-4DB2-BD59-A6C34878D82A}">
                    <a16:rowId xmlns:a16="http://schemas.microsoft.com/office/drawing/2014/main" val="10000"/>
                  </a:ext>
                </a:extLst>
              </a:tr>
              <a:tr h="502920">
                <a:tc>
                  <a:txBody>
                    <a:bodyPr/>
                    <a:lstStyle/>
                    <a:p>
                      <a:r>
                        <a:rPr sz="1700"/>
                        <a:t>Base</a:t>
                      </a:r>
                    </a:p>
                  </a:txBody>
                  <a:tcPr marT="36576" marB="36576" anchor="ctr"/>
                </a:tc>
                <a:tc>
                  <a:txBody>
                    <a:bodyPr/>
                    <a:lstStyle/>
                    <a:p>
                      <a:r>
                        <a:rPr sz="1700"/>
                        <a:t>Vanliga tabeller (posts)</a:t>
                      </a:r>
                    </a:p>
                  </a:txBody>
                  <a:tcPr marT="36576" marB="36576" anchor="ctr"/>
                </a:tc>
                <a:extLst>
                  <a:ext uri="{0D108BD9-81ED-4DB2-BD59-A6C34878D82A}">
                    <a16:rowId xmlns:a16="http://schemas.microsoft.com/office/drawing/2014/main" val="10001"/>
                  </a:ext>
                </a:extLst>
              </a:tr>
              <a:tr h="502920">
                <a:tc>
                  <a:txBody>
                    <a:bodyPr/>
                    <a:lstStyle/>
                    <a:p>
                      <a:r>
                        <a:rPr sz="1700"/>
                        <a:t>Auth</a:t>
                      </a:r>
                    </a:p>
                  </a:txBody>
                  <a:tcPr marT="36576" marB="36576" anchor="ctr"/>
                </a:tc>
                <a:tc>
                  <a:txBody>
                    <a:bodyPr/>
                    <a:lstStyle/>
                    <a:p>
                      <a:r>
                        <a:rPr sz="1700"/>
                        <a:t>Användare som loggar in (users)</a:t>
                      </a:r>
                    </a:p>
                  </a:txBody>
                  <a:tcPr marT="36576" marB="36576" anchor="ctr"/>
                </a:tc>
                <a:extLst>
                  <a:ext uri="{0D108BD9-81ED-4DB2-BD59-A6C34878D82A}">
                    <a16:rowId xmlns:a16="http://schemas.microsoft.com/office/drawing/2014/main" val="10002"/>
                  </a:ext>
                </a:extLst>
              </a:tr>
              <a:tr h="502920">
                <a:tc>
                  <a:txBody>
                    <a:bodyPr/>
                    <a:lstStyle/>
                    <a:p>
                      <a:r>
                        <a:rPr sz="1700"/>
                        <a:t>View</a:t>
                      </a:r>
                    </a:p>
                  </a:txBody>
                  <a:tcPr marT="36576" marB="36576" anchor="ctr"/>
                </a:tc>
                <a:tc>
                  <a:txBody>
                    <a:bodyPr/>
                    <a:lstStyle/>
                    <a:p>
                      <a:r>
                        <a:rPr sz="1700"/>
                        <a:t>En sparad SQL-fråga (kapitel 7)</a:t>
                      </a:r>
                    </a:p>
                  </a:txBody>
                  <a:tcPr marT="36576" marB="36576" anchor="ctr"/>
                </a:tc>
                <a:extLst>
                  <a:ext uri="{0D108BD9-81ED-4DB2-BD59-A6C34878D82A}">
                    <a16:rowId xmlns:a16="http://schemas.microsoft.com/office/drawing/2014/main" val="10003"/>
                  </a:ext>
                </a:extLst>
              </a:tr>
            </a:tbl>
          </a:graphicData>
        </a:graphic>
      </p:graphicFrame>
      <p:sp>
        <p:nvSpPr>
          <p:cNvPr id="5" name="TextBox 4"/>
          <p:cNvSpPr txBox="1"/>
          <p:nvPr/>
        </p:nvSpPr>
        <p:spPr>
          <a:xfrm>
            <a:off x="768096" y="4023360"/>
            <a:ext cx="10655503" cy="1828800"/>
          </a:xfrm>
          <a:prstGeom prst="rect">
            <a:avLst/>
          </a:prstGeom>
          <a:noFill/>
        </p:spPr>
        <p:txBody>
          <a:bodyPr wrap="square" lIns="0" tIns="0" rIns="0" bIns="0" anchor="t">
            <a:spAutoFit/>
          </a:bodyPr>
          <a:lstStyle/>
          <a:p>
            <a:pPr algn="l">
              <a:spcAft>
                <a:spcPts val="800"/>
              </a:spcAft>
            </a:pPr>
            <a:r>
              <a:rPr sz="1800" b="1"/>
              <a:t>Ordningen spelar roll – en relation kan bara peka på något som redan finns:</a:t>
            </a:r>
          </a:p>
          <a:p>
            <a:pPr algn="l">
              <a:spcAft>
                <a:spcPts val="800"/>
              </a:spcAft>
            </a:pPr>
            <a:r>
              <a:rPr sz="2000" b="0">
                <a:latin typeface="Courier New"/>
              </a:rPr>
              <a:t>users  →  posts  →  comments  →  likes  →  follows</a:t>
            </a:r>
          </a:p>
          <a:p>
            <a:pPr algn="l">
              <a:spcAft>
                <a:spcPts val="800"/>
              </a:spcAft>
            </a:pPr>
            <a:r>
              <a:rPr sz="1600" b="0">
                <a:solidFill>
                  <a:srgbClr val="595959"/>
                </a:solidFill>
              </a:rPr>
              <a:t>id, created och updated skapas automatiskt i varje collection.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Skapa posts</a:t>
            </a:r>
          </a:p>
        </p:txBody>
      </p:sp>
      <p:sp>
        <p:nvSpPr>
          <p:cNvPr id="3" name="Oval 2"/>
          <p:cNvSpPr/>
          <p:nvPr/>
        </p:nvSpPr>
        <p:spPr>
          <a:xfrm>
            <a:off x="813816" y="17373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1</a:t>
            </a:r>
          </a:p>
        </p:txBody>
      </p:sp>
      <p:sp>
        <p:nvSpPr>
          <p:cNvPr id="4" name="TextBox 3"/>
          <p:cNvSpPr txBox="1"/>
          <p:nvPr/>
        </p:nvSpPr>
        <p:spPr>
          <a:xfrm>
            <a:off x="1591056" y="1719072"/>
            <a:ext cx="5394960" cy="914400"/>
          </a:xfrm>
          <a:prstGeom prst="rect">
            <a:avLst/>
          </a:prstGeom>
          <a:noFill/>
        </p:spPr>
        <p:txBody>
          <a:bodyPr wrap="square" lIns="0" tIns="0" rIns="0" bIns="0" anchor="t">
            <a:spAutoFit/>
          </a:bodyPr>
          <a:lstStyle/>
          <a:p>
            <a:pPr algn="l">
              <a:spcAft>
                <a:spcPts val="200"/>
              </a:spcAft>
            </a:pPr>
            <a:r>
              <a:rPr sz="1900" b="1"/>
              <a:t>+ New collection</a:t>
            </a:r>
          </a:p>
          <a:p>
            <a:pPr algn="l">
              <a:spcAft>
                <a:spcPts val="800"/>
              </a:spcAft>
            </a:pPr>
            <a:r>
              <a:rPr sz="1500" b="0">
                <a:solidFill>
                  <a:srgbClr val="595959"/>
                </a:solidFill>
              </a:rPr>
              <a:t>Typ Base, namn posts</a:t>
            </a:r>
          </a:p>
        </p:txBody>
      </p:sp>
      <p:sp>
        <p:nvSpPr>
          <p:cNvPr id="5" name="Oval 4"/>
          <p:cNvSpPr/>
          <p:nvPr/>
        </p:nvSpPr>
        <p:spPr>
          <a:xfrm>
            <a:off x="813816" y="26517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2</a:t>
            </a:r>
          </a:p>
        </p:txBody>
      </p:sp>
      <p:sp>
        <p:nvSpPr>
          <p:cNvPr id="6" name="TextBox 5"/>
          <p:cNvSpPr txBox="1"/>
          <p:nvPr/>
        </p:nvSpPr>
        <p:spPr>
          <a:xfrm>
            <a:off x="1591056" y="2633472"/>
            <a:ext cx="5394960" cy="914400"/>
          </a:xfrm>
          <a:prstGeom prst="rect">
            <a:avLst/>
          </a:prstGeom>
          <a:noFill/>
        </p:spPr>
        <p:txBody>
          <a:bodyPr wrap="square" lIns="0" tIns="0" rIns="0" bIns="0" anchor="t">
            <a:spAutoFit/>
          </a:bodyPr>
          <a:lstStyle/>
          <a:p>
            <a:pPr algn="l">
              <a:spcAft>
                <a:spcPts val="200"/>
              </a:spcAft>
            </a:pPr>
            <a:r>
              <a:rPr sz="1900" b="1"/>
              <a:t>+ New field → Relation</a:t>
            </a:r>
          </a:p>
          <a:p>
            <a:pPr algn="l">
              <a:spcAft>
                <a:spcPts val="800"/>
              </a:spcAft>
            </a:pPr>
            <a:r>
              <a:rPr sz="1500" b="0">
                <a:solidFill>
                  <a:srgbClr val="595959"/>
                </a:solidFill>
              </a:rPr>
              <a:t>author → users, Single, Nonempty, Cascade delete</a:t>
            </a:r>
          </a:p>
        </p:txBody>
      </p:sp>
      <p:sp>
        <p:nvSpPr>
          <p:cNvPr id="7" name="Oval 6"/>
          <p:cNvSpPr/>
          <p:nvPr/>
        </p:nvSpPr>
        <p:spPr>
          <a:xfrm>
            <a:off x="813816" y="35661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3</a:t>
            </a:r>
          </a:p>
        </p:txBody>
      </p:sp>
      <p:sp>
        <p:nvSpPr>
          <p:cNvPr id="8" name="TextBox 7"/>
          <p:cNvSpPr txBox="1"/>
          <p:nvPr/>
        </p:nvSpPr>
        <p:spPr>
          <a:xfrm>
            <a:off x="1591056" y="3547872"/>
            <a:ext cx="5394960" cy="914400"/>
          </a:xfrm>
          <a:prstGeom prst="rect">
            <a:avLst/>
          </a:prstGeom>
          <a:noFill/>
        </p:spPr>
        <p:txBody>
          <a:bodyPr wrap="square" lIns="0" tIns="0" rIns="0" bIns="0" anchor="t">
            <a:spAutoFit/>
          </a:bodyPr>
          <a:lstStyle/>
          <a:p>
            <a:pPr algn="l">
              <a:spcAft>
                <a:spcPts val="200"/>
              </a:spcAft>
            </a:pPr>
            <a:r>
              <a:rPr sz="1900" b="1"/>
              <a:t>+ New field → Plain text</a:t>
            </a:r>
          </a:p>
          <a:p>
            <a:pPr algn="l">
              <a:spcAft>
                <a:spcPts val="800"/>
              </a:spcAft>
            </a:pPr>
            <a:r>
              <a:rPr sz="1500" b="0">
                <a:solidFill>
                  <a:srgbClr val="595959"/>
                </a:solidFill>
              </a:rPr>
              <a:t>title, Nonempty</a:t>
            </a:r>
          </a:p>
        </p:txBody>
      </p:sp>
      <p:sp>
        <p:nvSpPr>
          <p:cNvPr id="9" name="Oval 8"/>
          <p:cNvSpPr/>
          <p:nvPr/>
        </p:nvSpPr>
        <p:spPr>
          <a:xfrm>
            <a:off x="813816" y="44805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4</a:t>
            </a:r>
          </a:p>
        </p:txBody>
      </p:sp>
      <p:sp>
        <p:nvSpPr>
          <p:cNvPr id="10" name="TextBox 9"/>
          <p:cNvSpPr txBox="1"/>
          <p:nvPr/>
        </p:nvSpPr>
        <p:spPr>
          <a:xfrm>
            <a:off x="1591056" y="4462272"/>
            <a:ext cx="5394960" cy="914400"/>
          </a:xfrm>
          <a:prstGeom prst="rect">
            <a:avLst/>
          </a:prstGeom>
          <a:noFill/>
        </p:spPr>
        <p:txBody>
          <a:bodyPr wrap="square" lIns="0" tIns="0" rIns="0" bIns="0" anchor="t">
            <a:spAutoFit/>
          </a:bodyPr>
          <a:lstStyle/>
          <a:p>
            <a:pPr algn="l">
              <a:spcAft>
                <a:spcPts val="200"/>
              </a:spcAft>
            </a:pPr>
            <a:r>
              <a:rPr sz="1900" b="1"/>
              <a:t>+ New field → Plain text</a:t>
            </a:r>
          </a:p>
          <a:p>
            <a:pPr algn="l">
              <a:spcAft>
                <a:spcPts val="800"/>
              </a:spcAft>
            </a:pPr>
            <a:r>
              <a:rPr sz="1500" b="0">
                <a:solidFill>
                  <a:srgbClr val="595959"/>
                </a:solidFill>
              </a:rPr>
              <a:t>body</a:t>
            </a:r>
          </a:p>
        </p:txBody>
      </p:sp>
      <p:sp>
        <p:nvSpPr>
          <p:cNvPr id="11" name="Oval 10"/>
          <p:cNvSpPr/>
          <p:nvPr/>
        </p:nvSpPr>
        <p:spPr>
          <a:xfrm>
            <a:off x="813816" y="53949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5</a:t>
            </a:r>
          </a:p>
        </p:txBody>
      </p:sp>
      <p:sp>
        <p:nvSpPr>
          <p:cNvPr id="12" name="TextBox 11"/>
          <p:cNvSpPr txBox="1"/>
          <p:nvPr/>
        </p:nvSpPr>
        <p:spPr>
          <a:xfrm>
            <a:off x="1591056" y="5376672"/>
            <a:ext cx="5394960" cy="914400"/>
          </a:xfrm>
          <a:prstGeom prst="rect">
            <a:avLst/>
          </a:prstGeom>
          <a:noFill/>
        </p:spPr>
        <p:txBody>
          <a:bodyPr wrap="square" lIns="0" tIns="0" rIns="0" bIns="0" anchor="t">
            <a:spAutoFit/>
          </a:bodyPr>
          <a:lstStyle/>
          <a:p>
            <a:pPr algn="l">
              <a:spcAft>
                <a:spcPts val="200"/>
              </a:spcAft>
            </a:pPr>
            <a:r>
              <a:rPr sz="1900" b="1"/>
              <a:t>Create</a:t>
            </a:r>
          </a:p>
          <a:p>
            <a:pPr algn="l">
              <a:spcAft>
                <a:spcPts val="800"/>
              </a:spcAft>
            </a:pPr>
            <a:r>
              <a:rPr sz="1500" b="0">
                <a:solidFill>
                  <a:srgbClr val="595959"/>
                </a:solidFill>
              </a:rPr>
              <a:t>Klart!</a:t>
            </a:r>
          </a:p>
        </p:txBody>
      </p:sp>
      <p:sp>
        <p:nvSpPr>
          <p:cNvPr id="13" name="Rounded Rectangle 12"/>
          <p:cNvSpPr/>
          <p:nvPr/>
        </p:nvSpPr>
        <p:spPr>
          <a:xfrm>
            <a:off x="7223760" y="1737360"/>
            <a:ext cx="4474159" cy="329184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79" y="2011680"/>
            <a:ext cx="3925519" cy="2926080"/>
          </a:xfrm>
          <a:prstGeom prst="rect">
            <a:avLst/>
          </a:prstGeom>
          <a:noFill/>
        </p:spPr>
        <p:txBody>
          <a:bodyPr wrap="square" lIns="0" tIns="0" rIns="0" bIns="0" anchor="t">
            <a:spAutoFit/>
          </a:bodyPr>
          <a:lstStyle/>
          <a:p>
            <a:pPr algn="l">
              <a:spcAft>
                <a:spcPts val="1000"/>
              </a:spcAft>
            </a:pPr>
            <a:r>
              <a:rPr sz="1900" b="1"/>
              <a:t>users – lägg till</a:t>
            </a:r>
          </a:p>
          <a:p>
            <a:pPr algn="l">
              <a:spcAft>
                <a:spcPts val="600"/>
              </a:spcAft>
            </a:pPr>
            <a:r>
              <a:rPr sz="1600" b="0"/>
              <a:t>username: Plain text, Nonempty</a:t>
            </a:r>
          </a:p>
          <a:p>
            <a:pPr algn="l">
              <a:spcAft>
                <a:spcPts val="600"/>
              </a:spcAft>
            </a:pPr>
            <a:r>
              <a:rPr sz="1600" b="0"/>
              <a:t>bio: Plain text</a:t>
            </a:r>
          </a:p>
          <a:p>
            <a:pPr algn="l">
              <a:spcAft>
                <a:spcPts val="600"/>
              </a:spcAft>
            </a:pPr>
            <a:r>
              <a:rPr sz="1600" b="0"/>
              <a:t>website: URL</a:t>
            </a:r>
          </a:p>
          <a:p>
            <a:pPr algn="l">
              <a:spcAft>
                <a:spcPts val="600"/>
              </a:spcAft>
            </a:pPr>
            <a:r>
              <a:rPr sz="1600" b="0"/>
              <a:t>+ New index på username → Unique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Resten av Kvittra</a:t>
            </a:r>
          </a:p>
        </p:txBody>
      </p:sp>
      <p:graphicFrame>
        <p:nvGraphicFramePr>
          <p:cNvPr id="3" name="Table 2"/>
          <p:cNvGraphicFramePr>
            <a:graphicFrameLocks noGrp="1"/>
          </p:cNvGraphicFramePr>
          <p:nvPr/>
        </p:nvGraphicFramePr>
        <p:xfrm>
          <a:off x="768096" y="1691640"/>
          <a:ext cx="10607040" cy="25603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640080">
                <a:tc>
                  <a:txBody>
                    <a:bodyPr/>
                    <a:lstStyle/>
                    <a:p>
                      <a:r>
                        <a:rPr sz="1500" b="1"/>
                        <a:t>Collection</a:t>
                      </a:r>
                    </a:p>
                  </a:txBody>
                  <a:tcPr marT="36576" marB="36576" anchor="ctr"/>
                </a:tc>
                <a:tc>
                  <a:txBody>
                    <a:bodyPr/>
                    <a:lstStyle/>
                    <a:p>
                      <a:r>
                        <a:rPr sz="1500" b="1"/>
                        <a:t>Fält</a:t>
                      </a:r>
                    </a:p>
                  </a:txBody>
                  <a:tcPr marT="36576" marB="36576" anchor="ctr"/>
                </a:tc>
                <a:tc>
                  <a:txBody>
                    <a:bodyPr/>
                    <a:lstStyle/>
                    <a:p>
                      <a:r>
                        <a:rPr sz="1500" b="1"/>
                        <a:t>Inställningar</a:t>
                      </a:r>
                    </a:p>
                  </a:txBody>
                  <a:tcPr marT="36576" marB="36576" anchor="ctr"/>
                </a:tc>
                <a:extLst>
                  <a:ext uri="{0D108BD9-81ED-4DB2-BD59-A6C34878D82A}">
                    <a16:rowId xmlns:a16="http://schemas.microsoft.com/office/drawing/2014/main" val="10000"/>
                  </a:ext>
                </a:extLst>
              </a:tr>
              <a:tr h="640080">
                <a:tc>
                  <a:txBody>
                    <a:bodyPr/>
                    <a:lstStyle/>
                    <a:p>
                      <a:r>
                        <a:rPr sz="1500"/>
                        <a:t>comments</a:t>
                      </a:r>
                    </a:p>
                  </a:txBody>
                  <a:tcPr marT="36576" marB="36576" anchor="ctr"/>
                </a:tc>
                <a:tc>
                  <a:txBody>
                    <a:bodyPr/>
                    <a:lstStyle/>
                    <a:p>
                      <a:r>
                        <a:rPr sz="1500"/>
                        <a:t>post → posts, author → users, body</a:t>
                      </a:r>
                    </a:p>
                  </a:txBody>
                  <a:tcPr marT="36576" marB="36576" anchor="ctr"/>
                </a:tc>
                <a:tc>
                  <a:txBody>
                    <a:bodyPr/>
                    <a:lstStyle/>
                    <a:p>
                      <a:r>
                        <a:rPr sz="1500"/>
                        <a:t>Single, Nonempty, Cascade delete. body: Nonempty</a:t>
                      </a:r>
                    </a:p>
                  </a:txBody>
                  <a:tcPr marT="36576" marB="36576" anchor="ctr"/>
                </a:tc>
                <a:extLst>
                  <a:ext uri="{0D108BD9-81ED-4DB2-BD59-A6C34878D82A}">
                    <a16:rowId xmlns:a16="http://schemas.microsoft.com/office/drawing/2014/main" val="10001"/>
                  </a:ext>
                </a:extLst>
              </a:tr>
              <a:tr h="640080">
                <a:tc>
                  <a:txBody>
                    <a:bodyPr/>
                    <a:lstStyle/>
                    <a:p>
                      <a:r>
                        <a:rPr sz="1500"/>
                        <a:t>likes</a:t>
                      </a:r>
                    </a:p>
                  </a:txBody>
                  <a:tcPr marT="36576" marB="36576" anchor="ctr"/>
                </a:tc>
                <a:tc>
                  <a:txBody>
                    <a:bodyPr/>
                    <a:lstStyle/>
                    <a:p>
                      <a:r>
                        <a:rPr sz="1500"/>
                        <a:t>post → posts, user → users</a:t>
                      </a:r>
                    </a:p>
                  </a:txBody>
                  <a:tcPr marT="36576" marB="36576" anchor="ctr"/>
                </a:tc>
                <a:tc>
                  <a:txBody>
                    <a:bodyPr/>
                    <a:lstStyle/>
                    <a:p>
                      <a:r>
                        <a:rPr sz="1500"/>
                        <a:t>Single, Nonempty, Cascade delete + unikt index (post, user)</a:t>
                      </a:r>
                    </a:p>
                  </a:txBody>
                  <a:tcPr marT="36576" marB="36576" anchor="ctr"/>
                </a:tc>
                <a:extLst>
                  <a:ext uri="{0D108BD9-81ED-4DB2-BD59-A6C34878D82A}">
                    <a16:rowId xmlns:a16="http://schemas.microsoft.com/office/drawing/2014/main" val="10002"/>
                  </a:ext>
                </a:extLst>
              </a:tr>
              <a:tr h="640080">
                <a:tc>
                  <a:txBody>
                    <a:bodyPr/>
                    <a:lstStyle/>
                    <a:p>
                      <a:r>
                        <a:rPr sz="1500"/>
                        <a:t>follows</a:t>
                      </a:r>
                    </a:p>
                  </a:txBody>
                  <a:tcPr marT="36576" marB="36576" anchor="ctr"/>
                </a:tc>
                <a:tc>
                  <a:txBody>
                    <a:bodyPr/>
                    <a:lstStyle/>
                    <a:p>
                      <a:r>
                        <a:rPr sz="1500"/>
                        <a:t>follower → users, following → users</a:t>
                      </a:r>
                    </a:p>
                  </a:txBody>
                  <a:tcPr marT="36576" marB="36576" anchor="ctr"/>
                </a:tc>
                <a:tc>
                  <a:txBody>
                    <a:bodyPr/>
                    <a:lstStyle/>
                    <a:p>
                      <a:r>
                        <a:rPr sz="1500"/>
                        <a:t>Single, Nonempty, Cascade delete + unikt index (follower, following)</a:t>
                      </a:r>
                    </a:p>
                  </a:txBody>
                  <a:tcPr marT="36576" marB="36576" anchor="ctr"/>
                </a:tc>
                <a:extLst>
                  <a:ext uri="{0D108BD9-81ED-4DB2-BD59-A6C34878D82A}">
                    <a16:rowId xmlns:a16="http://schemas.microsoft.com/office/drawing/2014/main" val="10003"/>
                  </a:ext>
                </a:extLst>
              </a:tr>
            </a:tbl>
          </a:graphicData>
        </a:graphic>
      </p:graphicFrame>
      <p:sp>
        <p:nvSpPr>
          <p:cNvPr id="4" name="TextBox 3"/>
          <p:cNvSpPr txBox="1"/>
          <p:nvPr/>
        </p:nvSpPr>
        <p:spPr>
          <a:xfrm>
            <a:off x="768096" y="4480560"/>
            <a:ext cx="10655503" cy="731520"/>
          </a:xfrm>
          <a:prstGeom prst="rect">
            <a:avLst/>
          </a:prstGeom>
          <a:noFill/>
        </p:spPr>
        <p:txBody>
          <a:bodyPr wrap="square" lIns="0" tIns="0" rIns="0" bIns="0" anchor="t">
            <a:spAutoFit/>
          </a:bodyPr>
          <a:lstStyle/>
          <a:p>
            <a:pPr algn="l">
              <a:spcAft>
                <a:spcPts val="800"/>
              </a:spcAft>
            </a:pPr>
            <a:r>
              <a:rPr sz="1600" b="0">
                <a:solidFill>
                  <a:srgbClr val="595959"/>
                </a:solidFill>
              </a:rPr>
              <a:t>Kontrollera: till vänster i Dashboard ska det nu finnas users, posts, comments, likes och follows.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Lägg in data – users och posts</a:t>
            </a:r>
          </a:p>
        </p:txBody>
      </p:sp>
      <p:graphicFrame>
        <p:nvGraphicFramePr>
          <p:cNvPr id="3" name="Table 2"/>
          <p:cNvGraphicFramePr>
            <a:graphicFrameLocks noGrp="1"/>
          </p:cNvGraphicFramePr>
          <p:nvPr/>
        </p:nvGraphicFramePr>
        <p:xfrm>
          <a:off x="768096" y="1691640"/>
          <a:ext cx="4846320" cy="20574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411480">
                <a:tc>
                  <a:txBody>
                    <a:bodyPr/>
                    <a:lstStyle/>
                    <a:p>
                      <a:r>
                        <a:rPr sz="1500" b="1"/>
                        <a:t>username</a:t>
                      </a:r>
                    </a:p>
                  </a:txBody>
                  <a:tcPr marT="36576" marB="36576" anchor="ctr"/>
                </a:tc>
                <a:tc>
                  <a:txBody>
                    <a:bodyPr/>
                    <a:lstStyle/>
                    <a:p>
                      <a:r>
                        <a:rPr sz="1500" b="1"/>
                        <a:t>name</a:t>
                      </a:r>
                    </a:p>
                  </a:txBody>
                  <a:tcPr marT="36576" marB="36576" anchor="ctr"/>
                </a:tc>
                <a:extLst>
                  <a:ext uri="{0D108BD9-81ED-4DB2-BD59-A6C34878D82A}">
                    <a16:rowId xmlns:a16="http://schemas.microsoft.com/office/drawing/2014/main" val="10000"/>
                  </a:ext>
                </a:extLst>
              </a:tr>
              <a:tr h="411480">
                <a:tc>
                  <a:txBody>
                    <a:bodyPr/>
                    <a:lstStyle/>
                    <a:p>
                      <a:r>
                        <a:rPr sz="1500">
                          <a:latin typeface="Courier New"/>
                        </a:rPr>
                        <a:t>anna</a:t>
                      </a:r>
                    </a:p>
                  </a:txBody>
                  <a:tcPr marT="36576" marB="36576" anchor="ctr"/>
                </a:tc>
                <a:tc>
                  <a:txBody>
                    <a:bodyPr/>
                    <a:lstStyle/>
                    <a:p>
                      <a:r>
                        <a:rPr sz="1500"/>
                        <a:t>Anna Andersson</a:t>
                      </a:r>
                    </a:p>
                  </a:txBody>
                  <a:tcPr marT="36576" marB="36576" anchor="ctr"/>
                </a:tc>
                <a:extLst>
                  <a:ext uri="{0D108BD9-81ED-4DB2-BD59-A6C34878D82A}">
                    <a16:rowId xmlns:a16="http://schemas.microsoft.com/office/drawing/2014/main" val="10001"/>
                  </a:ext>
                </a:extLst>
              </a:tr>
              <a:tr h="411480">
                <a:tc>
                  <a:txBody>
                    <a:bodyPr/>
                    <a:lstStyle/>
                    <a:p>
                      <a:r>
                        <a:rPr sz="1500">
                          <a:latin typeface="Courier New"/>
                        </a:rPr>
                        <a:t>bertil</a:t>
                      </a:r>
                    </a:p>
                  </a:txBody>
                  <a:tcPr marT="36576" marB="36576" anchor="ctr"/>
                </a:tc>
                <a:tc>
                  <a:txBody>
                    <a:bodyPr/>
                    <a:lstStyle/>
                    <a:p>
                      <a:r>
                        <a:rPr sz="1500"/>
                        <a:t>Bertil Berg</a:t>
                      </a:r>
                    </a:p>
                  </a:txBody>
                  <a:tcPr marT="36576" marB="36576" anchor="ctr"/>
                </a:tc>
                <a:extLst>
                  <a:ext uri="{0D108BD9-81ED-4DB2-BD59-A6C34878D82A}">
                    <a16:rowId xmlns:a16="http://schemas.microsoft.com/office/drawing/2014/main" val="10002"/>
                  </a:ext>
                </a:extLst>
              </a:tr>
              <a:tr h="411480">
                <a:tc>
                  <a:txBody>
                    <a:bodyPr/>
                    <a:lstStyle/>
                    <a:p>
                      <a:r>
                        <a:rPr sz="1500">
                          <a:latin typeface="Courier New"/>
                        </a:rPr>
                        <a:t>cissi</a:t>
                      </a:r>
                    </a:p>
                  </a:txBody>
                  <a:tcPr marT="36576" marB="36576" anchor="ctr"/>
                </a:tc>
                <a:tc>
                  <a:txBody>
                    <a:bodyPr/>
                    <a:lstStyle/>
                    <a:p>
                      <a:r>
                        <a:rPr sz="1500"/>
                        <a:t>Cecilia Carlsson</a:t>
                      </a:r>
                    </a:p>
                  </a:txBody>
                  <a:tcPr marT="36576" marB="36576" anchor="ctr"/>
                </a:tc>
                <a:extLst>
                  <a:ext uri="{0D108BD9-81ED-4DB2-BD59-A6C34878D82A}">
                    <a16:rowId xmlns:a16="http://schemas.microsoft.com/office/drawing/2014/main" val="10003"/>
                  </a:ext>
                </a:extLst>
              </a:tr>
              <a:tr h="411480">
                <a:tc>
                  <a:txBody>
                    <a:bodyPr/>
                    <a:lstStyle/>
                    <a:p>
                      <a:r>
                        <a:rPr sz="1500">
                          <a:latin typeface="Courier New"/>
                        </a:rPr>
                        <a:t>david</a:t>
                      </a:r>
                    </a:p>
                  </a:txBody>
                  <a:tcPr marT="36576" marB="36576" anchor="ctr"/>
                </a:tc>
                <a:tc>
                  <a:txBody>
                    <a:bodyPr/>
                    <a:lstStyle/>
                    <a:p>
                      <a:r>
                        <a:rPr sz="1500"/>
                        <a:t>David Dahl</a:t>
                      </a:r>
                    </a:p>
                  </a:txBody>
                  <a:tcPr marT="36576" marB="36576" anchor="ctr"/>
                </a:tc>
                <a:extLst>
                  <a:ext uri="{0D108BD9-81ED-4DB2-BD59-A6C34878D82A}">
                    <a16:rowId xmlns:a16="http://schemas.microsoft.com/office/drawing/2014/main" val="10004"/>
                  </a:ext>
                </a:extLst>
              </a:tr>
            </a:tbl>
          </a:graphicData>
        </a:graphic>
      </p:graphicFrame>
      <p:sp>
        <p:nvSpPr>
          <p:cNvPr id="4" name="TextBox 3"/>
          <p:cNvSpPr txBox="1"/>
          <p:nvPr/>
        </p:nvSpPr>
        <p:spPr>
          <a:xfrm>
            <a:off x="768096" y="3931920"/>
            <a:ext cx="4846320" cy="1463040"/>
          </a:xfrm>
          <a:prstGeom prst="rect">
            <a:avLst/>
          </a:prstGeom>
          <a:noFill/>
        </p:spPr>
        <p:txBody>
          <a:bodyPr wrap="square" lIns="0" tIns="0" rIns="0" bIns="0" anchor="t">
            <a:spAutoFit/>
          </a:bodyPr>
          <a:lstStyle/>
          <a:p>
            <a:pPr algn="l">
              <a:spcAft>
                <a:spcPts val="400"/>
              </a:spcAft>
            </a:pPr>
            <a:r>
              <a:rPr sz="1400" b="0">
                <a:solidFill>
                  <a:srgbClr val="595959"/>
                </a:solidFill>
              </a:rPr>
              <a:t>E-post: anna@example.com osv.</a:t>
            </a:r>
          </a:p>
          <a:p>
            <a:pPr algn="l">
              <a:spcAft>
                <a:spcPts val="400"/>
              </a:spcAft>
            </a:pPr>
            <a:r>
              <a:rPr sz="1400" b="0">
                <a:solidFill>
                  <a:srgbClr val="595959"/>
                </a:solidFill>
              </a:rPr>
              <a:t>Lösenord: kvittra123</a:t>
            </a:r>
          </a:p>
          <a:p>
            <a:pPr algn="l">
              <a:spcAft>
                <a:spcPts val="800"/>
              </a:spcAft>
            </a:pPr>
            <a:r>
              <a:rPr sz="1400" b="0">
                <a:solidFill>
                  <a:srgbClr val="595959"/>
                </a:solidFill>
              </a:rPr>
              <a:t>Ordning: users → posts → comments → likes → follows</a:t>
            </a:r>
          </a:p>
        </p:txBody>
      </p:sp>
      <p:graphicFrame>
        <p:nvGraphicFramePr>
          <p:cNvPr id="5" name="Table 4"/>
          <p:cNvGraphicFramePr>
            <a:graphicFrameLocks noGrp="1"/>
          </p:cNvGraphicFramePr>
          <p:nvPr/>
        </p:nvGraphicFramePr>
        <p:xfrm>
          <a:off x="5943600" y="1691640"/>
          <a:ext cx="5486400" cy="28803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11480">
                <a:tc>
                  <a:txBody>
                    <a:bodyPr/>
                    <a:lstStyle/>
                    <a:p>
                      <a:r>
                        <a:rPr sz="1500" b="1"/>
                        <a:t>author</a:t>
                      </a:r>
                    </a:p>
                  </a:txBody>
                  <a:tcPr marT="36576" marB="36576" anchor="ctr"/>
                </a:tc>
                <a:tc>
                  <a:txBody>
                    <a:bodyPr/>
                    <a:lstStyle/>
                    <a:p>
                      <a:r>
                        <a:rPr sz="1500" b="1"/>
                        <a:t>title</a:t>
                      </a:r>
                    </a:p>
                  </a:txBody>
                  <a:tcPr marT="36576" marB="36576" anchor="ctr"/>
                </a:tc>
                <a:extLst>
                  <a:ext uri="{0D108BD9-81ED-4DB2-BD59-A6C34878D82A}">
                    <a16:rowId xmlns:a16="http://schemas.microsoft.com/office/drawing/2014/main" val="10000"/>
                  </a:ext>
                </a:extLst>
              </a:tr>
              <a:tr h="411480">
                <a:tc>
                  <a:txBody>
                    <a:bodyPr/>
                    <a:lstStyle/>
                    <a:p>
                      <a:r>
                        <a:rPr sz="1500">
                          <a:latin typeface="Courier New"/>
                        </a:rPr>
                        <a:t>anna</a:t>
                      </a:r>
                    </a:p>
                  </a:txBody>
                  <a:tcPr marT="36576" marB="36576" anchor="ctr"/>
                </a:tc>
                <a:tc>
                  <a:txBody>
                    <a:bodyPr/>
                    <a:lstStyle/>
                    <a:p>
                      <a:r>
                        <a:rPr sz="1500"/>
                        <a:t>Höstpromenad</a:t>
                      </a:r>
                    </a:p>
                  </a:txBody>
                  <a:tcPr marT="36576" marB="36576" anchor="ctr"/>
                </a:tc>
                <a:extLst>
                  <a:ext uri="{0D108BD9-81ED-4DB2-BD59-A6C34878D82A}">
                    <a16:rowId xmlns:a16="http://schemas.microsoft.com/office/drawing/2014/main" val="10001"/>
                  </a:ext>
                </a:extLst>
              </a:tr>
              <a:tr h="411480">
                <a:tc>
                  <a:txBody>
                    <a:bodyPr/>
                    <a:lstStyle/>
                    <a:p>
                      <a:r>
                        <a:rPr sz="1500">
                          <a:latin typeface="Courier New"/>
                        </a:rPr>
                        <a:t>bertil</a:t>
                      </a:r>
                    </a:p>
                  </a:txBody>
                  <a:tcPr marT="36576" marB="36576" anchor="ctr"/>
                </a:tc>
                <a:tc>
                  <a:txBody>
                    <a:bodyPr/>
                    <a:lstStyle/>
                    <a:p>
                      <a:r>
                        <a:rPr sz="1500"/>
                        <a:t>Mitt första surdegsbröd</a:t>
                      </a:r>
                    </a:p>
                  </a:txBody>
                  <a:tcPr marT="36576" marB="36576" anchor="ctr"/>
                </a:tc>
                <a:extLst>
                  <a:ext uri="{0D108BD9-81ED-4DB2-BD59-A6C34878D82A}">
                    <a16:rowId xmlns:a16="http://schemas.microsoft.com/office/drawing/2014/main" val="10002"/>
                  </a:ext>
                </a:extLst>
              </a:tr>
              <a:tr h="411480">
                <a:tc>
                  <a:txBody>
                    <a:bodyPr/>
                    <a:lstStyle/>
                    <a:p>
                      <a:r>
                        <a:rPr sz="1500">
                          <a:latin typeface="Courier New"/>
                        </a:rPr>
                        <a:t>anna</a:t>
                      </a:r>
                    </a:p>
                  </a:txBody>
                  <a:tcPr marT="36576" marB="36576" anchor="ctr"/>
                </a:tc>
                <a:tc>
                  <a:txBody>
                    <a:bodyPr/>
                    <a:lstStyle/>
                    <a:p>
                      <a:r>
                        <a:rPr sz="1500"/>
                        <a:t>Morgondimma</a:t>
                      </a:r>
                    </a:p>
                  </a:txBody>
                  <a:tcPr marT="36576" marB="36576" anchor="ctr"/>
                </a:tc>
                <a:extLst>
                  <a:ext uri="{0D108BD9-81ED-4DB2-BD59-A6C34878D82A}">
                    <a16:rowId xmlns:a16="http://schemas.microsoft.com/office/drawing/2014/main" val="10003"/>
                  </a:ext>
                </a:extLst>
              </a:tr>
              <a:tr h="411480">
                <a:tc>
                  <a:txBody>
                    <a:bodyPr/>
                    <a:lstStyle/>
                    <a:p>
                      <a:r>
                        <a:rPr sz="1500">
                          <a:latin typeface="Courier New"/>
                        </a:rPr>
                        <a:t>cissi</a:t>
                      </a:r>
                    </a:p>
                  </a:txBody>
                  <a:tcPr marT="36576" marB="36576" anchor="ctr"/>
                </a:tc>
                <a:tc>
                  <a:txBody>
                    <a:bodyPr/>
                    <a:lstStyle/>
                    <a:p>
                      <a:r>
                        <a:rPr sz="1500"/>
                        <a:t>Tips på en bra bok?</a:t>
                      </a:r>
                    </a:p>
                  </a:txBody>
                  <a:tcPr marT="36576" marB="36576" anchor="ctr"/>
                </a:tc>
                <a:extLst>
                  <a:ext uri="{0D108BD9-81ED-4DB2-BD59-A6C34878D82A}">
                    <a16:rowId xmlns:a16="http://schemas.microsoft.com/office/drawing/2014/main" val="10004"/>
                  </a:ext>
                </a:extLst>
              </a:tr>
              <a:tr h="411480">
                <a:tc>
                  <a:txBody>
                    <a:bodyPr/>
                    <a:lstStyle/>
                    <a:p>
                      <a:r>
                        <a:rPr sz="1500">
                          <a:latin typeface="Courier New"/>
                        </a:rPr>
                        <a:t>david</a:t>
                      </a:r>
                    </a:p>
                  </a:txBody>
                  <a:tcPr marT="36576" marB="36576" anchor="ctr"/>
                </a:tc>
                <a:tc>
                  <a:txBody>
                    <a:bodyPr/>
                    <a:lstStyle/>
                    <a:p>
                      <a:r>
                        <a:rPr sz="1500"/>
                        <a:t>Matchdag</a:t>
                      </a:r>
                    </a:p>
                  </a:txBody>
                  <a:tcPr marT="36576" marB="36576" anchor="ctr"/>
                </a:tc>
                <a:extLst>
                  <a:ext uri="{0D108BD9-81ED-4DB2-BD59-A6C34878D82A}">
                    <a16:rowId xmlns:a16="http://schemas.microsoft.com/office/drawing/2014/main" val="10005"/>
                  </a:ext>
                </a:extLst>
              </a:tr>
              <a:tr h="411480">
                <a:tc>
                  <a:txBody>
                    <a:bodyPr/>
                    <a:lstStyle/>
                    <a:p>
                      <a:r>
                        <a:rPr sz="1500">
                          <a:latin typeface="Courier New"/>
                        </a:rPr>
                        <a:t>bertil</a:t>
                      </a:r>
                    </a:p>
                  </a:txBody>
                  <a:tcPr marT="36576" marB="36576" anchor="ctr"/>
                </a:tc>
                <a:tc>
                  <a:txBody>
                    <a:bodyPr/>
                    <a:lstStyle/>
                    <a:p>
                      <a:r>
                        <a:rPr sz="1500"/>
                        <a:t>Andra försöket</a:t>
                      </a:r>
                    </a:p>
                  </a:txBody>
                  <a:tcPr marT="36576" marB="36576"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Lägg in data – comments, likes och follows</a:t>
            </a:r>
          </a:p>
        </p:txBody>
      </p:sp>
      <p:graphicFrame>
        <p:nvGraphicFramePr>
          <p:cNvPr id="3" name="Table 2"/>
          <p:cNvGraphicFramePr>
            <a:graphicFrameLocks noGrp="1"/>
          </p:cNvGraphicFramePr>
          <p:nvPr/>
        </p:nvGraphicFramePr>
        <p:xfrm>
          <a:off x="676656" y="1691640"/>
          <a:ext cx="4206240" cy="2688336"/>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4048">
                <a:tc>
                  <a:txBody>
                    <a:bodyPr/>
                    <a:lstStyle/>
                    <a:p>
                      <a:r>
                        <a:rPr sz="1300" b="1"/>
                        <a:t>post</a:t>
                      </a:r>
                    </a:p>
                  </a:txBody>
                  <a:tcPr marT="36576" marB="36576" anchor="ctr"/>
                </a:tc>
                <a:tc>
                  <a:txBody>
                    <a:bodyPr/>
                    <a:lstStyle/>
                    <a:p>
                      <a:r>
                        <a:rPr sz="1300" b="1"/>
                        <a:t>author</a:t>
                      </a:r>
                    </a:p>
                  </a:txBody>
                  <a:tcPr marT="36576" marB="36576" anchor="ctr"/>
                </a:tc>
                <a:tc>
                  <a:txBody>
                    <a:bodyPr/>
                    <a:lstStyle/>
                    <a:p>
                      <a:r>
                        <a:rPr sz="1300" b="1"/>
                        <a:t>body</a:t>
                      </a:r>
                    </a:p>
                  </a:txBody>
                  <a:tcPr marT="36576" marB="36576" anchor="ctr"/>
                </a:tc>
                <a:extLst>
                  <a:ext uri="{0D108BD9-81ED-4DB2-BD59-A6C34878D82A}">
                    <a16:rowId xmlns:a16="http://schemas.microsoft.com/office/drawing/2014/main" val="10000"/>
                  </a:ext>
                </a:extLst>
              </a:tr>
              <a:tr h="384048">
                <a:tc>
                  <a:txBody>
                    <a:bodyPr/>
                    <a:lstStyle/>
                    <a:p>
                      <a:r>
                        <a:rPr sz="1300"/>
                        <a:t>Höstpromenad</a:t>
                      </a:r>
                    </a:p>
                  </a:txBody>
                  <a:tcPr marT="36576" marB="36576" anchor="ctr"/>
                </a:tc>
                <a:tc>
                  <a:txBody>
                    <a:bodyPr/>
                    <a:lstStyle/>
                    <a:p>
                      <a:r>
                        <a:rPr sz="1300"/>
                        <a:t>bertil</a:t>
                      </a:r>
                    </a:p>
                  </a:txBody>
                  <a:tcPr marT="36576" marB="36576" anchor="ctr"/>
                </a:tc>
                <a:tc>
                  <a:txBody>
                    <a:bodyPr/>
                    <a:lstStyle/>
                    <a:p>
                      <a:r>
                        <a:rPr sz="1300"/>
                        <a:t>Fina färger!</a:t>
                      </a:r>
                    </a:p>
                  </a:txBody>
                  <a:tcPr marT="36576" marB="36576" anchor="ctr"/>
                </a:tc>
                <a:extLst>
                  <a:ext uri="{0D108BD9-81ED-4DB2-BD59-A6C34878D82A}">
                    <a16:rowId xmlns:a16="http://schemas.microsoft.com/office/drawing/2014/main" val="10001"/>
                  </a:ext>
                </a:extLst>
              </a:tr>
              <a:tr h="384048">
                <a:tc>
                  <a:txBody>
                    <a:bodyPr/>
                    <a:lstStyle/>
                    <a:p>
                      <a:r>
                        <a:rPr sz="1300"/>
                        <a:t>Surdegsbröd</a:t>
                      </a:r>
                    </a:p>
                  </a:txBody>
                  <a:tcPr marT="36576" marB="36576" anchor="ctr"/>
                </a:tc>
                <a:tc>
                  <a:txBody>
                    <a:bodyPr/>
                    <a:lstStyle/>
                    <a:p>
                      <a:r>
                        <a:rPr sz="1300"/>
                        <a:t>anna</a:t>
                      </a:r>
                    </a:p>
                  </a:txBody>
                  <a:tcPr marT="36576" marB="36576" anchor="ctr"/>
                </a:tc>
                <a:tc>
                  <a:txBody>
                    <a:bodyPr/>
                    <a:lstStyle/>
                    <a:p>
                      <a:r>
                        <a:rPr sz="1300"/>
                        <a:t>Snyggt jobbat!</a:t>
                      </a:r>
                    </a:p>
                  </a:txBody>
                  <a:tcPr marT="36576" marB="36576" anchor="ctr"/>
                </a:tc>
                <a:extLst>
                  <a:ext uri="{0D108BD9-81ED-4DB2-BD59-A6C34878D82A}">
                    <a16:rowId xmlns:a16="http://schemas.microsoft.com/office/drawing/2014/main" val="10002"/>
                  </a:ext>
                </a:extLst>
              </a:tr>
              <a:tr h="384048">
                <a:tc>
                  <a:txBody>
                    <a:bodyPr/>
                    <a:lstStyle/>
                    <a:p>
                      <a:r>
                        <a:rPr sz="1300"/>
                        <a:t>Surdegsbröd</a:t>
                      </a:r>
                    </a:p>
                  </a:txBody>
                  <a:tcPr marT="36576" marB="36576" anchor="ctr"/>
                </a:tc>
                <a:tc>
                  <a:txBody>
                    <a:bodyPr/>
                    <a:lstStyle/>
                    <a:p>
                      <a:r>
                        <a:rPr sz="1300"/>
                        <a:t>cissi</a:t>
                      </a:r>
                    </a:p>
                  </a:txBody>
                  <a:tcPr marT="36576" marB="36576" anchor="ctr"/>
                </a:tc>
                <a:tc>
                  <a:txBody>
                    <a:bodyPr/>
                    <a:lstStyle/>
                    <a:p>
                      <a:r>
                        <a:rPr sz="1300"/>
                        <a:t>Recept tack!</a:t>
                      </a:r>
                    </a:p>
                  </a:txBody>
                  <a:tcPr marT="36576" marB="36576" anchor="ctr"/>
                </a:tc>
                <a:extLst>
                  <a:ext uri="{0D108BD9-81ED-4DB2-BD59-A6C34878D82A}">
                    <a16:rowId xmlns:a16="http://schemas.microsoft.com/office/drawing/2014/main" val="10003"/>
                  </a:ext>
                </a:extLst>
              </a:tr>
              <a:tr h="384048">
                <a:tc>
                  <a:txBody>
                    <a:bodyPr/>
                    <a:lstStyle/>
                    <a:p>
                      <a:r>
                        <a:rPr sz="1300"/>
                        <a:t>Tips på bok</a:t>
                      </a:r>
                    </a:p>
                  </a:txBody>
                  <a:tcPr marT="36576" marB="36576" anchor="ctr"/>
                </a:tc>
                <a:tc>
                  <a:txBody>
                    <a:bodyPr/>
                    <a:lstStyle/>
                    <a:p>
                      <a:r>
                        <a:rPr sz="1300"/>
                        <a:t>anna</a:t>
                      </a:r>
                    </a:p>
                  </a:txBody>
                  <a:tcPr marT="36576" marB="36576" anchor="ctr"/>
                </a:tc>
                <a:tc>
                  <a:txBody>
                    <a:bodyPr/>
                    <a:lstStyle/>
                    <a:p>
                      <a:r>
                        <a:rPr sz="1300"/>
                        <a:t>Läs Mio min Mio!</a:t>
                      </a:r>
                    </a:p>
                  </a:txBody>
                  <a:tcPr marT="36576" marB="36576" anchor="ctr"/>
                </a:tc>
                <a:extLst>
                  <a:ext uri="{0D108BD9-81ED-4DB2-BD59-A6C34878D82A}">
                    <a16:rowId xmlns:a16="http://schemas.microsoft.com/office/drawing/2014/main" val="10004"/>
                  </a:ext>
                </a:extLst>
              </a:tr>
              <a:tr h="384048">
                <a:tc>
                  <a:txBody>
                    <a:bodyPr/>
                    <a:lstStyle/>
                    <a:p>
                      <a:r>
                        <a:rPr sz="1300"/>
                        <a:t>Tips på bok</a:t>
                      </a:r>
                    </a:p>
                  </a:txBody>
                  <a:tcPr marT="36576" marB="36576" anchor="ctr"/>
                </a:tc>
                <a:tc>
                  <a:txBody>
                    <a:bodyPr/>
                    <a:lstStyle/>
                    <a:p>
                      <a:r>
                        <a:rPr sz="1300"/>
                        <a:t>david</a:t>
                      </a:r>
                    </a:p>
                  </a:txBody>
                  <a:tcPr marT="36576" marB="36576" anchor="ctr"/>
                </a:tc>
                <a:tc>
                  <a:txBody>
                    <a:bodyPr/>
                    <a:lstStyle/>
                    <a:p>
                      <a:r>
                        <a:rPr sz="1300"/>
                        <a:t>Harry Potter!</a:t>
                      </a:r>
                    </a:p>
                  </a:txBody>
                  <a:tcPr marT="36576" marB="36576" anchor="ctr"/>
                </a:tc>
                <a:extLst>
                  <a:ext uri="{0D108BD9-81ED-4DB2-BD59-A6C34878D82A}">
                    <a16:rowId xmlns:a16="http://schemas.microsoft.com/office/drawing/2014/main" val="10005"/>
                  </a:ext>
                </a:extLst>
              </a:tr>
              <a:tr h="384048">
                <a:tc>
                  <a:txBody>
                    <a:bodyPr/>
                    <a:lstStyle/>
                    <a:p>
                      <a:r>
                        <a:rPr sz="1300"/>
                        <a:t>Matchdag</a:t>
                      </a:r>
                    </a:p>
                  </a:txBody>
                  <a:tcPr marT="36576" marB="36576" anchor="ctr"/>
                </a:tc>
                <a:tc>
                  <a:txBody>
                    <a:bodyPr/>
                    <a:lstStyle/>
                    <a:p>
                      <a:r>
                        <a:rPr sz="1300"/>
                        <a:t>bertil</a:t>
                      </a:r>
                    </a:p>
                  </a:txBody>
                  <a:tcPr marT="36576" marB="36576" anchor="ctr"/>
                </a:tc>
                <a:tc>
                  <a:txBody>
                    <a:bodyPr/>
                    <a:lstStyle/>
                    <a:p>
                      <a:r>
                        <a:rPr sz="1300"/>
                        <a:t>Grattis!</a:t>
                      </a:r>
                    </a:p>
                  </a:txBody>
                  <a:tcPr marT="36576" marB="36576" anchor="ctr"/>
                </a:tc>
                <a:extLst>
                  <a:ext uri="{0D108BD9-81ED-4DB2-BD59-A6C34878D82A}">
                    <a16:rowId xmlns:a16="http://schemas.microsoft.com/office/drawing/2014/main" val="10006"/>
                  </a:ext>
                </a:extLst>
              </a:tr>
            </a:tbl>
          </a:graphicData>
        </a:graphic>
      </p:graphicFrame>
      <p:graphicFrame>
        <p:nvGraphicFramePr>
          <p:cNvPr id="4" name="Table 3"/>
          <p:cNvGraphicFramePr>
            <a:graphicFrameLocks noGrp="1"/>
          </p:cNvGraphicFramePr>
          <p:nvPr/>
        </p:nvGraphicFramePr>
        <p:xfrm>
          <a:off x="5120640" y="1691640"/>
          <a:ext cx="3017520" cy="3456432"/>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84048">
                <a:tc>
                  <a:txBody>
                    <a:bodyPr/>
                    <a:lstStyle/>
                    <a:p>
                      <a:r>
                        <a:rPr sz="1300" b="1"/>
                        <a:t>post</a:t>
                      </a:r>
                    </a:p>
                  </a:txBody>
                  <a:tcPr marT="36576" marB="36576" anchor="ctr"/>
                </a:tc>
                <a:tc>
                  <a:txBody>
                    <a:bodyPr/>
                    <a:lstStyle/>
                    <a:p>
                      <a:r>
                        <a:rPr sz="1300" b="1"/>
                        <a:t>user</a:t>
                      </a:r>
                    </a:p>
                  </a:txBody>
                  <a:tcPr marT="36576" marB="36576" anchor="ctr"/>
                </a:tc>
                <a:extLst>
                  <a:ext uri="{0D108BD9-81ED-4DB2-BD59-A6C34878D82A}">
                    <a16:rowId xmlns:a16="http://schemas.microsoft.com/office/drawing/2014/main" val="10000"/>
                  </a:ext>
                </a:extLst>
              </a:tr>
              <a:tr h="384048">
                <a:tc>
                  <a:txBody>
                    <a:bodyPr/>
                    <a:lstStyle/>
                    <a:p>
                      <a:r>
                        <a:rPr sz="1300"/>
                        <a:t>Höstpromenad</a:t>
                      </a:r>
                    </a:p>
                  </a:txBody>
                  <a:tcPr marT="36576" marB="36576" anchor="ctr"/>
                </a:tc>
                <a:tc>
                  <a:txBody>
                    <a:bodyPr/>
                    <a:lstStyle/>
                    <a:p>
                      <a:r>
                        <a:rPr sz="1300"/>
                        <a:t>bertil</a:t>
                      </a:r>
                    </a:p>
                  </a:txBody>
                  <a:tcPr marT="36576" marB="36576" anchor="ctr"/>
                </a:tc>
                <a:extLst>
                  <a:ext uri="{0D108BD9-81ED-4DB2-BD59-A6C34878D82A}">
                    <a16:rowId xmlns:a16="http://schemas.microsoft.com/office/drawing/2014/main" val="10001"/>
                  </a:ext>
                </a:extLst>
              </a:tr>
              <a:tr h="384048">
                <a:tc>
                  <a:txBody>
                    <a:bodyPr/>
                    <a:lstStyle/>
                    <a:p>
                      <a:r>
                        <a:rPr sz="1300"/>
                        <a:t>Höstpromenad</a:t>
                      </a:r>
                    </a:p>
                  </a:txBody>
                  <a:tcPr marT="36576" marB="36576" anchor="ctr"/>
                </a:tc>
                <a:tc>
                  <a:txBody>
                    <a:bodyPr/>
                    <a:lstStyle/>
                    <a:p>
                      <a:r>
                        <a:rPr sz="1300"/>
                        <a:t>cissi</a:t>
                      </a:r>
                    </a:p>
                  </a:txBody>
                  <a:tcPr marT="36576" marB="36576" anchor="ctr"/>
                </a:tc>
                <a:extLst>
                  <a:ext uri="{0D108BD9-81ED-4DB2-BD59-A6C34878D82A}">
                    <a16:rowId xmlns:a16="http://schemas.microsoft.com/office/drawing/2014/main" val="10002"/>
                  </a:ext>
                </a:extLst>
              </a:tr>
              <a:tr h="384048">
                <a:tc>
                  <a:txBody>
                    <a:bodyPr/>
                    <a:lstStyle/>
                    <a:p>
                      <a:r>
                        <a:rPr sz="1300"/>
                        <a:t>Surdegsbröd</a:t>
                      </a:r>
                    </a:p>
                  </a:txBody>
                  <a:tcPr marT="36576" marB="36576" anchor="ctr"/>
                </a:tc>
                <a:tc>
                  <a:txBody>
                    <a:bodyPr/>
                    <a:lstStyle/>
                    <a:p>
                      <a:r>
                        <a:rPr sz="1300"/>
                        <a:t>anna</a:t>
                      </a:r>
                    </a:p>
                  </a:txBody>
                  <a:tcPr marT="36576" marB="36576" anchor="ctr"/>
                </a:tc>
                <a:extLst>
                  <a:ext uri="{0D108BD9-81ED-4DB2-BD59-A6C34878D82A}">
                    <a16:rowId xmlns:a16="http://schemas.microsoft.com/office/drawing/2014/main" val="10003"/>
                  </a:ext>
                </a:extLst>
              </a:tr>
              <a:tr h="384048">
                <a:tc>
                  <a:txBody>
                    <a:bodyPr/>
                    <a:lstStyle/>
                    <a:p>
                      <a:r>
                        <a:rPr sz="1300"/>
                        <a:t>Surdegsbröd</a:t>
                      </a:r>
                    </a:p>
                  </a:txBody>
                  <a:tcPr marT="36576" marB="36576" anchor="ctr"/>
                </a:tc>
                <a:tc>
                  <a:txBody>
                    <a:bodyPr/>
                    <a:lstStyle/>
                    <a:p>
                      <a:r>
                        <a:rPr sz="1300"/>
                        <a:t>cissi</a:t>
                      </a:r>
                    </a:p>
                  </a:txBody>
                  <a:tcPr marT="36576" marB="36576" anchor="ctr"/>
                </a:tc>
                <a:extLst>
                  <a:ext uri="{0D108BD9-81ED-4DB2-BD59-A6C34878D82A}">
                    <a16:rowId xmlns:a16="http://schemas.microsoft.com/office/drawing/2014/main" val="10004"/>
                  </a:ext>
                </a:extLst>
              </a:tr>
              <a:tr h="384048">
                <a:tc>
                  <a:txBody>
                    <a:bodyPr/>
                    <a:lstStyle/>
                    <a:p>
                      <a:r>
                        <a:rPr sz="1300"/>
                        <a:t>Surdegsbröd</a:t>
                      </a:r>
                    </a:p>
                  </a:txBody>
                  <a:tcPr marT="36576" marB="36576" anchor="ctr"/>
                </a:tc>
                <a:tc>
                  <a:txBody>
                    <a:bodyPr/>
                    <a:lstStyle/>
                    <a:p>
                      <a:r>
                        <a:rPr sz="1300"/>
                        <a:t>david</a:t>
                      </a:r>
                    </a:p>
                  </a:txBody>
                  <a:tcPr marT="36576" marB="36576" anchor="ctr"/>
                </a:tc>
                <a:extLst>
                  <a:ext uri="{0D108BD9-81ED-4DB2-BD59-A6C34878D82A}">
                    <a16:rowId xmlns:a16="http://schemas.microsoft.com/office/drawing/2014/main" val="10005"/>
                  </a:ext>
                </a:extLst>
              </a:tr>
              <a:tr h="384048">
                <a:tc>
                  <a:txBody>
                    <a:bodyPr/>
                    <a:lstStyle/>
                    <a:p>
                      <a:r>
                        <a:rPr sz="1300"/>
                        <a:t>Matchdag</a:t>
                      </a:r>
                    </a:p>
                  </a:txBody>
                  <a:tcPr marT="36576" marB="36576" anchor="ctr"/>
                </a:tc>
                <a:tc>
                  <a:txBody>
                    <a:bodyPr/>
                    <a:lstStyle/>
                    <a:p>
                      <a:r>
                        <a:rPr sz="1300"/>
                        <a:t>anna</a:t>
                      </a:r>
                    </a:p>
                  </a:txBody>
                  <a:tcPr marT="36576" marB="36576" anchor="ctr"/>
                </a:tc>
                <a:extLst>
                  <a:ext uri="{0D108BD9-81ED-4DB2-BD59-A6C34878D82A}">
                    <a16:rowId xmlns:a16="http://schemas.microsoft.com/office/drawing/2014/main" val="10006"/>
                  </a:ext>
                </a:extLst>
              </a:tr>
              <a:tr h="384048">
                <a:tc>
                  <a:txBody>
                    <a:bodyPr/>
                    <a:lstStyle/>
                    <a:p>
                      <a:r>
                        <a:rPr sz="1300"/>
                        <a:t>Andra försöket</a:t>
                      </a:r>
                    </a:p>
                  </a:txBody>
                  <a:tcPr marT="36576" marB="36576" anchor="ctr"/>
                </a:tc>
                <a:tc>
                  <a:txBody>
                    <a:bodyPr/>
                    <a:lstStyle/>
                    <a:p>
                      <a:r>
                        <a:rPr sz="1300"/>
                        <a:t>anna</a:t>
                      </a:r>
                    </a:p>
                  </a:txBody>
                  <a:tcPr marT="36576" marB="36576" anchor="ctr"/>
                </a:tc>
                <a:extLst>
                  <a:ext uri="{0D108BD9-81ED-4DB2-BD59-A6C34878D82A}">
                    <a16:rowId xmlns:a16="http://schemas.microsoft.com/office/drawing/2014/main" val="10007"/>
                  </a:ext>
                </a:extLst>
              </a:tr>
              <a:tr h="384048">
                <a:tc>
                  <a:txBody>
                    <a:bodyPr/>
                    <a:lstStyle/>
                    <a:p>
                      <a:r>
                        <a:rPr sz="1300"/>
                        <a:t>Andra försöket</a:t>
                      </a:r>
                    </a:p>
                  </a:txBody>
                  <a:tcPr marT="36576" marB="36576" anchor="ctr"/>
                </a:tc>
                <a:tc>
                  <a:txBody>
                    <a:bodyPr/>
                    <a:lstStyle/>
                    <a:p>
                      <a:r>
                        <a:rPr sz="1300"/>
                        <a:t>cissi</a:t>
                      </a:r>
                    </a:p>
                  </a:txBody>
                  <a:tcPr marT="36576" marB="36576" anchor="ctr"/>
                </a:tc>
                <a:extLst>
                  <a:ext uri="{0D108BD9-81ED-4DB2-BD59-A6C34878D82A}">
                    <a16:rowId xmlns:a16="http://schemas.microsoft.com/office/drawing/2014/main" val="10008"/>
                  </a:ext>
                </a:extLst>
              </a:tr>
            </a:tbl>
          </a:graphicData>
        </a:graphic>
      </p:graphicFrame>
      <p:graphicFrame>
        <p:nvGraphicFramePr>
          <p:cNvPr id="5" name="Table 4"/>
          <p:cNvGraphicFramePr>
            <a:graphicFrameLocks noGrp="1"/>
          </p:cNvGraphicFramePr>
          <p:nvPr/>
        </p:nvGraphicFramePr>
        <p:xfrm>
          <a:off x="8412480" y="1691640"/>
          <a:ext cx="3017520" cy="2304288"/>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384048">
                <a:tc>
                  <a:txBody>
                    <a:bodyPr/>
                    <a:lstStyle/>
                    <a:p>
                      <a:r>
                        <a:rPr sz="1300" b="1"/>
                        <a:t>follower</a:t>
                      </a:r>
                    </a:p>
                  </a:txBody>
                  <a:tcPr marT="36576" marB="36576" anchor="ctr"/>
                </a:tc>
                <a:tc>
                  <a:txBody>
                    <a:bodyPr/>
                    <a:lstStyle/>
                    <a:p>
                      <a:r>
                        <a:rPr sz="1300" b="1"/>
                        <a:t>following</a:t>
                      </a:r>
                    </a:p>
                  </a:txBody>
                  <a:tcPr marT="36576" marB="36576" anchor="ctr"/>
                </a:tc>
                <a:extLst>
                  <a:ext uri="{0D108BD9-81ED-4DB2-BD59-A6C34878D82A}">
                    <a16:rowId xmlns:a16="http://schemas.microsoft.com/office/drawing/2014/main" val="10000"/>
                  </a:ext>
                </a:extLst>
              </a:tr>
              <a:tr h="384048">
                <a:tc>
                  <a:txBody>
                    <a:bodyPr/>
                    <a:lstStyle/>
                    <a:p>
                      <a:r>
                        <a:rPr sz="1300"/>
                        <a:t>anna</a:t>
                      </a:r>
                    </a:p>
                  </a:txBody>
                  <a:tcPr marT="36576" marB="36576" anchor="ctr"/>
                </a:tc>
                <a:tc>
                  <a:txBody>
                    <a:bodyPr/>
                    <a:lstStyle/>
                    <a:p>
                      <a:r>
                        <a:rPr sz="1300"/>
                        <a:t>bertil</a:t>
                      </a:r>
                    </a:p>
                  </a:txBody>
                  <a:tcPr marT="36576" marB="36576" anchor="ctr"/>
                </a:tc>
                <a:extLst>
                  <a:ext uri="{0D108BD9-81ED-4DB2-BD59-A6C34878D82A}">
                    <a16:rowId xmlns:a16="http://schemas.microsoft.com/office/drawing/2014/main" val="10001"/>
                  </a:ext>
                </a:extLst>
              </a:tr>
              <a:tr h="384048">
                <a:tc>
                  <a:txBody>
                    <a:bodyPr/>
                    <a:lstStyle/>
                    <a:p>
                      <a:r>
                        <a:rPr sz="1300"/>
                        <a:t>anna</a:t>
                      </a:r>
                    </a:p>
                  </a:txBody>
                  <a:tcPr marT="36576" marB="36576" anchor="ctr"/>
                </a:tc>
                <a:tc>
                  <a:txBody>
                    <a:bodyPr/>
                    <a:lstStyle/>
                    <a:p>
                      <a:r>
                        <a:rPr sz="1300"/>
                        <a:t>cissi</a:t>
                      </a:r>
                    </a:p>
                  </a:txBody>
                  <a:tcPr marT="36576" marB="36576" anchor="ctr"/>
                </a:tc>
                <a:extLst>
                  <a:ext uri="{0D108BD9-81ED-4DB2-BD59-A6C34878D82A}">
                    <a16:rowId xmlns:a16="http://schemas.microsoft.com/office/drawing/2014/main" val="10002"/>
                  </a:ext>
                </a:extLst>
              </a:tr>
              <a:tr h="384048">
                <a:tc>
                  <a:txBody>
                    <a:bodyPr/>
                    <a:lstStyle/>
                    <a:p>
                      <a:r>
                        <a:rPr sz="1300"/>
                        <a:t>bertil</a:t>
                      </a:r>
                    </a:p>
                  </a:txBody>
                  <a:tcPr marT="36576" marB="36576" anchor="ctr"/>
                </a:tc>
                <a:tc>
                  <a:txBody>
                    <a:bodyPr/>
                    <a:lstStyle/>
                    <a:p>
                      <a:r>
                        <a:rPr sz="1300"/>
                        <a:t>anna</a:t>
                      </a:r>
                    </a:p>
                  </a:txBody>
                  <a:tcPr marT="36576" marB="36576" anchor="ctr"/>
                </a:tc>
                <a:extLst>
                  <a:ext uri="{0D108BD9-81ED-4DB2-BD59-A6C34878D82A}">
                    <a16:rowId xmlns:a16="http://schemas.microsoft.com/office/drawing/2014/main" val="10003"/>
                  </a:ext>
                </a:extLst>
              </a:tr>
              <a:tr h="384048">
                <a:tc>
                  <a:txBody>
                    <a:bodyPr/>
                    <a:lstStyle/>
                    <a:p>
                      <a:r>
                        <a:rPr sz="1300"/>
                        <a:t>cissi</a:t>
                      </a:r>
                    </a:p>
                  </a:txBody>
                  <a:tcPr marT="36576" marB="36576" anchor="ctr"/>
                </a:tc>
                <a:tc>
                  <a:txBody>
                    <a:bodyPr/>
                    <a:lstStyle/>
                    <a:p>
                      <a:r>
                        <a:rPr sz="1300"/>
                        <a:t>anna</a:t>
                      </a:r>
                    </a:p>
                  </a:txBody>
                  <a:tcPr marT="36576" marB="36576" anchor="ctr"/>
                </a:tc>
                <a:extLst>
                  <a:ext uri="{0D108BD9-81ED-4DB2-BD59-A6C34878D82A}">
                    <a16:rowId xmlns:a16="http://schemas.microsoft.com/office/drawing/2014/main" val="10004"/>
                  </a:ext>
                </a:extLst>
              </a:tr>
              <a:tr h="384048">
                <a:tc>
                  <a:txBody>
                    <a:bodyPr/>
                    <a:lstStyle/>
                    <a:p>
                      <a:r>
                        <a:rPr sz="1300"/>
                        <a:t>david</a:t>
                      </a:r>
                    </a:p>
                  </a:txBody>
                  <a:tcPr marT="36576" marB="36576" anchor="ctr"/>
                </a:tc>
                <a:tc>
                  <a:txBody>
                    <a:bodyPr/>
                    <a:lstStyle/>
                    <a:p>
                      <a:r>
                        <a:rPr sz="1300"/>
                        <a:t>bertil</a:t>
                      </a:r>
                    </a:p>
                  </a:txBody>
                  <a:tcPr marT="36576" marB="36576"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Vad är SQL?</a:t>
            </a:r>
          </a:p>
        </p:txBody>
      </p:sp>
      <p:sp>
        <p:nvSpPr>
          <p:cNvPr id="3" name="TextBox 2"/>
          <p:cNvSpPr txBox="1"/>
          <p:nvPr/>
        </p:nvSpPr>
        <p:spPr>
          <a:xfrm>
            <a:off x="768096" y="1691640"/>
            <a:ext cx="10655503" cy="548640"/>
          </a:xfrm>
          <a:prstGeom prst="rect">
            <a:avLst/>
          </a:prstGeom>
          <a:noFill/>
        </p:spPr>
        <p:txBody>
          <a:bodyPr wrap="square" lIns="0" tIns="0" rIns="0" bIns="0" anchor="t">
            <a:spAutoFit/>
          </a:bodyPr>
          <a:lstStyle/>
          <a:p>
            <a:pPr algn="l">
              <a:spcAft>
                <a:spcPts val="800"/>
              </a:spcAft>
            </a:pPr>
            <a:r>
              <a:rPr sz="1800" b="0"/>
              <a:t>SQL är språket man pratar med en relationsdatabas på.</a:t>
            </a:r>
          </a:p>
        </p:txBody>
      </p:sp>
      <p:graphicFrame>
        <p:nvGraphicFramePr>
          <p:cNvPr id="4" name="Table 3"/>
          <p:cNvGraphicFramePr>
            <a:graphicFrameLocks noGrp="1"/>
          </p:cNvGraphicFramePr>
          <p:nvPr/>
        </p:nvGraphicFramePr>
        <p:xfrm>
          <a:off x="768096" y="2286000"/>
          <a:ext cx="10607040" cy="301752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502920">
                <a:tc>
                  <a:txBody>
                    <a:bodyPr/>
                    <a:lstStyle/>
                    <a:p>
                      <a:r>
                        <a:rPr sz="1600" b="1"/>
                        <a:t>Du gör i Dashboard</a:t>
                      </a:r>
                    </a:p>
                  </a:txBody>
                  <a:tcPr marT="36576" marB="36576" anchor="ctr"/>
                </a:tc>
                <a:tc>
                  <a:txBody>
                    <a:bodyPr/>
                    <a:lstStyle/>
                    <a:p>
                      <a:r>
                        <a:rPr sz="1600" b="1"/>
                        <a:t>PocketBase kör ungefär</a:t>
                      </a:r>
                    </a:p>
                  </a:txBody>
                  <a:tcPr marT="36576" marB="36576" anchor="ctr"/>
                </a:tc>
                <a:extLst>
                  <a:ext uri="{0D108BD9-81ED-4DB2-BD59-A6C34878D82A}">
                    <a16:rowId xmlns:a16="http://schemas.microsoft.com/office/drawing/2014/main" val="10000"/>
                  </a:ext>
                </a:extLst>
              </a:tr>
              <a:tr h="502920">
                <a:tc>
                  <a:txBody>
                    <a:bodyPr/>
                    <a:lstStyle/>
                    <a:p>
                      <a:r>
                        <a:rPr sz="1600"/>
                        <a:t>Skapar collectionen posts</a:t>
                      </a:r>
                    </a:p>
                  </a:txBody>
                  <a:tcPr marT="36576" marB="36576" anchor="ctr"/>
                </a:tc>
                <a:tc>
                  <a:txBody>
                    <a:bodyPr/>
                    <a:lstStyle/>
                    <a:p>
                      <a:r>
                        <a:rPr sz="1600">
                          <a:latin typeface="Courier New"/>
                        </a:rPr>
                        <a:t>CREATE TABLE posts (...)</a:t>
                      </a:r>
                    </a:p>
                  </a:txBody>
                  <a:tcPr marT="36576" marB="36576" anchor="ctr"/>
                </a:tc>
                <a:extLst>
                  <a:ext uri="{0D108BD9-81ED-4DB2-BD59-A6C34878D82A}">
                    <a16:rowId xmlns:a16="http://schemas.microsoft.com/office/drawing/2014/main" val="10001"/>
                  </a:ext>
                </a:extLst>
              </a:tr>
              <a:tr h="502920">
                <a:tc>
                  <a:txBody>
                    <a:bodyPr/>
                    <a:lstStyle/>
                    <a:p>
                      <a:r>
                        <a:rPr sz="1600"/>
                        <a:t>Lägger in ett inlägg</a:t>
                      </a:r>
                    </a:p>
                  </a:txBody>
                  <a:tcPr marT="36576" marB="36576" anchor="ctr"/>
                </a:tc>
                <a:tc>
                  <a:txBody>
                    <a:bodyPr/>
                    <a:lstStyle/>
                    <a:p>
                      <a:r>
                        <a:rPr sz="1600">
                          <a:latin typeface="Courier New"/>
                        </a:rPr>
                        <a:t>INSERT INTO posts (...) VALUES (...)</a:t>
                      </a:r>
                    </a:p>
                  </a:txBody>
                  <a:tcPr marT="36576" marB="36576" anchor="ctr"/>
                </a:tc>
                <a:extLst>
                  <a:ext uri="{0D108BD9-81ED-4DB2-BD59-A6C34878D82A}">
                    <a16:rowId xmlns:a16="http://schemas.microsoft.com/office/drawing/2014/main" val="10002"/>
                  </a:ext>
                </a:extLst>
              </a:tr>
              <a:tr h="502920">
                <a:tc>
                  <a:txBody>
                    <a:bodyPr/>
                    <a:lstStyle/>
                    <a:p>
                      <a:r>
                        <a:rPr sz="1600"/>
                        <a:t>Ändrar ett inlägg</a:t>
                      </a:r>
                    </a:p>
                  </a:txBody>
                  <a:tcPr marT="36576" marB="36576" anchor="ctr"/>
                </a:tc>
                <a:tc>
                  <a:txBody>
                    <a:bodyPr/>
                    <a:lstStyle/>
                    <a:p>
                      <a:r>
                        <a:rPr sz="1600">
                          <a:latin typeface="Courier New"/>
                        </a:rPr>
                        <a:t>UPDATE posts SET title = '...' WHERE id = '...'</a:t>
                      </a:r>
                    </a:p>
                  </a:txBody>
                  <a:tcPr marT="36576" marB="36576" anchor="ctr"/>
                </a:tc>
                <a:extLst>
                  <a:ext uri="{0D108BD9-81ED-4DB2-BD59-A6C34878D82A}">
                    <a16:rowId xmlns:a16="http://schemas.microsoft.com/office/drawing/2014/main" val="10003"/>
                  </a:ext>
                </a:extLst>
              </a:tr>
              <a:tr h="502920">
                <a:tc>
                  <a:txBody>
                    <a:bodyPr/>
                    <a:lstStyle/>
                    <a:p>
                      <a:r>
                        <a:rPr sz="1600"/>
                        <a:t>Tar bort ett inlägg</a:t>
                      </a:r>
                    </a:p>
                  </a:txBody>
                  <a:tcPr marT="36576" marB="36576" anchor="ctr"/>
                </a:tc>
                <a:tc>
                  <a:txBody>
                    <a:bodyPr/>
                    <a:lstStyle/>
                    <a:p>
                      <a:r>
                        <a:rPr sz="1600">
                          <a:latin typeface="Courier New"/>
                        </a:rPr>
                        <a:t>DELETE FROM posts WHERE id = '...'</a:t>
                      </a:r>
                    </a:p>
                  </a:txBody>
                  <a:tcPr marT="36576" marB="36576" anchor="ctr"/>
                </a:tc>
                <a:extLst>
                  <a:ext uri="{0D108BD9-81ED-4DB2-BD59-A6C34878D82A}">
                    <a16:rowId xmlns:a16="http://schemas.microsoft.com/office/drawing/2014/main" val="10004"/>
                  </a:ext>
                </a:extLst>
              </a:tr>
              <a:tr h="502920">
                <a:tc>
                  <a:txBody>
                    <a:bodyPr/>
                    <a:lstStyle/>
                    <a:p>
                      <a:r>
                        <a:rPr sz="1600"/>
                        <a:t>Öppnar listan med inlägg</a:t>
                      </a:r>
                    </a:p>
                  </a:txBody>
                  <a:tcPr marT="36576" marB="36576" anchor="ctr"/>
                </a:tc>
                <a:tc>
                  <a:txBody>
                    <a:bodyPr/>
                    <a:lstStyle/>
                    <a:p>
                      <a:r>
                        <a:rPr sz="1600">
                          <a:latin typeface="Courier New"/>
                        </a:rPr>
                        <a:t>SELECT * FROM posts</a:t>
                      </a:r>
                    </a:p>
                  </a:txBody>
                  <a:tcPr marT="36576" marB="36576" anchor="ctr"/>
                </a:tc>
                <a:extLst>
                  <a:ext uri="{0D108BD9-81ED-4DB2-BD59-A6C34878D82A}">
                    <a16:rowId xmlns:a16="http://schemas.microsoft.com/office/drawing/2014/main" val="10005"/>
                  </a:ext>
                </a:extLst>
              </a:tr>
            </a:tbl>
          </a:graphicData>
        </a:graphic>
      </p:graphicFrame>
      <p:sp>
        <p:nvSpPr>
          <p:cNvPr id="5" name="TextBox 4"/>
          <p:cNvSpPr txBox="1"/>
          <p:nvPr/>
        </p:nvSpPr>
        <p:spPr>
          <a:xfrm>
            <a:off x="768096" y="5532120"/>
            <a:ext cx="10655503" cy="731520"/>
          </a:xfrm>
          <a:prstGeom prst="rect">
            <a:avLst/>
          </a:prstGeom>
          <a:noFill/>
        </p:spPr>
        <p:txBody>
          <a:bodyPr wrap="square" lIns="0" tIns="0" rIns="0" bIns="0" anchor="t">
            <a:spAutoFit/>
          </a:bodyPr>
          <a:lstStyle/>
          <a:p>
            <a:pPr algn="l">
              <a:spcAft>
                <a:spcPts val="800"/>
              </a:spcAft>
            </a:pPr>
            <a:r>
              <a:rPr sz="1600" b="0">
                <a:solidFill>
                  <a:srgbClr val="595959"/>
                </a:solidFill>
              </a:rPr>
              <a:t>Vi skriver själva SELECT-frågor. De läser data, och kan kombinera flera tabeller.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Testa SQL med en View collection</a:t>
            </a:r>
          </a:p>
        </p:txBody>
      </p:sp>
      <p:sp>
        <p:nvSpPr>
          <p:cNvPr id="3" name="Oval 2"/>
          <p:cNvSpPr/>
          <p:nvPr/>
        </p:nvSpPr>
        <p:spPr>
          <a:xfrm>
            <a:off x="813816" y="17373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1</a:t>
            </a:r>
          </a:p>
        </p:txBody>
      </p:sp>
      <p:sp>
        <p:nvSpPr>
          <p:cNvPr id="4" name="TextBox 3"/>
          <p:cNvSpPr txBox="1"/>
          <p:nvPr/>
        </p:nvSpPr>
        <p:spPr>
          <a:xfrm>
            <a:off x="1591056" y="1719072"/>
            <a:ext cx="5394960" cy="960120"/>
          </a:xfrm>
          <a:prstGeom prst="rect">
            <a:avLst/>
          </a:prstGeom>
          <a:noFill/>
        </p:spPr>
        <p:txBody>
          <a:bodyPr wrap="square" lIns="0" tIns="0" rIns="0" bIns="0" anchor="t">
            <a:spAutoFit/>
          </a:bodyPr>
          <a:lstStyle/>
          <a:p>
            <a:pPr algn="l">
              <a:spcAft>
                <a:spcPts val="200"/>
              </a:spcAft>
            </a:pPr>
            <a:r>
              <a:rPr sz="1900" b="1"/>
              <a:t>+ New collection</a:t>
            </a:r>
          </a:p>
          <a:p>
            <a:pPr algn="l">
              <a:spcAft>
                <a:spcPts val="800"/>
              </a:spcAft>
            </a:pPr>
            <a:r>
              <a:rPr sz="1500" b="0">
                <a:solidFill>
                  <a:srgbClr val="595959"/>
                </a:solidFill>
              </a:rPr>
              <a:t>Välj typen View</a:t>
            </a:r>
          </a:p>
        </p:txBody>
      </p:sp>
      <p:sp>
        <p:nvSpPr>
          <p:cNvPr id="5" name="Oval 4"/>
          <p:cNvSpPr/>
          <p:nvPr/>
        </p:nvSpPr>
        <p:spPr>
          <a:xfrm>
            <a:off x="813816" y="269748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2</a:t>
            </a:r>
          </a:p>
        </p:txBody>
      </p:sp>
      <p:sp>
        <p:nvSpPr>
          <p:cNvPr id="6" name="TextBox 5"/>
          <p:cNvSpPr txBox="1"/>
          <p:nvPr/>
        </p:nvSpPr>
        <p:spPr>
          <a:xfrm>
            <a:off x="1591056" y="2679192"/>
            <a:ext cx="5394960" cy="960120"/>
          </a:xfrm>
          <a:prstGeom prst="rect">
            <a:avLst/>
          </a:prstGeom>
          <a:noFill/>
        </p:spPr>
        <p:txBody>
          <a:bodyPr wrap="square" lIns="0" tIns="0" rIns="0" bIns="0" anchor="t">
            <a:spAutoFit/>
          </a:bodyPr>
          <a:lstStyle/>
          <a:p>
            <a:pPr algn="l">
              <a:spcAft>
                <a:spcPts val="200"/>
              </a:spcAft>
            </a:pPr>
            <a:r>
              <a:rPr sz="1900" b="1"/>
              <a:t>Namn</a:t>
            </a:r>
          </a:p>
          <a:p>
            <a:pPr algn="l">
              <a:spcAft>
                <a:spcPts val="800"/>
              </a:spcAft>
            </a:pPr>
            <a:r>
              <a:rPr sz="1500" b="0">
                <a:solidFill>
                  <a:srgbClr val="595959"/>
                </a:solidFill>
              </a:rPr>
              <a:t>t.ex. test_users</a:t>
            </a:r>
          </a:p>
        </p:txBody>
      </p:sp>
      <p:sp>
        <p:nvSpPr>
          <p:cNvPr id="7" name="Oval 6"/>
          <p:cNvSpPr/>
          <p:nvPr/>
        </p:nvSpPr>
        <p:spPr>
          <a:xfrm>
            <a:off x="813816" y="365760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3</a:t>
            </a:r>
          </a:p>
        </p:txBody>
      </p:sp>
      <p:sp>
        <p:nvSpPr>
          <p:cNvPr id="8" name="TextBox 7"/>
          <p:cNvSpPr txBox="1"/>
          <p:nvPr/>
        </p:nvSpPr>
        <p:spPr>
          <a:xfrm>
            <a:off x="1591056" y="3639312"/>
            <a:ext cx="5394960" cy="960120"/>
          </a:xfrm>
          <a:prstGeom prst="rect">
            <a:avLst/>
          </a:prstGeom>
          <a:noFill/>
        </p:spPr>
        <p:txBody>
          <a:bodyPr wrap="square" lIns="0" tIns="0" rIns="0" bIns="0" anchor="t">
            <a:spAutoFit/>
          </a:bodyPr>
          <a:lstStyle/>
          <a:p>
            <a:pPr algn="l">
              <a:spcAft>
                <a:spcPts val="200"/>
              </a:spcAft>
            </a:pPr>
            <a:r>
              <a:rPr sz="1900" b="1"/>
              <a:t>Select query</a:t>
            </a:r>
          </a:p>
          <a:p>
            <a:pPr algn="l">
              <a:spcAft>
                <a:spcPts val="800"/>
              </a:spcAft>
            </a:pPr>
            <a:r>
              <a:rPr sz="1500" b="0">
                <a:solidFill>
                  <a:srgbClr val="595959"/>
                </a:solidFill>
              </a:rPr>
              <a:t>Skriv din SELECT-fråga</a:t>
            </a:r>
          </a:p>
        </p:txBody>
      </p:sp>
      <p:sp>
        <p:nvSpPr>
          <p:cNvPr id="9" name="Oval 8"/>
          <p:cNvSpPr/>
          <p:nvPr/>
        </p:nvSpPr>
        <p:spPr>
          <a:xfrm>
            <a:off x="813816" y="461772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4</a:t>
            </a:r>
          </a:p>
        </p:txBody>
      </p:sp>
      <p:sp>
        <p:nvSpPr>
          <p:cNvPr id="10" name="TextBox 9"/>
          <p:cNvSpPr txBox="1"/>
          <p:nvPr/>
        </p:nvSpPr>
        <p:spPr>
          <a:xfrm>
            <a:off x="1591056" y="4599432"/>
            <a:ext cx="5394960" cy="960120"/>
          </a:xfrm>
          <a:prstGeom prst="rect">
            <a:avLst/>
          </a:prstGeom>
          <a:noFill/>
        </p:spPr>
        <p:txBody>
          <a:bodyPr wrap="square" lIns="0" tIns="0" rIns="0" bIns="0" anchor="t">
            <a:spAutoFit/>
          </a:bodyPr>
          <a:lstStyle/>
          <a:p>
            <a:pPr algn="l">
              <a:spcAft>
                <a:spcPts val="200"/>
              </a:spcAft>
            </a:pPr>
            <a:r>
              <a:rPr sz="1900" b="1"/>
              <a:t>Create</a:t>
            </a:r>
          </a:p>
          <a:p>
            <a:pPr algn="l">
              <a:spcAft>
                <a:spcPts val="800"/>
              </a:spcAft>
            </a:pPr>
            <a:r>
              <a:rPr sz="1500" b="0">
                <a:solidFill>
                  <a:srgbClr val="595959"/>
                </a:solidFill>
              </a:rPr>
              <a:t>Klicka på collectionen för att se resultatet</a:t>
            </a:r>
          </a:p>
        </p:txBody>
      </p:sp>
      <p:sp>
        <p:nvSpPr>
          <p:cNvPr id="11" name="Rounded Rectangle 10"/>
          <p:cNvSpPr/>
          <p:nvPr/>
        </p:nvSpPr>
        <p:spPr>
          <a:xfrm>
            <a:off x="7223760" y="1737360"/>
            <a:ext cx="4474159" cy="13487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Första frågan</a:t>
            </a:r>
          </a:p>
          <a:p>
            <a:pPr algn="l"/>
            <a:r>
              <a:rPr sz="1800">
                <a:solidFill>
                  <a:srgbClr val="E6E9EF"/>
                </a:solidFill>
                <a:latin typeface="Courier New"/>
              </a:rPr>
              <a:t>SELECT id, username, name</a:t>
            </a:r>
          </a:p>
          <a:p>
            <a:pPr algn="l"/>
            <a:r>
              <a:rPr sz="1800">
                <a:solidFill>
                  <a:srgbClr val="E6E9EF"/>
                </a:solidFill>
                <a:latin typeface="Courier New"/>
              </a:rPr>
              <a:t>FROM users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ORDER BY och LIMIT</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WHERE behåller rader där villkoret är sant</a:t>
            </a:r>
          </a:p>
          <a:p>
            <a:pPr marL="365760" indent="-274320">
              <a:spcAft>
                <a:spcPts val="800"/>
              </a:spcAft>
              <a:buChar char="•"/>
            </a:pPr>
            <a:r>
              <a:rPr sz="2000"/>
              <a:t>= != &gt; &lt; LIKE '%bröd%'  AND  OR</a:t>
            </a:r>
          </a:p>
          <a:p>
            <a:pPr marL="365760" indent="-274320">
              <a:spcAft>
                <a:spcPts val="800"/>
              </a:spcAft>
              <a:buChar char="•"/>
            </a:pPr>
            <a:r>
              <a:rPr sz="2000"/>
              <a:t>Text skrivs inom 'enkla citattecken'</a:t>
            </a:r>
          </a:p>
          <a:p>
            <a:pPr marL="365760" indent="-274320">
              <a:spcAft>
                <a:spcPts val="800"/>
              </a:spcAft>
              <a:buChar char="•"/>
            </a:pPr>
            <a:r>
              <a:rPr sz="2000"/>
              <a:t>Tomma textfält i PocketBase är ''</a:t>
            </a:r>
          </a:p>
          <a:p>
            <a:pPr marL="365760" indent="-274320">
              <a:spcAft>
                <a:spcPts val="800"/>
              </a:spcAft>
              <a:buChar char="•"/>
            </a:pPr>
            <a:r>
              <a:rPr sz="2000"/>
              <a:t>ORDER BY created DESC = nyaste först</a:t>
            </a:r>
          </a:p>
          <a:p>
            <a:pPr marL="365760" indent="-274320">
              <a:spcAft>
                <a:spcPts val="800"/>
              </a:spcAft>
              <a:buChar char="•"/>
            </a:pPr>
            <a:r>
              <a:rPr sz="2000"/>
              <a:t>LIMIT 3 = bara tre rader</a:t>
            </a:r>
          </a:p>
        </p:txBody>
      </p:sp>
      <p:sp>
        <p:nvSpPr>
          <p:cNvPr id="4" name="Rounded Rectangle 3"/>
          <p:cNvSpPr/>
          <p:nvPr/>
        </p:nvSpPr>
        <p:spPr>
          <a:xfrm>
            <a:off x="5577840" y="1737360"/>
            <a:ext cx="6120079" cy="315849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SQL</a:t>
            </a:r>
          </a:p>
          <a:p>
            <a:pPr algn="l"/>
            <a:r>
              <a:rPr sz="1500">
                <a:solidFill>
                  <a:srgbClr val="8B95A7"/>
                </a:solidFill>
                <a:latin typeface="Courier New"/>
              </a:rPr>
              <a:t>-- Användare med bio</a:t>
            </a:r>
          </a:p>
          <a:p>
            <a:pPr algn="l"/>
            <a:r>
              <a:rPr sz="1500">
                <a:solidFill>
                  <a:srgbClr val="E6E9EF"/>
                </a:solidFill>
                <a:latin typeface="Courier New"/>
              </a:rPr>
              <a:t>SELECT id, username, bio</a:t>
            </a:r>
          </a:p>
          <a:p>
            <a:pPr algn="l"/>
            <a:r>
              <a:rPr sz="1500">
                <a:solidFill>
                  <a:srgbClr val="E6E9EF"/>
                </a:solidFill>
                <a:latin typeface="Courier New"/>
              </a:rPr>
              <a:t>FROM users</a:t>
            </a:r>
          </a:p>
          <a:p>
            <a:pPr algn="l"/>
            <a:r>
              <a:rPr sz="1500">
                <a:solidFill>
                  <a:srgbClr val="E6E9EF"/>
                </a:solidFill>
                <a:latin typeface="Courier New"/>
              </a:rPr>
              <a:t>WHERE bio != ''</a:t>
            </a:r>
          </a:p>
          <a:p>
            <a:pPr algn="l"/>
            <a:r>
              <a:rPr sz="1500">
                <a:solidFill>
                  <a:srgbClr val="E6E9EF"/>
                </a:solidFill>
                <a:latin typeface="Courier New"/>
              </a:rPr>
              <a:t> </a:t>
            </a:r>
          </a:p>
          <a:p>
            <a:pPr algn="l"/>
            <a:r>
              <a:rPr sz="1500">
                <a:solidFill>
                  <a:srgbClr val="8B95A7"/>
                </a:solidFill>
                <a:latin typeface="Courier New"/>
              </a:rPr>
              <a:t>-- De tre senaste inläggen</a:t>
            </a:r>
          </a:p>
          <a:p>
            <a:pPr algn="l"/>
            <a:r>
              <a:rPr sz="1500">
                <a:solidFill>
                  <a:srgbClr val="E6E9EF"/>
                </a:solidFill>
                <a:latin typeface="Courier New"/>
              </a:rPr>
              <a:t>SELECT id, title, created</a:t>
            </a:r>
          </a:p>
          <a:p>
            <a:pPr algn="l"/>
            <a:r>
              <a:rPr sz="1500">
                <a:solidFill>
                  <a:srgbClr val="E6E9EF"/>
                </a:solidFill>
                <a:latin typeface="Courier New"/>
              </a:rPr>
              <a:t>FROM posts</a:t>
            </a:r>
          </a:p>
          <a:p>
            <a:pPr algn="l"/>
            <a:r>
              <a:rPr sz="1500">
                <a:solidFill>
                  <a:srgbClr val="E6E9EF"/>
                </a:solidFill>
                <a:latin typeface="Courier New"/>
              </a:rPr>
              <a:t>ORDER BY created DESC</a:t>
            </a:r>
          </a:p>
          <a:p>
            <a:pPr algn="l"/>
            <a:r>
              <a:rPr sz="1500">
                <a:solidFill>
                  <a:srgbClr val="E6E9EF"/>
                </a:solidFill>
                <a:latin typeface="Courier New"/>
              </a:rPr>
              <a:t>LIMIT 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JOIN – kombinera tabeller</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posts har bara författarens id</a:t>
            </a:r>
          </a:p>
          <a:p>
            <a:pPr marL="365760" indent="-274320">
              <a:spcAft>
                <a:spcPts val="800"/>
              </a:spcAft>
              <a:buChar char="•"/>
            </a:pPr>
            <a:r>
              <a:rPr sz="2000"/>
              <a:t>JOIN hämtar raden i users där id = posts.author</a:t>
            </a:r>
          </a:p>
          <a:p>
            <a:pPr marL="365760" indent="-274320">
              <a:spcAft>
                <a:spcPts val="800"/>
              </a:spcAft>
              <a:buChar char="•"/>
            </a:pPr>
            <a:r>
              <a:rPr sz="2000"/>
              <a:t>posts.title = kolumnen title i tabellen posts</a:t>
            </a:r>
          </a:p>
          <a:p>
            <a:pPr marL="365760" indent="-274320">
              <a:spcAft>
                <a:spcPts val="800"/>
              </a:spcAft>
              <a:buChar char="•"/>
            </a:pPr>
            <a:r>
              <a:rPr sz="2000"/>
              <a:t>AS author ger kolumnen ett nytt namn</a:t>
            </a:r>
          </a:p>
        </p:txBody>
      </p:sp>
      <p:sp>
        <p:nvSpPr>
          <p:cNvPr id="4" name="Rounded Rectangle 3"/>
          <p:cNvSpPr/>
          <p:nvPr/>
        </p:nvSpPr>
        <p:spPr>
          <a:xfrm>
            <a:off x="5577840" y="1737360"/>
            <a:ext cx="6120079" cy="2920364"/>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Inlägg med författare</a:t>
            </a:r>
          </a:p>
          <a:p>
            <a:pPr algn="l"/>
            <a:r>
              <a:rPr sz="1500">
                <a:solidFill>
                  <a:srgbClr val="E6E9EF"/>
                </a:solidFill>
                <a:latin typeface="Courier New"/>
              </a:rPr>
              <a:t>SELECT posts.id,</a:t>
            </a:r>
          </a:p>
          <a:p>
            <a:pPr algn="l"/>
            <a:r>
              <a:rPr sz="1500">
                <a:solidFill>
                  <a:srgbClr val="E6E9EF"/>
                </a:solidFill>
                <a:latin typeface="Courier New"/>
              </a:rPr>
              <a:t>       posts.title,</a:t>
            </a:r>
          </a:p>
          <a:p>
            <a:pPr algn="l"/>
            <a:r>
              <a:rPr sz="1500">
                <a:solidFill>
                  <a:srgbClr val="E6E9EF"/>
                </a:solidFill>
                <a:latin typeface="Courier New"/>
              </a:rPr>
              <a:t>       users.username AS author</a:t>
            </a:r>
          </a:p>
          <a:p>
            <a:pPr algn="l"/>
            <a:r>
              <a:rPr sz="1500">
                <a:solidFill>
                  <a:srgbClr val="E6E9EF"/>
                </a:solidFill>
                <a:latin typeface="Courier New"/>
              </a:rPr>
              <a:t>FROM posts</a:t>
            </a:r>
          </a:p>
          <a:p>
            <a:pPr algn="l"/>
            <a:r>
              <a:rPr sz="1500">
                <a:solidFill>
                  <a:srgbClr val="E6E9EF"/>
                </a:solidFill>
                <a:latin typeface="Courier New"/>
              </a:rPr>
              <a:t>JOIN users ON users.id = posts.author</a:t>
            </a:r>
          </a:p>
          <a:p>
            <a:pPr algn="l"/>
            <a:r>
              <a:rPr sz="1500">
                <a:solidFill>
                  <a:srgbClr val="E6E9EF"/>
                </a:solidFill>
                <a:latin typeface="Courier New"/>
              </a:rPr>
              <a:t> </a:t>
            </a:r>
          </a:p>
          <a:p>
            <a:pPr algn="l"/>
            <a:r>
              <a:rPr sz="1500">
                <a:solidFill>
                  <a:srgbClr val="8B95A7"/>
                </a:solidFill>
                <a:latin typeface="Courier New"/>
              </a:rPr>
              <a:t>-- Höstpromenad   | anna</a:t>
            </a:r>
          </a:p>
          <a:p>
            <a:pPr algn="l"/>
            <a:r>
              <a:rPr sz="1500">
                <a:solidFill>
                  <a:srgbClr val="8B95A7"/>
                </a:solidFill>
                <a:latin typeface="Courier New"/>
              </a:rPr>
              <a:t>-- Matchdag       | david</a:t>
            </a:r>
          </a:p>
          <a:p>
            <a:pPr algn="l"/>
            <a:r>
              <a:rPr sz="1500">
                <a:solidFill>
                  <a:srgbClr val="8B95A7"/>
                </a:solidFill>
                <a:latin typeface="Courier New"/>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COUNT och GROUP BY – räkna</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LEFT JOIN behåller inlägg utan likes</a:t>
            </a:r>
          </a:p>
          <a:p>
            <a:pPr marL="365760" indent="-274320">
              <a:spcAft>
                <a:spcPts val="800"/>
              </a:spcAft>
              <a:buChar char="•"/>
            </a:pPr>
            <a:r>
              <a:rPr sz="2000"/>
              <a:t>GROUP BY slår ihop rader för samma inlägg</a:t>
            </a:r>
          </a:p>
          <a:p>
            <a:pPr marL="365760" indent="-274320">
              <a:spcAft>
                <a:spcPts val="800"/>
              </a:spcAft>
              <a:buChar char="•"/>
            </a:pPr>
            <a:r>
              <a:rPr sz="2000"/>
              <a:t>COUNT räknar raderna i varje grupp</a:t>
            </a:r>
          </a:p>
          <a:p>
            <a:pPr marL="365760" indent="-274320">
              <a:spcAft>
                <a:spcPts val="800"/>
              </a:spcAft>
              <a:buChar char="•"/>
            </a:pPr>
            <a:r>
              <a:rPr sz="2000"/>
              <a:t>Därför sparar vi inte antal likes – vi räknar fram det</a:t>
            </a:r>
          </a:p>
        </p:txBody>
      </p:sp>
      <p:sp>
        <p:nvSpPr>
          <p:cNvPr id="4" name="Rounded Rectangle 3"/>
          <p:cNvSpPr/>
          <p:nvPr/>
        </p:nvSpPr>
        <p:spPr>
          <a:xfrm>
            <a:off x="5577840" y="1737360"/>
            <a:ext cx="6120079" cy="3666489"/>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Antal likes per inlägg</a:t>
            </a:r>
          </a:p>
          <a:p>
            <a:pPr algn="l"/>
            <a:r>
              <a:rPr sz="1400">
                <a:solidFill>
                  <a:srgbClr val="E6E9EF"/>
                </a:solidFill>
                <a:latin typeface="Courier New"/>
              </a:rPr>
              <a:t>SELECT posts.id, posts.title,</a:t>
            </a:r>
          </a:p>
          <a:p>
            <a:pPr algn="l"/>
            <a:r>
              <a:rPr sz="1400">
                <a:solidFill>
                  <a:srgbClr val="E6E9EF"/>
                </a:solidFill>
                <a:latin typeface="Courier New"/>
              </a:rPr>
              <a:t>       COUNT(likes.id) AS like_count</a:t>
            </a:r>
          </a:p>
          <a:p>
            <a:pPr algn="l"/>
            <a:r>
              <a:rPr sz="1400">
                <a:solidFill>
                  <a:srgbClr val="E6E9EF"/>
                </a:solidFill>
                <a:latin typeface="Courier New"/>
              </a:rPr>
              <a:t>FROM posts</a:t>
            </a:r>
          </a:p>
          <a:p>
            <a:pPr algn="l"/>
            <a:r>
              <a:rPr sz="1400">
                <a:solidFill>
                  <a:srgbClr val="E6E9EF"/>
                </a:solidFill>
                <a:latin typeface="Courier New"/>
              </a:rPr>
              <a:t>LEFT JOIN likes ON likes.post = posts.id</a:t>
            </a:r>
          </a:p>
          <a:p>
            <a:pPr algn="l"/>
            <a:r>
              <a:rPr sz="1400">
                <a:solidFill>
                  <a:srgbClr val="E6E9EF"/>
                </a:solidFill>
                <a:latin typeface="Courier New"/>
              </a:rPr>
              <a:t>GROUP BY posts.id</a:t>
            </a:r>
          </a:p>
          <a:p>
            <a:pPr algn="l"/>
            <a:r>
              <a:rPr sz="1400">
                <a:solidFill>
                  <a:srgbClr val="E6E9EF"/>
                </a:solidFill>
                <a:latin typeface="Courier New"/>
              </a:rPr>
              <a:t>ORDER BY like_count DESC, posts.title</a:t>
            </a:r>
          </a:p>
          <a:p>
            <a:pPr algn="l"/>
            <a:r>
              <a:rPr sz="1400">
                <a:solidFill>
                  <a:srgbClr val="E6E9EF"/>
                </a:solidFill>
                <a:latin typeface="Courier New"/>
              </a:rPr>
              <a:t> </a:t>
            </a:r>
          </a:p>
          <a:p>
            <a:pPr algn="l"/>
            <a:r>
              <a:rPr sz="1400">
                <a:solidFill>
                  <a:srgbClr val="8B95A7"/>
                </a:solidFill>
                <a:latin typeface="Courier New"/>
              </a:rPr>
              <a:t>-- Mitt första surdegsbröd | 3</a:t>
            </a:r>
          </a:p>
          <a:p>
            <a:pPr algn="l"/>
            <a:r>
              <a:rPr sz="1400">
                <a:solidFill>
                  <a:srgbClr val="8B95A7"/>
                </a:solidFill>
                <a:latin typeface="Courier New"/>
              </a:rPr>
              <a:t>-- Andra försöket          | 2</a:t>
            </a:r>
          </a:p>
          <a:p>
            <a:pPr algn="l"/>
            <a:r>
              <a:rPr sz="1400">
                <a:solidFill>
                  <a:srgbClr val="8B95A7"/>
                </a:solidFill>
                <a:latin typeface="Courier New"/>
              </a:rPr>
              <a:t>-- Höstpromenad            | 2</a:t>
            </a:r>
          </a:p>
          <a:p>
            <a:pPr algn="l"/>
            <a:r>
              <a:rPr sz="1400">
                <a:solidFill>
                  <a:srgbClr val="8B95A7"/>
                </a:solidFill>
                <a:latin typeface="Courier New"/>
              </a:rPr>
              <a:t>-- Matchdag                | 1</a:t>
            </a:r>
          </a:p>
          <a:p>
            <a:pPr algn="l"/>
            <a:r>
              <a:rPr sz="1400">
                <a:solidFill>
                  <a:srgbClr val="8B95A7"/>
                </a:solidFill>
                <a:latin typeface="Courier New"/>
              </a:rPr>
              <a:t>-- Morgondimma             | 0</a:t>
            </a:r>
          </a:p>
          <a:p>
            <a:pPr algn="l"/>
            <a:r>
              <a:rPr sz="1400">
                <a:solidFill>
                  <a:srgbClr val="8B95A7"/>
                </a:solidFill>
                <a:latin typeface="Courier New"/>
              </a:rPr>
              <a:t>-- Tips på en bra bok?     | 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SQL – sammanfattning</a:t>
            </a:r>
          </a:p>
        </p:txBody>
      </p:sp>
      <p:sp>
        <p:nvSpPr>
          <p:cNvPr id="3" name="Rounded Rectangle 2"/>
          <p:cNvSpPr/>
          <p:nvPr/>
        </p:nvSpPr>
        <p:spPr>
          <a:xfrm>
            <a:off x="768096" y="1691640"/>
            <a:ext cx="10655503" cy="2409444"/>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r>
              <a:rPr sz="1800">
                <a:solidFill>
                  <a:srgbClr val="E6E9EF"/>
                </a:solidFill>
                <a:latin typeface="Courier New"/>
              </a:rPr>
              <a:t>SELECT   kolumner          -- vilka kolumner</a:t>
            </a:r>
          </a:p>
          <a:p>
            <a:pPr algn="l"/>
            <a:r>
              <a:rPr sz="1800">
                <a:solidFill>
                  <a:srgbClr val="E6E9EF"/>
                </a:solidFill>
                <a:latin typeface="Courier New"/>
              </a:rPr>
              <a:t>FROM     tabell            -- vilken tabell</a:t>
            </a:r>
          </a:p>
          <a:p>
            <a:pPr algn="l"/>
            <a:r>
              <a:rPr sz="1800">
                <a:solidFill>
                  <a:srgbClr val="E6E9EF"/>
                </a:solidFill>
                <a:latin typeface="Courier New"/>
              </a:rPr>
              <a:t>JOIN     tabell2 ON ...    -- koppla ihop via relationer</a:t>
            </a:r>
          </a:p>
          <a:p>
            <a:pPr algn="l"/>
            <a:r>
              <a:rPr sz="1800">
                <a:solidFill>
                  <a:srgbClr val="E6E9EF"/>
                </a:solidFill>
                <a:latin typeface="Courier New"/>
              </a:rPr>
              <a:t>WHERE    villkor           -- filtrera rader</a:t>
            </a:r>
          </a:p>
          <a:p>
            <a:pPr algn="l"/>
            <a:r>
              <a:rPr sz="1800">
                <a:solidFill>
                  <a:srgbClr val="E6E9EF"/>
                </a:solidFill>
                <a:latin typeface="Courier New"/>
              </a:rPr>
              <a:t>GROUP BY kolumn            -- slå ihop till grupper</a:t>
            </a:r>
          </a:p>
          <a:p>
            <a:pPr algn="l"/>
            <a:r>
              <a:rPr sz="1800">
                <a:solidFill>
                  <a:srgbClr val="E6E9EF"/>
                </a:solidFill>
                <a:latin typeface="Courier New"/>
              </a:rPr>
              <a:t>ORDER BY kolumn DESC       -- sortera</a:t>
            </a:r>
          </a:p>
          <a:p>
            <a:pPr algn="l"/>
            <a:r>
              <a:rPr sz="1800">
                <a:solidFill>
                  <a:srgbClr val="E6E9EF"/>
                </a:solidFill>
                <a:latin typeface="Courier New"/>
              </a:rPr>
              <a:t>LIMIT    10                -- bara de första raderna</a:t>
            </a:r>
          </a:p>
        </p:txBody>
      </p:sp>
      <p:sp>
        <p:nvSpPr>
          <p:cNvPr id="4" name="TextBox 3"/>
          <p:cNvSpPr txBox="1"/>
          <p:nvPr/>
        </p:nvSpPr>
        <p:spPr>
          <a:xfrm>
            <a:off x="768096" y="4283964"/>
            <a:ext cx="10655503" cy="640080"/>
          </a:xfrm>
          <a:prstGeom prst="rect">
            <a:avLst/>
          </a:prstGeom>
          <a:noFill/>
        </p:spPr>
        <p:txBody>
          <a:bodyPr wrap="square" lIns="0" tIns="0" rIns="0" bIns="0" anchor="t">
            <a:spAutoFit/>
          </a:bodyPr>
          <a:lstStyle/>
          <a:p>
            <a:pPr algn="l">
              <a:spcAft>
                <a:spcPts val="800"/>
              </a:spcAft>
            </a:pPr>
            <a:r>
              <a:rPr sz="1600" b="0">
                <a:solidFill>
                  <a:srgbClr val="595959"/>
                </a:solidFill>
              </a:rPr>
              <a:t>Delarna skrivs alltid i den här ordningen.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SQL och View collections</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571500"/>
          </a:xfrm>
          <a:prstGeom prst="rect">
            <a:avLst/>
          </a:prstGeom>
          <a:noFill/>
        </p:spPr>
        <p:txBody>
          <a:bodyPr wrap="square" lIns="0" tIns="0" rIns="0" bIns="0" anchor="t">
            <a:spAutoFit/>
          </a:bodyPr>
          <a:lstStyle/>
          <a:p>
            <a:pPr algn="l">
              <a:spcAft>
                <a:spcPts val="800"/>
              </a:spcAft>
            </a:pPr>
            <a:r>
              <a:rPr sz="1600" b="1">
                <a:solidFill>
                  <a:srgbClr val="8A5A00"/>
                </a:solidFill>
              </a:rPr>
              <a:t>7.1</a:t>
            </a:r>
          </a:p>
        </p:txBody>
      </p:sp>
      <p:sp>
        <p:nvSpPr>
          <p:cNvPr id="5" name="TextBox 4"/>
          <p:cNvSpPr txBox="1"/>
          <p:nvPr/>
        </p:nvSpPr>
        <p:spPr>
          <a:xfrm>
            <a:off x="1636776" y="1691640"/>
            <a:ext cx="9786823" cy="571500"/>
          </a:xfrm>
          <a:prstGeom prst="rect">
            <a:avLst/>
          </a:prstGeom>
          <a:noFill/>
        </p:spPr>
        <p:txBody>
          <a:bodyPr wrap="square" lIns="0" tIns="0" rIns="0" bIns="0" anchor="t">
            <a:spAutoFit/>
          </a:bodyPr>
          <a:lstStyle/>
          <a:p>
            <a:pPr algn="l">
              <a:spcAft>
                <a:spcPts val="800"/>
              </a:spcAft>
            </a:pPr>
            <a:r>
              <a:rPr sz="1600" b="0"/>
              <a:t>Titlarna på alla inlägg som anna har skrivit.</a:t>
            </a:r>
          </a:p>
        </p:txBody>
      </p:sp>
      <p:sp>
        <p:nvSpPr>
          <p:cNvPr id="6" name="TextBox 5"/>
          <p:cNvSpPr txBox="1"/>
          <p:nvPr/>
        </p:nvSpPr>
        <p:spPr>
          <a:xfrm>
            <a:off x="768096" y="2263140"/>
            <a:ext cx="822960" cy="571500"/>
          </a:xfrm>
          <a:prstGeom prst="rect">
            <a:avLst/>
          </a:prstGeom>
          <a:noFill/>
        </p:spPr>
        <p:txBody>
          <a:bodyPr wrap="square" lIns="0" tIns="0" rIns="0" bIns="0" anchor="t">
            <a:spAutoFit/>
          </a:bodyPr>
          <a:lstStyle/>
          <a:p>
            <a:pPr algn="l">
              <a:spcAft>
                <a:spcPts val="800"/>
              </a:spcAft>
            </a:pPr>
            <a:r>
              <a:rPr sz="1600" b="1">
                <a:solidFill>
                  <a:srgbClr val="8A5A00"/>
                </a:solidFill>
              </a:rPr>
              <a:t>7.2</a:t>
            </a:r>
          </a:p>
        </p:txBody>
      </p:sp>
      <p:sp>
        <p:nvSpPr>
          <p:cNvPr id="7" name="TextBox 6"/>
          <p:cNvSpPr txBox="1"/>
          <p:nvPr/>
        </p:nvSpPr>
        <p:spPr>
          <a:xfrm>
            <a:off x="1636776" y="2263140"/>
            <a:ext cx="9786823" cy="571500"/>
          </a:xfrm>
          <a:prstGeom prst="rect">
            <a:avLst/>
          </a:prstGeom>
          <a:noFill/>
        </p:spPr>
        <p:txBody>
          <a:bodyPr wrap="square" lIns="0" tIns="0" rIns="0" bIns="0" anchor="t">
            <a:spAutoFit/>
          </a:bodyPr>
          <a:lstStyle/>
          <a:p>
            <a:pPr algn="l">
              <a:spcAft>
                <a:spcPts val="800"/>
              </a:spcAft>
            </a:pPr>
            <a:r>
              <a:rPr sz="1600" b="0"/>
              <a:t>Alla kommentarer med text och användarnamnet på den som skrev.</a:t>
            </a:r>
          </a:p>
        </p:txBody>
      </p:sp>
      <p:sp>
        <p:nvSpPr>
          <p:cNvPr id="8" name="TextBox 7"/>
          <p:cNvSpPr txBox="1"/>
          <p:nvPr/>
        </p:nvSpPr>
        <p:spPr>
          <a:xfrm>
            <a:off x="768096" y="2834640"/>
            <a:ext cx="822960" cy="571500"/>
          </a:xfrm>
          <a:prstGeom prst="rect">
            <a:avLst/>
          </a:prstGeom>
          <a:noFill/>
        </p:spPr>
        <p:txBody>
          <a:bodyPr wrap="square" lIns="0" tIns="0" rIns="0" bIns="0" anchor="t">
            <a:spAutoFit/>
          </a:bodyPr>
          <a:lstStyle/>
          <a:p>
            <a:pPr algn="l">
              <a:spcAft>
                <a:spcPts val="800"/>
              </a:spcAft>
            </a:pPr>
            <a:r>
              <a:rPr sz="1600" b="1">
                <a:solidFill>
                  <a:srgbClr val="8A5A00"/>
                </a:solidFill>
              </a:rPr>
              <a:t>7.3</a:t>
            </a:r>
          </a:p>
        </p:txBody>
      </p:sp>
      <p:sp>
        <p:nvSpPr>
          <p:cNvPr id="9" name="TextBox 8"/>
          <p:cNvSpPr txBox="1"/>
          <p:nvPr/>
        </p:nvSpPr>
        <p:spPr>
          <a:xfrm>
            <a:off x="1636776" y="2834640"/>
            <a:ext cx="9786823" cy="571500"/>
          </a:xfrm>
          <a:prstGeom prst="rect">
            <a:avLst/>
          </a:prstGeom>
          <a:noFill/>
        </p:spPr>
        <p:txBody>
          <a:bodyPr wrap="square" lIns="0" tIns="0" rIns="0" bIns="0" anchor="t">
            <a:spAutoFit/>
          </a:bodyPr>
          <a:lstStyle/>
          <a:p>
            <a:pPr algn="l">
              <a:spcAft>
                <a:spcPts val="800"/>
              </a:spcAft>
            </a:pPr>
            <a:r>
              <a:rPr sz="1600" b="0"/>
              <a:t>Antal kommentarer per inlägg (inlägg utan kommentarer visar 0).</a:t>
            </a:r>
          </a:p>
        </p:txBody>
      </p:sp>
      <p:sp>
        <p:nvSpPr>
          <p:cNvPr id="10" name="TextBox 9"/>
          <p:cNvSpPr txBox="1"/>
          <p:nvPr/>
        </p:nvSpPr>
        <p:spPr>
          <a:xfrm>
            <a:off x="768096" y="3406140"/>
            <a:ext cx="822960" cy="571500"/>
          </a:xfrm>
          <a:prstGeom prst="rect">
            <a:avLst/>
          </a:prstGeom>
          <a:noFill/>
        </p:spPr>
        <p:txBody>
          <a:bodyPr wrap="square" lIns="0" tIns="0" rIns="0" bIns="0" anchor="t">
            <a:spAutoFit/>
          </a:bodyPr>
          <a:lstStyle/>
          <a:p>
            <a:pPr algn="l">
              <a:spcAft>
                <a:spcPts val="800"/>
              </a:spcAft>
            </a:pPr>
            <a:r>
              <a:rPr sz="1600" b="1">
                <a:solidFill>
                  <a:srgbClr val="8A5A00"/>
                </a:solidFill>
              </a:rPr>
              <a:t>7.4</a:t>
            </a:r>
          </a:p>
        </p:txBody>
      </p:sp>
      <p:sp>
        <p:nvSpPr>
          <p:cNvPr id="11" name="TextBox 10"/>
          <p:cNvSpPr txBox="1"/>
          <p:nvPr/>
        </p:nvSpPr>
        <p:spPr>
          <a:xfrm>
            <a:off x="1636776" y="3406140"/>
            <a:ext cx="9786823" cy="571500"/>
          </a:xfrm>
          <a:prstGeom prst="rect">
            <a:avLst/>
          </a:prstGeom>
          <a:noFill/>
        </p:spPr>
        <p:txBody>
          <a:bodyPr wrap="square" lIns="0" tIns="0" rIns="0" bIns="0" anchor="t">
            <a:spAutoFit/>
          </a:bodyPr>
          <a:lstStyle/>
          <a:p>
            <a:pPr algn="l">
              <a:spcAft>
                <a:spcPts val="800"/>
              </a:spcAft>
            </a:pPr>
            <a:r>
              <a:rPr sz="1600" b="0"/>
              <a:t>Antal följare per användare.</a:t>
            </a:r>
          </a:p>
        </p:txBody>
      </p:sp>
      <p:sp>
        <p:nvSpPr>
          <p:cNvPr id="12" name="TextBox 11"/>
          <p:cNvSpPr txBox="1"/>
          <p:nvPr/>
        </p:nvSpPr>
        <p:spPr>
          <a:xfrm>
            <a:off x="768096" y="3977639"/>
            <a:ext cx="822960" cy="571500"/>
          </a:xfrm>
          <a:prstGeom prst="rect">
            <a:avLst/>
          </a:prstGeom>
          <a:noFill/>
        </p:spPr>
        <p:txBody>
          <a:bodyPr wrap="square" lIns="0" tIns="0" rIns="0" bIns="0" anchor="t">
            <a:spAutoFit/>
          </a:bodyPr>
          <a:lstStyle/>
          <a:p>
            <a:pPr algn="l">
              <a:spcAft>
                <a:spcPts val="800"/>
              </a:spcAft>
            </a:pPr>
            <a:r>
              <a:rPr sz="1600" b="1">
                <a:solidFill>
                  <a:srgbClr val="8A5A00"/>
                </a:solidFill>
              </a:rPr>
              <a:t>7.5</a:t>
            </a:r>
          </a:p>
        </p:txBody>
      </p:sp>
      <p:sp>
        <p:nvSpPr>
          <p:cNvPr id="13" name="TextBox 12"/>
          <p:cNvSpPr txBox="1"/>
          <p:nvPr/>
        </p:nvSpPr>
        <p:spPr>
          <a:xfrm>
            <a:off x="1636776" y="3977639"/>
            <a:ext cx="9786823" cy="571500"/>
          </a:xfrm>
          <a:prstGeom prst="rect">
            <a:avLst/>
          </a:prstGeom>
          <a:noFill/>
        </p:spPr>
        <p:txBody>
          <a:bodyPr wrap="square" lIns="0" tIns="0" rIns="0" bIns="0" anchor="t">
            <a:spAutoFit/>
          </a:bodyPr>
          <a:lstStyle/>
          <a:p>
            <a:pPr algn="l">
              <a:spcAft>
                <a:spcPts val="800"/>
              </a:spcAft>
            </a:pPr>
            <a:r>
              <a:rPr sz="1600" b="0"/>
              <a:t>Inlägg som saknar likes (LEFT JOIN + IS NULL).</a:t>
            </a:r>
          </a:p>
        </p:txBody>
      </p:sp>
      <p:sp>
        <p:nvSpPr>
          <p:cNvPr id="14" name="TextBox 13"/>
          <p:cNvSpPr txBox="1"/>
          <p:nvPr/>
        </p:nvSpPr>
        <p:spPr>
          <a:xfrm>
            <a:off x="768096" y="4549140"/>
            <a:ext cx="822960" cy="571500"/>
          </a:xfrm>
          <a:prstGeom prst="rect">
            <a:avLst/>
          </a:prstGeom>
          <a:noFill/>
        </p:spPr>
        <p:txBody>
          <a:bodyPr wrap="square" lIns="0" tIns="0" rIns="0" bIns="0" anchor="t">
            <a:spAutoFit/>
          </a:bodyPr>
          <a:lstStyle/>
          <a:p>
            <a:pPr algn="l">
              <a:spcAft>
                <a:spcPts val="800"/>
              </a:spcAft>
            </a:pPr>
            <a:r>
              <a:rPr sz="1600" b="1">
                <a:solidFill>
                  <a:srgbClr val="8A5A00"/>
                </a:solidFill>
              </a:rPr>
              <a:t>7.6</a:t>
            </a:r>
          </a:p>
        </p:txBody>
      </p:sp>
      <p:sp>
        <p:nvSpPr>
          <p:cNvPr id="15" name="TextBox 14"/>
          <p:cNvSpPr txBox="1"/>
          <p:nvPr/>
        </p:nvSpPr>
        <p:spPr>
          <a:xfrm>
            <a:off x="1636776" y="4549140"/>
            <a:ext cx="9786823" cy="571500"/>
          </a:xfrm>
          <a:prstGeom prst="rect">
            <a:avLst/>
          </a:prstGeom>
          <a:noFill/>
        </p:spPr>
        <p:txBody>
          <a:bodyPr wrap="square" lIns="0" tIns="0" rIns="0" bIns="0" anchor="t">
            <a:spAutoFit/>
          </a:bodyPr>
          <a:lstStyle/>
          <a:p>
            <a:pPr algn="l">
              <a:spcAft>
                <a:spcPts val="800"/>
              </a:spcAft>
            </a:pPr>
            <a:r>
              <a:rPr sz="1600" b="0"/>
              <a:t>Annas flöde: inlägg från dem anna följer.</a:t>
            </a:r>
          </a:p>
        </p:txBody>
      </p:sp>
      <p:sp>
        <p:nvSpPr>
          <p:cNvPr id="16" name="TextBox 15"/>
          <p:cNvSpPr txBox="1"/>
          <p:nvPr/>
        </p:nvSpPr>
        <p:spPr>
          <a:xfrm>
            <a:off x="768096" y="5120640"/>
            <a:ext cx="822960" cy="571500"/>
          </a:xfrm>
          <a:prstGeom prst="rect">
            <a:avLst/>
          </a:prstGeom>
          <a:noFill/>
        </p:spPr>
        <p:txBody>
          <a:bodyPr wrap="square" lIns="0" tIns="0" rIns="0" bIns="0" anchor="t">
            <a:spAutoFit/>
          </a:bodyPr>
          <a:lstStyle/>
          <a:p>
            <a:pPr algn="l">
              <a:spcAft>
                <a:spcPts val="800"/>
              </a:spcAft>
            </a:pPr>
            <a:r>
              <a:rPr sz="1600" b="1">
                <a:solidFill>
                  <a:srgbClr val="8A5A00"/>
                </a:solidFill>
              </a:rPr>
              <a:t>7.7</a:t>
            </a:r>
          </a:p>
        </p:txBody>
      </p:sp>
      <p:sp>
        <p:nvSpPr>
          <p:cNvPr id="17" name="TextBox 16"/>
          <p:cNvSpPr txBox="1"/>
          <p:nvPr/>
        </p:nvSpPr>
        <p:spPr>
          <a:xfrm>
            <a:off x="1636776" y="5120640"/>
            <a:ext cx="9786823" cy="571500"/>
          </a:xfrm>
          <a:prstGeom prst="rect">
            <a:avLst/>
          </a:prstGeom>
          <a:noFill/>
        </p:spPr>
        <p:txBody>
          <a:bodyPr wrap="square" lIns="0" tIns="0" rIns="0" bIns="0" anchor="t">
            <a:spAutoFit/>
          </a:bodyPr>
          <a:lstStyle/>
          <a:p>
            <a:pPr algn="l">
              <a:spcAft>
                <a:spcPts val="800"/>
              </a:spcAft>
            </a:pPr>
            <a:r>
              <a:rPr sz="1600" b="0"/>
              <a:t>Utmaning: vilka har gillat annas inlägg? (users två gånger med AS)</a:t>
            </a:r>
          </a:p>
        </p:txBody>
      </p:sp>
      <p:sp>
        <p:nvSpPr>
          <p:cNvPr id="18" name="TextBox 17"/>
          <p:cNvSpPr txBox="1"/>
          <p:nvPr/>
        </p:nvSpPr>
        <p:spPr>
          <a:xfrm>
            <a:off x="768096" y="5692140"/>
            <a:ext cx="822960" cy="571500"/>
          </a:xfrm>
          <a:prstGeom prst="rect">
            <a:avLst/>
          </a:prstGeom>
          <a:noFill/>
        </p:spPr>
        <p:txBody>
          <a:bodyPr wrap="square" lIns="0" tIns="0" rIns="0" bIns="0" anchor="t">
            <a:spAutoFit/>
          </a:bodyPr>
          <a:lstStyle/>
          <a:p>
            <a:pPr algn="l">
              <a:spcAft>
                <a:spcPts val="800"/>
              </a:spcAft>
            </a:pPr>
            <a:r>
              <a:rPr sz="1600" b="1">
                <a:solidFill>
                  <a:srgbClr val="8A5A00"/>
                </a:solidFill>
              </a:rPr>
              <a:t>7.8</a:t>
            </a:r>
          </a:p>
        </p:txBody>
      </p:sp>
      <p:sp>
        <p:nvSpPr>
          <p:cNvPr id="19" name="TextBox 18"/>
          <p:cNvSpPr txBox="1"/>
          <p:nvPr/>
        </p:nvSpPr>
        <p:spPr>
          <a:xfrm>
            <a:off x="1636776" y="5692140"/>
            <a:ext cx="9786823" cy="571500"/>
          </a:xfrm>
          <a:prstGeom prst="rect">
            <a:avLst/>
          </a:prstGeom>
          <a:noFill/>
        </p:spPr>
        <p:txBody>
          <a:bodyPr wrap="square" lIns="0" tIns="0" rIns="0" bIns="0" anchor="t">
            <a:spAutoFit/>
          </a:bodyPr>
          <a:lstStyle/>
          <a:p>
            <a:pPr algn="l">
              <a:spcAft>
                <a:spcPts val="800"/>
              </a:spcAft>
            </a:pPr>
            <a:r>
              <a:rPr sz="1600" b="0"/>
              <a:t>Ert projekt: en view med JOIN och en med COUNT + GROUP BY.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Inloggning och API-regler</a:t>
            </a:r>
          </a:p>
        </p:txBody>
      </p:sp>
      <p:graphicFrame>
        <p:nvGraphicFramePr>
          <p:cNvPr id="3" name="Table 2"/>
          <p:cNvGraphicFramePr>
            <a:graphicFrameLocks noGrp="1"/>
          </p:cNvGraphicFramePr>
          <p:nvPr/>
        </p:nvGraphicFramePr>
        <p:xfrm>
          <a:off x="768096" y="1691640"/>
          <a:ext cx="5120640" cy="2743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457200">
                <a:tc>
                  <a:txBody>
                    <a:bodyPr/>
                    <a:lstStyle/>
                    <a:p>
                      <a:r>
                        <a:rPr sz="1600" b="1"/>
                        <a:t>Regel</a:t>
                      </a:r>
                    </a:p>
                  </a:txBody>
                  <a:tcPr marT="36576" marB="36576" anchor="ctr"/>
                </a:tc>
                <a:tc>
                  <a:txBody>
                    <a:bodyPr/>
                    <a:lstStyle/>
                    <a:p>
                      <a:r>
                        <a:rPr sz="1600" b="1"/>
                        <a:t>Gäller när någon vill …</a:t>
                      </a:r>
                    </a:p>
                  </a:txBody>
                  <a:tcPr marT="36576" marB="36576" anchor="ctr"/>
                </a:tc>
                <a:extLst>
                  <a:ext uri="{0D108BD9-81ED-4DB2-BD59-A6C34878D82A}">
                    <a16:rowId xmlns:a16="http://schemas.microsoft.com/office/drawing/2014/main" val="10000"/>
                  </a:ext>
                </a:extLst>
              </a:tr>
              <a:tr h="457200">
                <a:tc>
                  <a:txBody>
                    <a:bodyPr/>
                    <a:lstStyle/>
                    <a:p>
                      <a:r>
                        <a:rPr sz="1600"/>
                        <a:t>List/Search</a:t>
                      </a:r>
                    </a:p>
                  </a:txBody>
                  <a:tcPr marT="36576" marB="36576" anchor="ctr"/>
                </a:tc>
                <a:tc>
                  <a:txBody>
                    <a:bodyPr/>
                    <a:lstStyle/>
                    <a:p>
                      <a:r>
                        <a:rPr sz="1600"/>
                        <a:t>se en lista</a:t>
                      </a:r>
                    </a:p>
                  </a:txBody>
                  <a:tcPr marT="36576" marB="36576" anchor="ctr"/>
                </a:tc>
                <a:extLst>
                  <a:ext uri="{0D108BD9-81ED-4DB2-BD59-A6C34878D82A}">
                    <a16:rowId xmlns:a16="http://schemas.microsoft.com/office/drawing/2014/main" val="10001"/>
                  </a:ext>
                </a:extLst>
              </a:tr>
              <a:tr h="457200">
                <a:tc>
                  <a:txBody>
                    <a:bodyPr/>
                    <a:lstStyle/>
                    <a:p>
                      <a:r>
                        <a:rPr sz="1600"/>
                        <a:t>View</a:t>
                      </a:r>
                    </a:p>
                  </a:txBody>
                  <a:tcPr marT="36576" marB="36576" anchor="ctr"/>
                </a:tc>
                <a:tc>
                  <a:txBody>
                    <a:bodyPr/>
                    <a:lstStyle/>
                    <a:p>
                      <a:r>
                        <a:rPr sz="1600"/>
                        <a:t>se en record</a:t>
                      </a:r>
                    </a:p>
                  </a:txBody>
                  <a:tcPr marT="36576" marB="36576" anchor="ctr"/>
                </a:tc>
                <a:extLst>
                  <a:ext uri="{0D108BD9-81ED-4DB2-BD59-A6C34878D82A}">
                    <a16:rowId xmlns:a16="http://schemas.microsoft.com/office/drawing/2014/main" val="10002"/>
                  </a:ext>
                </a:extLst>
              </a:tr>
              <a:tr h="457200">
                <a:tc>
                  <a:txBody>
                    <a:bodyPr/>
                    <a:lstStyle/>
                    <a:p>
                      <a:r>
                        <a:rPr sz="1600"/>
                        <a:t>Create</a:t>
                      </a:r>
                    </a:p>
                  </a:txBody>
                  <a:tcPr marT="36576" marB="36576" anchor="ctr"/>
                </a:tc>
                <a:tc>
                  <a:txBody>
                    <a:bodyPr/>
                    <a:lstStyle/>
                    <a:p>
                      <a:r>
                        <a:rPr sz="1600"/>
                        <a:t>skapa</a:t>
                      </a:r>
                    </a:p>
                  </a:txBody>
                  <a:tcPr marT="36576" marB="36576" anchor="ctr"/>
                </a:tc>
                <a:extLst>
                  <a:ext uri="{0D108BD9-81ED-4DB2-BD59-A6C34878D82A}">
                    <a16:rowId xmlns:a16="http://schemas.microsoft.com/office/drawing/2014/main" val="10003"/>
                  </a:ext>
                </a:extLst>
              </a:tr>
              <a:tr h="457200">
                <a:tc>
                  <a:txBody>
                    <a:bodyPr/>
                    <a:lstStyle/>
                    <a:p>
                      <a:r>
                        <a:rPr sz="1600"/>
                        <a:t>Update</a:t>
                      </a:r>
                    </a:p>
                  </a:txBody>
                  <a:tcPr marT="36576" marB="36576" anchor="ctr"/>
                </a:tc>
                <a:tc>
                  <a:txBody>
                    <a:bodyPr/>
                    <a:lstStyle/>
                    <a:p>
                      <a:r>
                        <a:rPr sz="1600"/>
                        <a:t>ändra</a:t>
                      </a:r>
                    </a:p>
                  </a:txBody>
                  <a:tcPr marT="36576" marB="36576" anchor="ctr"/>
                </a:tc>
                <a:extLst>
                  <a:ext uri="{0D108BD9-81ED-4DB2-BD59-A6C34878D82A}">
                    <a16:rowId xmlns:a16="http://schemas.microsoft.com/office/drawing/2014/main" val="10004"/>
                  </a:ext>
                </a:extLst>
              </a:tr>
              <a:tr h="457200">
                <a:tc>
                  <a:txBody>
                    <a:bodyPr/>
                    <a:lstStyle/>
                    <a:p>
                      <a:r>
                        <a:rPr sz="1600"/>
                        <a:t>Delete</a:t>
                      </a:r>
                    </a:p>
                  </a:txBody>
                  <a:tcPr marT="36576" marB="36576" anchor="ctr"/>
                </a:tc>
                <a:tc>
                  <a:txBody>
                    <a:bodyPr/>
                    <a:lstStyle/>
                    <a:p>
                      <a:r>
                        <a:rPr sz="1600"/>
                        <a:t>ta bort</a:t>
                      </a:r>
                    </a:p>
                  </a:txBody>
                  <a:tcPr marT="36576" marB="36576" anchor="ctr"/>
                </a:tc>
                <a:extLst>
                  <a:ext uri="{0D108BD9-81ED-4DB2-BD59-A6C34878D82A}">
                    <a16:rowId xmlns:a16="http://schemas.microsoft.com/office/drawing/2014/main" val="10005"/>
                  </a:ext>
                </a:extLst>
              </a:tr>
            </a:tbl>
          </a:graphicData>
        </a:graphic>
      </p:graphicFrame>
      <p:graphicFrame>
        <p:nvGraphicFramePr>
          <p:cNvPr id="4" name="Table 3"/>
          <p:cNvGraphicFramePr>
            <a:graphicFrameLocks noGrp="1"/>
          </p:cNvGraphicFramePr>
          <p:nvPr/>
        </p:nvGraphicFramePr>
        <p:xfrm>
          <a:off x="6400800" y="1691640"/>
          <a:ext cx="5029200" cy="18288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457200">
                <a:tc>
                  <a:txBody>
                    <a:bodyPr/>
                    <a:lstStyle/>
                    <a:p>
                      <a:r>
                        <a:rPr sz="1600" b="1"/>
                        <a:t>Inställning</a:t>
                      </a:r>
                    </a:p>
                  </a:txBody>
                  <a:tcPr marT="36576" marB="36576" anchor="ctr"/>
                </a:tc>
                <a:tc>
                  <a:txBody>
                    <a:bodyPr/>
                    <a:lstStyle/>
                    <a:p>
                      <a:r>
                        <a:rPr sz="1600" b="1"/>
                        <a:t>Vem får?</a:t>
                      </a:r>
                    </a:p>
                  </a:txBody>
                  <a:tcPr marT="36576" marB="36576" anchor="ctr"/>
                </a:tc>
                <a:extLst>
                  <a:ext uri="{0D108BD9-81ED-4DB2-BD59-A6C34878D82A}">
                    <a16:rowId xmlns:a16="http://schemas.microsoft.com/office/drawing/2014/main" val="10000"/>
                  </a:ext>
                </a:extLst>
              </a:tr>
              <a:tr h="457200">
                <a:tc>
                  <a:txBody>
                    <a:bodyPr/>
                    <a:lstStyle/>
                    <a:p>
                      <a:r>
                        <a:rPr sz="1600"/>
                        <a:t>🔒 Låst</a:t>
                      </a:r>
                    </a:p>
                  </a:txBody>
                  <a:tcPr marT="36576" marB="36576" anchor="ctr"/>
                </a:tc>
                <a:tc>
                  <a:txBody>
                    <a:bodyPr/>
                    <a:lstStyle/>
                    <a:p>
                      <a:r>
                        <a:rPr sz="1600"/>
                        <a:t>Bara superusers (standard)</a:t>
                      </a:r>
                    </a:p>
                  </a:txBody>
                  <a:tcPr marT="36576" marB="36576" anchor="ctr"/>
                </a:tc>
                <a:extLst>
                  <a:ext uri="{0D108BD9-81ED-4DB2-BD59-A6C34878D82A}">
                    <a16:rowId xmlns:a16="http://schemas.microsoft.com/office/drawing/2014/main" val="10001"/>
                  </a:ext>
                </a:extLst>
              </a:tr>
              <a:tr h="457200">
                <a:tc>
                  <a:txBody>
                    <a:bodyPr/>
                    <a:lstStyle/>
                    <a:p>
                      <a:r>
                        <a:rPr sz="1600"/>
                        <a:t>Tom</a:t>
                      </a:r>
                    </a:p>
                  </a:txBody>
                  <a:tcPr marT="36576" marB="36576" anchor="ctr"/>
                </a:tc>
                <a:tc>
                  <a:txBody>
                    <a:bodyPr/>
                    <a:lstStyle/>
                    <a:p>
                      <a:r>
                        <a:rPr sz="1600"/>
                        <a:t>Alla – även utloggade!</a:t>
                      </a:r>
                    </a:p>
                  </a:txBody>
                  <a:tcPr marT="36576" marB="36576" anchor="ctr"/>
                </a:tc>
                <a:extLst>
                  <a:ext uri="{0D108BD9-81ED-4DB2-BD59-A6C34878D82A}">
                    <a16:rowId xmlns:a16="http://schemas.microsoft.com/office/drawing/2014/main" val="10002"/>
                  </a:ext>
                </a:extLst>
              </a:tr>
              <a:tr h="457200">
                <a:tc>
                  <a:txBody>
                    <a:bodyPr/>
                    <a:lstStyle/>
                    <a:p>
                      <a:r>
                        <a:rPr sz="1600"/>
                        <a:t>Villkor</a:t>
                      </a:r>
                    </a:p>
                  </a:txBody>
                  <a:tcPr marT="36576" marB="36576" anchor="ctr"/>
                </a:tc>
                <a:tc>
                  <a:txBody>
                    <a:bodyPr/>
                    <a:lstStyle/>
                    <a:p>
                      <a:r>
                        <a:rPr sz="1600"/>
                        <a:t>Bara om villkoret stämmer</a:t>
                      </a:r>
                    </a:p>
                  </a:txBody>
                  <a:tcPr marT="36576" marB="36576" anchor="ctr"/>
                </a:tc>
                <a:extLst>
                  <a:ext uri="{0D108BD9-81ED-4DB2-BD59-A6C34878D82A}">
                    <a16:rowId xmlns:a16="http://schemas.microsoft.com/office/drawing/2014/main" val="10003"/>
                  </a:ext>
                </a:extLst>
              </a:tr>
            </a:tbl>
          </a:graphicData>
        </a:graphic>
      </p:graphicFrame>
      <p:sp>
        <p:nvSpPr>
          <p:cNvPr id="5" name="TextBox 4"/>
          <p:cNvSpPr txBox="1"/>
          <p:nvPr/>
        </p:nvSpPr>
        <p:spPr>
          <a:xfrm>
            <a:off x="6400800" y="3794760"/>
            <a:ext cx="5029200" cy="1371600"/>
          </a:xfrm>
          <a:prstGeom prst="rect">
            <a:avLst/>
          </a:prstGeom>
          <a:noFill/>
        </p:spPr>
        <p:txBody>
          <a:bodyPr wrap="square" lIns="0" tIns="0" rIns="0" bIns="0" anchor="t">
            <a:spAutoFit/>
          </a:bodyPr>
          <a:lstStyle/>
          <a:p>
            <a:pPr algn="l">
              <a:spcAft>
                <a:spcPts val="600"/>
              </a:spcAft>
            </a:pPr>
            <a:r>
              <a:rPr sz="1500" b="0">
                <a:solidFill>
                  <a:srgbClr val="595959"/>
                </a:solidFill>
              </a:rPr>
              <a:t>Superuser = du i Dashboard. Reglerna gäller inte där.</a:t>
            </a:r>
          </a:p>
          <a:p>
            <a:pPr algn="l">
              <a:spcAft>
                <a:spcPts val="800"/>
              </a:spcAft>
            </a:pPr>
            <a:r>
              <a:rPr sz="1500" b="0">
                <a:solidFill>
                  <a:srgbClr val="595959"/>
                </a:solidFill>
              </a:rPr>
              <a:t>Användare = records i users. De följer reglerna.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API-regler för Kvittra</a:t>
            </a:r>
          </a:p>
        </p:txBody>
      </p:sp>
      <p:graphicFrame>
        <p:nvGraphicFramePr>
          <p:cNvPr id="3" name="Table 2"/>
          <p:cNvGraphicFramePr>
            <a:graphicFrameLocks noGrp="1"/>
          </p:cNvGraphicFramePr>
          <p:nvPr/>
        </p:nvGraphicFramePr>
        <p:xfrm>
          <a:off x="768096" y="1691640"/>
          <a:ext cx="10652760" cy="2834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566928">
                <a:tc>
                  <a:txBody>
                    <a:bodyPr/>
                    <a:lstStyle/>
                    <a:p>
                      <a:r>
                        <a:rPr sz="1200" b="1"/>
                        <a:t>Regel</a:t>
                      </a:r>
                    </a:p>
                  </a:txBody>
                  <a:tcPr marT="36576" marB="36576" anchor="ctr"/>
                </a:tc>
                <a:tc>
                  <a:txBody>
                    <a:bodyPr/>
                    <a:lstStyle/>
                    <a:p>
                      <a:r>
                        <a:rPr sz="1200" b="1"/>
                        <a:t>posts</a:t>
                      </a:r>
                    </a:p>
                  </a:txBody>
                  <a:tcPr marT="36576" marB="36576" anchor="ctr"/>
                </a:tc>
                <a:tc>
                  <a:txBody>
                    <a:bodyPr/>
                    <a:lstStyle/>
                    <a:p>
                      <a:r>
                        <a:rPr sz="1200" b="1"/>
                        <a:t>likes</a:t>
                      </a:r>
                    </a:p>
                  </a:txBody>
                  <a:tcPr marT="36576" marB="36576" anchor="ctr"/>
                </a:tc>
                <a:tc>
                  <a:txBody>
                    <a:bodyPr/>
                    <a:lstStyle/>
                    <a:p>
                      <a:r>
                        <a:rPr sz="1200" b="1"/>
                        <a:t>follows</a:t>
                      </a:r>
                    </a:p>
                  </a:txBody>
                  <a:tcPr marT="36576" marB="36576" anchor="ctr"/>
                </a:tc>
                <a:extLst>
                  <a:ext uri="{0D108BD9-81ED-4DB2-BD59-A6C34878D82A}">
                    <a16:rowId xmlns:a16="http://schemas.microsoft.com/office/drawing/2014/main" val="10000"/>
                  </a:ext>
                </a:extLst>
              </a:tr>
              <a:tr h="566928">
                <a:tc>
                  <a:txBody>
                    <a:bodyPr/>
                    <a:lstStyle/>
                    <a:p>
                      <a:r>
                        <a:rPr sz="1200"/>
                        <a:t>List / View</a:t>
                      </a:r>
                    </a:p>
                  </a:txBody>
                  <a:tcPr marT="36576" marB="36576" anchor="ctr"/>
                </a:tc>
                <a:tc>
                  <a:txBody>
                    <a:bodyPr/>
                    <a:lstStyle/>
                    <a:p>
                      <a:r>
                        <a:rPr sz="1200">
                          <a:latin typeface="Courier New"/>
                        </a:rPr>
                        <a:t>@request.auth.id != ""</a:t>
                      </a:r>
                    </a:p>
                  </a:txBody>
                  <a:tcPr marT="36576" marB="36576" anchor="ctr"/>
                </a:tc>
                <a:tc>
                  <a:txBody>
                    <a:bodyPr/>
                    <a:lstStyle/>
                    <a:p>
                      <a:r>
                        <a:rPr sz="1200">
                          <a:latin typeface="Courier New"/>
                        </a:rPr>
                        <a:t>@request.auth.id != ""</a:t>
                      </a:r>
                    </a:p>
                  </a:txBody>
                  <a:tcPr marT="36576" marB="36576" anchor="ctr"/>
                </a:tc>
                <a:tc>
                  <a:txBody>
                    <a:bodyPr/>
                    <a:lstStyle/>
                    <a:p>
                      <a:r>
                        <a:rPr sz="1200">
                          <a:latin typeface="Courier New"/>
                        </a:rPr>
                        <a:t>@request.auth.id != ""</a:t>
                      </a:r>
                    </a:p>
                  </a:txBody>
                  <a:tcPr marT="36576" marB="36576" anchor="ctr"/>
                </a:tc>
                <a:extLst>
                  <a:ext uri="{0D108BD9-81ED-4DB2-BD59-A6C34878D82A}">
                    <a16:rowId xmlns:a16="http://schemas.microsoft.com/office/drawing/2014/main" val="10001"/>
                  </a:ext>
                </a:extLst>
              </a:tr>
              <a:tr h="566928">
                <a:tc>
                  <a:txBody>
                    <a:bodyPr/>
                    <a:lstStyle/>
                    <a:p>
                      <a:r>
                        <a:rPr sz="1200"/>
                        <a:t>Create</a:t>
                      </a:r>
                    </a:p>
                  </a:txBody>
                  <a:tcPr marT="36576" marB="36576" anchor="ctr"/>
                </a:tc>
                <a:tc>
                  <a:txBody>
                    <a:bodyPr/>
                    <a:lstStyle/>
                    <a:p>
                      <a:r>
                        <a:rPr sz="1200">
                          <a:latin typeface="Courier New"/>
                        </a:rPr>
                        <a:t>@request.body.author = @request.auth.id</a:t>
                      </a:r>
                    </a:p>
                  </a:txBody>
                  <a:tcPr marT="36576" marB="36576" anchor="ctr"/>
                </a:tc>
                <a:tc>
                  <a:txBody>
                    <a:bodyPr/>
                    <a:lstStyle/>
                    <a:p>
                      <a:r>
                        <a:rPr sz="1200">
                          <a:latin typeface="Courier New"/>
                        </a:rPr>
                        <a:t>@request.body.user = @request.auth.id</a:t>
                      </a:r>
                    </a:p>
                  </a:txBody>
                  <a:tcPr marT="36576" marB="36576" anchor="ctr"/>
                </a:tc>
                <a:tc>
                  <a:txBody>
                    <a:bodyPr/>
                    <a:lstStyle/>
                    <a:p>
                      <a:r>
                        <a:rPr sz="1200">
                          <a:latin typeface="Courier New"/>
                        </a:rPr>
                        <a:t>@request.body.follower = @request.auth.id</a:t>
                      </a:r>
                    </a:p>
                  </a:txBody>
                  <a:tcPr marT="36576" marB="36576" anchor="ctr"/>
                </a:tc>
                <a:extLst>
                  <a:ext uri="{0D108BD9-81ED-4DB2-BD59-A6C34878D82A}">
                    <a16:rowId xmlns:a16="http://schemas.microsoft.com/office/drawing/2014/main" val="10002"/>
                  </a:ext>
                </a:extLst>
              </a:tr>
              <a:tr h="566928">
                <a:tc>
                  <a:txBody>
                    <a:bodyPr/>
                    <a:lstStyle/>
                    <a:p>
                      <a:r>
                        <a:rPr sz="1200"/>
                        <a:t>Update</a:t>
                      </a:r>
                    </a:p>
                  </a:txBody>
                  <a:tcPr marT="36576" marB="36576" anchor="ctr"/>
                </a:tc>
                <a:tc>
                  <a:txBody>
                    <a:bodyPr/>
                    <a:lstStyle/>
                    <a:p>
                      <a:r>
                        <a:rPr sz="1200">
                          <a:latin typeface="Courier New"/>
                        </a:rPr>
                        <a:t>author = @request.auth.id</a:t>
                      </a:r>
                    </a:p>
                  </a:txBody>
                  <a:tcPr marT="36576" marB="36576" anchor="ctr"/>
                </a:tc>
                <a:tc>
                  <a:txBody>
                    <a:bodyPr/>
                    <a:lstStyle/>
                    <a:p>
                      <a:r>
                        <a:rPr sz="1200">
                          <a:latin typeface="Courier New"/>
                        </a:rPr>
                        <a:t>🔒 låst</a:t>
                      </a:r>
                    </a:p>
                  </a:txBody>
                  <a:tcPr marT="36576" marB="36576" anchor="ctr"/>
                </a:tc>
                <a:tc>
                  <a:txBody>
                    <a:bodyPr/>
                    <a:lstStyle/>
                    <a:p>
                      <a:r>
                        <a:rPr sz="1200">
                          <a:latin typeface="Courier New"/>
                        </a:rPr>
                        <a:t>🔒 låst</a:t>
                      </a:r>
                    </a:p>
                  </a:txBody>
                  <a:tcPr marT="36576" marB="36576" anchor="ctr"/>
                </a:tc>
                <a:extLst>
                  <a:ext uri="{0D108BD9-81ED-4DB2-BD59-A6C34878D82A}">
                    <a16:rowId xmlns:a16="http://schemas.microsoft.com/office/drawing/2014/main" val="10003"/>
                  </a:ext>
                </a:extLst>
              </a:tr>
              <a:tr h="566928">
                <a:tc>
                  <a:txBody>
                    <a:bodyPr/>
                    <a:lstStyle/>
                    <a:p>
                      <a:r>
                        <a:rPr sz="1200"/>
                        <a:t>Delete</a:t>
                      </a:r>
                    </a:p>
                  </a:txBody>
                  <a:tcPr marT="36576" marB="36576" anchor="ctr"/>
                </a:tc>
                <a:tc>
                  <a:txBody>
                    <a:bodyPr/>
                    <a:lstStyle/>
                    <a:p>
                      <a:r>
                        <a:rPr sz="1200">
                          <a:latin typeface="Courier New"/>
                        </a:rPr>
                        <a:t>author = @request.auth.id</a:t>
                      </a:r>
                    </a:p>
                  </a:txBody>
                  <a:tcPr marT="36576" marB="36576" anchor="ctr"/>
                </a:tc>
                <a:tc>
                  <a:txBody>
                    <a:bodyPr/>
                    <a:lstStyle/>
                    <a:p>
                      <a:r>
                        <a:rPr sz="1200">
                          <a:latin typeface="Courier New"/>
                        </a:rPr>
                        <a:t>user = @request.auth.id</a:t>
                      </a:r>
                    </a:p>
                  </a:txBody>
                  <a:tcPr marT="36576" marB="36576" anchor="ctr"/>
                </a:tc>
                <a:tc>
                  <a:txBody>
                    <a:bodyPr/>
                    <a:lstStyle/>
                    <a:p>
                      <a:r>
                        <a:rPr sz="1200">
                          <a:latin typeface="Courier New"/>
                        </a:rPr>
                        <a:t>follower = @request.auth.id</a:t>
                      </a:r>
                    </a:p>
                  </a:txBody>
                  <a:tcPr marT="36576" marB="36576" anchor="ctr"/>
                </a:tc>
                <a:extLst>
                  <a:ext uri="{0D108BD9-81ED-4DB2-BD59-A6C34878D82A}">
                    <a16:rowId xmlns:a16="http://schemas.microsoft.com/office/drawing/2014/main" val="10004"/>
                  </a:ext>
                </a:extLst>
              </a:tr>
            </a:tbl>
          </a:graphicData>
        </a:graphic>
      </p:graphicFrame>
      <p:sp>
        <p:nvSpPr>
          <p:cNvPr id="4" name="TextBox 3"/>
          <p:cNvSpPr txBox="1"/>
          <p:nvPr/>
        </p:nvSpPr>
        <p:spPr>
          <a:xfrm>
            <a:off x="768096" y="4754880"/>
            <a:ext cx="10655503" cy="1280160"/>
          </a:xfrm>
          <a:prstGeom prst="rect">
            <a:avLst/>
          </a:prstGeom>
          <a:noFill/>
        </p:spPr>
        <p:txBody>
          <a:bodyPr wrap="square" lIns="0" tIns="0" rIns="0" bIns="0" anchor="t">
            <a:spAutoFit/>
          </a:bodyPr>
          <a:lstStyle/>
          <a:p>
            <a:pPr algn="l">
              <a:spcAft>
                <a:spcPts val="600"/>
              </a:spcAft>
            </a:pPr>
            <a:r>
              <a:rPr sz="1600" b="0"/>
              <a:t>@request.auth = den inloggade.   @request.body = det som skickas in.</a:t>
            </a:r>
          </a:p>
          <a:p>
            <a:pPr algn="l">
              <a:spcAft>
                <a:spcPts val="800"/>
              </a:spcAft>
            </a:pPr>
            <a:r>
              <a:rPr sz="1500" b="0">
                <a:solidFill>
                  <a:srgbClr val="595959"/>
                </a:solidFill>
              </a:rPr>
              <a:t>comments har samma regler som posts. users: inloggade får se, man får bara ändra sig själv (id = @request.auth.id).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API-regler</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8.1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Sätt List-regeln för posts till tom och öppna 127.0.0.1:8090/api/collections/posts/records. Ändra till @request.auth.id != "" och ladda om.</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8.2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Skriv in reglerna för alla fem collections.</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8.3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Varför räcker det inte att Create för posts är @request.auth.id != ""?</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8.4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Bertil vill ta bort Annas like. Vilken regel stoppar honom?</a:t>
            </a:r>
          </a:p>
        </p:txBody>
      </p:sp>
      <p:sp>
        <p:nvSpPr>
          <p:cNvPr id="12" name="TextBox 11"/>
          <p:cNvSpPr txBox="1"/>
          <p:nvPr/>
        </p:nvSpPr>
        <p:spPr>
          <a:xfrm>
            <a:off x="768096" y="480060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8.5</a:t>
            </a:r>
          </a:p>
        </p:txBody>
      </p:sp>
      <p:sp>
        <p:nvSpPr>
          <p:cNvPr id="13" name="TextBox 12"/>
          <p:cNvSpPr txBox="1"/>
          <p:nvPr/>
        </p:nvSpPr>
        <p:spPr>
          <a:xfrm>
            <a:off x="1636776" y="4800600"/>
            <a:ext cx="9786823" cy="777240"/>
          </a:xfrm>
          <a:prstGeom prst="rect">
            <a:avLst/>
          </a:prstGeom>
          <a:noFill/>
        </p:spPr>
        <p:txBody>
          <a:bodyPr wrap="square" lIns="0" tIns="0" rIns="0" bIns="0" anchor="t">
            <a:spAutoFit/>
          </a:bodyPr>
          <a:lstStyle/>
          <a:p>
            <a:pPr algn="l">
              <a:spcAft>
                <a:spcPts val="800"/>
              </a:spcAft>
            </a:pPr>
            <a:r>
              <a:rPr sz="1700" b="0"/>
              <a:t>Ert projekt: vem får se, skapa, ändra och ta bort i varje tabell?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 name="TextBox 1"/>
          <p:cNvSpPr txBox="1"/>
          <p:nvPr/>
        </p:nvSpPr>
        <p:spPr>
          <a:xfrm>
            <a:off x="768096" y="914400"/>
            <a:ext cx="3200400" cy="2011680"/>
          </a:xfrm>
          <a:prstGeom prst="rect">
            <a:avLst/>
          </a:prstGeom>
          <a:noFill/>
        </p:spPr>
        <p:txBody>
          <a:bodyPr wrap="square" lIns="0" tIns="0" rIns="0" bIns="0" anchor="t">
            <a:spAutoFit/>
          </a:bodyPr>
          <a:lstStyle/>
          <a:p>
            <a:pPr algn="l">
              <a:spcAft>
                <a:spcPts val="800"/>
              </a:spcAft>
            </a:pPr>
            <a:r>
              <a:rPr sz="12000" b="1">
                <a:solidFill>
                  <a:srgbClr val="FFFFFF"/>
                </a:solidFill>
              </a:rPr>
              <a:t>02</a:t>
            </a:r>
          </a:p>
        </p:txBody>
      </p:sp>
      <p:sp>
        <p:nvSpPr>
          <p:cNvPr id="3" name="TextBox 2"/>
          <p:cNvSpPr txBox="1"/>
          <p:nvPr/>
        </p:nvSpPr>
        <p:spPr>
          <a:xfrm>
            <a:off x="768096" y="2788920"/>
            <a:ext cx="4572000" cy="2286000"/>
          </a:xfrm>
          <a:prstGeom prst="rect">
            <a:avLst/>
          </a:prstGeom>
          <a:noFill/>
        </p:spPr>
        <p:txBody>
          <a:bodyPr wrap="square" lIns="0" tIns="0" rIns="0" bIns="0" anchor="t">
            <a:spAutoFit/>
          </a:bodyPr>
          <a:lstStyle/>
          <a:p>
            <a:pPr algn="l">
              <a:spcAft>
                <a:spcPts val="800"/>
              </a:spcAft>
            </a:pPr>
            <a:r>
              <a:rPr sz="3800" b="1">
                <a:solidFill>
                  <a:srgbClr val="FFFFFF"/>
                </a:solidFill>
              </a:rPr>
              <a:t>Flutter</a:t>
            </a:r>
          </a:p>
        </p:txBody>
      </p:sp>
      <p:sp>
        <p:nvSpPr>
          <p:cNvPr id="4" name="TextBox 3"/>
          <p:cNvSpPr txBox="1"/>
          <p:nvPr/>
        </p:nvSpPr>
        <p:spPr>
          <a:xfrm>
            <a:off x="5852160" y="1051560"/>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1. Kom igång</a:t>
            </a:r>
          </a:p>
        </p:txBody>
      </p:sp>
      <p:sp>
        <p:nvSpPr>
          <p:cNvPr id="5" name="TextBox 4"/>
          <p:cNvSpPr txBox="1"/>
          <p:nvPr/>
        </p:nvSpPr>
        <p:spPr>
          <a:xfrm>
            <a:off x="5852160" y="1527048"/>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2. Dart-grunder</a:t>
            </a:r>
          </a:p>
        </p:txBody>
      </p:sp>
      <p:sp>
        <p:nvSpPr>
          <p:cNvPr id="6" name="TextBox 5"/>
          <p:cNvSpPr txBox="1"/>
          <p:nvPr/>
        </p:nvSpPr>
        <p:spPr>
          <a:xfrm>
            <a:off x="5852160" y="2002536"/>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3. Widgets och layout</a:t>
            </a:r>
          </a:p>
        </p:txBody>
      </p:sp>
      <p:sp>
        <p:nvSpPr>
          <p:cNvPr id="7" name="TextBox 6"/>
          <p:cNvSpPr txBox="1"/>
          <p:nvPr/>
        </p:nvSpPr>
        <p:spPr>
          <a:xfrm>
            <a:off x="5852160" y="2478024"/>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4. State och interaktion</a:t>
            </a:r>
          </a:p>
        </p:txBody>
      </p:sp>
      <p:sp>
        <p:nvSpPr>
          <p:cNvPr id="8" name="TextBox 7"/>
          <p:cNvSpPr txBox="1"/>
          <p:nvPr/>
        </p:nvSpPr>
        <p:spPr>
          <a:xfrm>
            <a:off x="5852160" y="2953512"/>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5. Navigation och formulär</a:t>
            </a:r>
          </a:p>
        </p:txBody>
      </p:sp>
      <p:sp>
        <p:nvSpPr>
          <p:cNvPr id="9" name="TextBox 8"/>
          <p:cNvSpPr txBox="1"/>
          <p:nvPr/>
        </p:nvSpPr>
        <p:spPr>
          <a:xfrm>
            <a:off x="5852160" y="3429000"/>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6. Hämta data från PocketBase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01CA3A3-5279-FE76-ABE6-9B84E03C2E6C}"/>
              </a:ext>
            </a:extLst>
          </p:cNvPr>
          <p:cNvSpPr>
            <a:spLocks noGrp="1"/>
          </p:cNvSpPr>
          <p:nvPr>
            <p:ph type="title"/>
          </p:nvPr>
        </p:nvSpPr>
        <p:spPr/>
        <p:txBody>
          <a:bodyPr/>
          <a:lstStyle/>
          <a:p>
            <a:r>
              <a:rPr lang="sv-SE"/>
              <a:t>Flutter för mobil apputveckling</a:t>
            </a:r>
          </a:p>
        </p:txBody>
      </p:sp>
      <p:sp>
        <p:nvSpPr>
          <p:cNvPr id="3" name="Platshållare för innehåll 2">
            <a:extLst>
              <a:ext uri="{FF2B5EF4-FFF2-40B4-BE49-F238E27FC236}">
                <a16:creationId xmlns:a16="http://schemas.microsoft.com/office/drawing/2014/main" id="{A6C04D80-F7CF-EC08-EFDF-90C8E9AA3A02}"/>
              </a:ext>
            </a:extLst>
          </p:cNvPr>
          <p:cNvSpPr>
            <a:spLocks noGrp="1"/>
          </p:cNvSpPr>
          <p:nvPr>
            <p:ph idx="1"/>
          </p:nvPr>
        </p:nvSpPr>
        <p:spPr>
          <a:xfrm>
            <a:off x="838200" y="1427148"/>
            <a:ext cx="10515600" cy="1596953"/>
          </a:xfrm>
        </p:spPr>
        <p:txBody>
          <a:bodyPr vert="horz" lIns="91440" tIns="45720" rIns="91440" bIns="45720" rtlCol="0" anchor="t">
            <a:normAutofit fontScale="70000" lnSpcReduction="20000"/>
          </a:bodyPr>
          <a:lstStyle/>
          <a:p>
            <a:r>
              <a:rPr lang="sv-SE"/>
              <a:t>Google lösning</a:t>
            </a:r>
          </a:p>
          <a:p>
            <a:pPr lvl="1">
              <a:buFont typeface="Courier New" panose="020B0604020202020204" pitchFamily="34" charset="0"/>
              <a:buChar char="o"/>
            </a:pPr>
            <a:r>
              <a:rPr lang="sv-SE" dirty="0">
                <a:ea typeface="+mn-lt"/>
                <a:cs typeface="+mn-lt"/>
                <a:hlinkClick r:id="rId3"/>
              </a:rPr>
              <a:t>https://flutter.dev</a:t>
            </a:r>
            <a:endParaRPr lang="sv-SE" dirty="0"/>
          </a:p>
          <a:p>
            <a:pPr lvl="1">
              <a:buFont typeface="Courier New" panose="020B0604020202020204" pitchFamily="34" charset="0"/>
              <a:buChar char="o"/>
            </a:pPr>
            <a:r>
              <a:rPr lang="sv-SE"/>
              <a:t>Programmeringsspråk Dart</a:t>
            </a:r>
            <a:endParaRPr lang="sv-SE" dirty="0"/>
          </a:p>
          <a:p>
            <a:pPr lvl="2">
              <a:buFont typeface="Wingdings" panose="020B0604020202020204" pitchFamily="34" charset="0"/>
              <a:buChar char="§"/>
            </a:pPr>
            <a:r>
              <a:rPr lang="sv-SE" dirty="0">
                <a:ea typeface="+mn-lt"/>
                <a:cs typeface="+mn-lt"/>
                <a:hlinkClick r:id="rId4"/>
              </a:rPr>
              <a:t>https://dart.dev</a:t>
            </a:r>
            <a:endParaRPr lang="sv-SE"/>
          </a:p>
          <a:p>
            <a:r>
              <a:rPr lang="sv-SE"/>
              <a:t>En kodbas för alla plattformar</a:t>
            </a:r>
            <a:endParaRPr lang="sv-SE" dirty="0"/>
          </a:p>
          <a:p>
            <a:pPr lvl="1">
              <a:buFont typeface="Courier New" panose="020B0604020202020204" pitchFamily="34" charset="0"/>
              <a:buChar char="o"/>
            </a:pPr>
            <a:r>
              <a:rPr lang="sv-SE"/>
              <a:t>IOS, Android, macOS, Windows, Linux, Web...</a:t>
            </a:r>
            <a:endParaRPr lang="sv-SE" dirty="0"/>
          </a:p>
          <a:p>
            <a:endParaRPr lang="sv-SE" dirty="0"/>
          </a:p>
          <a:p>
            <a:endParaRPr lang="sv-SE" dirty="0"/>
          </a:p>
        </p:txBody>
      </p:sp>
      <p:pic>
        <p:nvPicPr>
          <p:cNvPr id="4" name="Bildobjekt 3" descr="The History of Google | Internet History Podcast">
            <a:extLst>
              <a:ext uri="{FF2B5EF4-FFF2-40B4-BE49-F238E27FC236}">
                <a16:creationId xmlns:a16="http://schemas.microsoft.com/office/drawing/2014/main" id="{D696A31C-AC25-6E2E-ED83-56A340A3DEEA}"/>
              </a:ext>
            </a:extLst>
          </p:cNvPr>
          <p:cNvPicPr>
            <a:picLocks noChangeAspect="1"/>
          </p:cNvPicPr>
          <p:nvPr/>
        </p:nvPicPr>
        <p:blipFill>
          <a:blip r:embed="rId5"/>
          <a:stretch>
            <a:fillRect/>
          </a:stretch>
        </p:blipFill>
        <p:spPr>
          <a:xfrm>
            <a:off x="6695813" y="3724013"/>
            <a:ext cx="3679970" cy="2450983"/>
          </a:xfrm>
          <a:prstGeom prst="rect">
            <a:avLst/>
          </a:prstGeom>
        </p:spPr>
      </p:pic>
      <p:pic>
        <p:nvPicPr>
          <p:cNvPr id="5" name="Bildobjekt 4" descr="Flutter Tutorial | Learn Flutter with Real-Time Examples - Tpoint Tech">
            <a:extLst>
              <a:ext uri="{FF2B5EF4-FFF2-40B4-BE49-F238E27FC236}">
                <a16:creationId xmlns:a16="http://schemas.microsoft.com/office/drawing/2014/main" id="{3D5F8A49-7C72-E93B-9DF5-F37B67CBF5EB}"/>
              </a:ext>
            </a:extLst>
          </p:cNvPr>
          <p:cNvPicPr>
            <a:picLocks noChangeAspect="1"/>
          </p:cNvPicPr>
          <p:nvPr/>
        </p:nvPicPr>
        <p:blipFill>
          <a:blip r:embed="rId6"/>
          <a:stretch>
            <a:fillRect/>
          </a:stretch>
        </p:blipFill>
        <p:spPr>
          <a:xfrm>
            <a:off x="1305537" y="3650959"/>
            <a:ext cx="2715935" cy="2715935"/>
          </a:xfrm>
          <a:prstGeom prst="rect">
            <a:avLst/>
          </a:prstGeom>
        </p:spPr>
      </p:pic>
    </p:spTree>
    <p:extLst>
      <p:ext uri="{BB962C8B-B14F-4D97-AF65-F5344CB8AC3E}">
        <p14:creationId xmlns:p14="http://schemas.microsoft.com/office/powerpoint/2010/main" val="1657892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Kom igång med Flutter</a:t>
            </a:r>
          </a:p>
        </p:txBody>
      </p:sp>
      <p:sp>
        <p:nvSpPr>
          <p:cNvPr id="3" name="Oval 2"/>
          <p:cNvSpPr/>
          <p:nvPr/>
        </p:nvSpPr>
        <p:spPr>
          <a:xfrm>
            <a:off x="813816" y="173736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1</a:t>
            </a:r>
          </a:p>
        </p:txBody>
      </p:sp>
      <p:sp>
        <p:nvSpPr>
          <p:cNvPr id="4" name="TextBox 3"/>
          <p:cNvSpPr txBox="1"/>
          <p:nvPr/>
        </p:nvSpPr>
        <p:spPr>
          <a:xfrm>
            <a:off x="1591056" y="1719072"/>
            <a:ext cx="5394960" cy="914400"/>
          </a:xfrm>
          <a:prstGeom prst="rect">
            <a:avLst/>
          </a:prstGeom>
          <a:noFill/>
        </p:spPr>
        <p:txBody>
          <a:bodyPr wrap="square" lIns="0" tIns="0" rIns="0" bIns="0" anchor="t">
            <a:spAutoFit/>
          </a:bodyPr>
          <a:lstStyle/>
          <a:p>
            <a:pPr algn="l">
              <a:spcAft>
                <a:spcPts val="200"/>
              </a:spcAft>
            </a:pPr>
            <a:r>
              <a:rPr sz="1900" b="1"/>
              <a:t>Installera Git och VS Code</a:t>
            </a:r>
          </a:p>
          <a:p>
            <a:pPr algn="l">
              <a:spcAft>
                <a:spcPts val="800"/>
              </a:spcAft>
            </a:pPr>
            <a:r>
              <a:rPr sz="1500" b="0">
                <a:solidFill>
                  <a:srgbClr val="595959"/>
                </a:solidFill>
              </a:rPr>
              <a:t>Lägg till tillägget Flutter i VS Code</a:t>
            </a:r>
          </a:p>
        </p:txBody>
      </p:sp>
      <p:sp>
        <p:nvSpPr>
          <p:cNvPr id="5" name="Oval 4"/>
          <p:cNvSpPr/>
          <p:nvPr/>
        </p:nvSpPr>
        <p:spPr>
          <a:xfrm>
            <a:off x="813816" y="265176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2</a:t>
            </a:r>
          </a:p>
        </p:txBody>
      </p:sp>
      <p:sp>
        <p:nvSpPr>
          <p:cNvPr id="6" name="TextBox 5"/>
          <p:cNvSpPr txBox="1"/>
          <p:nvPr/>
        </p:nvSpPr>
        <p:spPr>
          <a:xfrm>
            <a:off x="1591056" y="2633472"/>
            <a:ext cx="5394960" cy="914400"/>
          </a:xfrm>
          <a:prstGeom prst="rect">
            <a:avLst/>
          </a:prstGeom>
          <a:noFill/>
        </p:spPr>
        <p:txBody>
          <a:bodyPr wrap="square" lIns="0" tIns="0" rIns="0" bIns="0" anchor="t">
            <a:spAutoFit/>
          </a:bodyPr>
          <a:lstStyle/>
          <a:p>
            <a:pPr algn="l">
              <a:spcAft>
                <a:spcPts val="200"/>
              </a:spcAft>
            </a:pPr>
            <a:r>
              <a:rPr sz="1900" b="1"/>
              <a:t>Ladda ner Flutter</a:t>
            </a:r>
          </a:p>
          <a:p>
            <a:pPr algn="l">
              <a:spcAft>
                <a:spcPts val="800"/>
              </a:spcAft>
            </a:pPr>
            <a:r>
              <a:rPr sz="1500" b="0">
                <a:solidFill>
                  <a:srgbClr val="595959"/>
                </a:solidFill>
              </a:rPr>
              <a:t>Ctrl+Shift+P → Flutter: New Project → Download SDK → Add SDK to PATH</a:t>
            </a:r>
          </a:p>
        </p:txBody>
      </p:sp>
      <p:sp>
        <p:nvSpPr>
          <p:cNvPr id="7" name="Oval 6"/>
          <p:cNvSpPr/>
          <p:nvPr/>
        </p:nvSpPr>
        <p:spPr>
          <a:xfrm>
            <a:off x="813816" y="356616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3</a:t>
            </a:r>
          </a:p>
        </p:txBody>
      </p:sp>
      <p:sp>
        <p:nvSpPr>
          <p:cNvPr id="8" name="TextBox 7"/>
          <p:cNvSpPr txBox="1"/>
          <p:nvPr/>
        </p:nvSpPr>
        <p:spPr>
          <a:xfrm>
            <a:off x="1591056" y="3547872"/>
            <a:ext cx="5394960" cy="914400"/>
          </a:xfrm>
          <a:prstGeom prst="rect">
            <a:avLst/>
          </a:prstGeom>
          <a:noFill/>
        </p:spPr>
        <p:txBody>
          <a:bodyPr wrap="square" lIns="0" tIns="0" rIns="0" bIns="0" anchor="t">
            <a:spAutoFit/>
          </a:bodyPr>
          <a:lstStyle/>
          <a:p>
            <a:pPr algn="l">
              <a:spcAft>
                <a:spcPts val="200"/>
              </a:spcAft>
            </a:pPr>
            <a:r>
              <a:rPr sz="1900" b="1"/>
              <a:t>Kontrollera</a:t>
            </a:r>
          </a:p>
          <a:p>
            <a:pPr algn="l">
              <a:spcAft>
                <a:spcPts val="800"/>
              </a:spcAft>
            </a:pPr>
            <a:r>
              <a:rPr sz="1500" b="0">
                <a:solidFill>
                  <a:srgbClr val="595959"/>
                </a:solidFill>
              </a:rPr>
              <a:t>flutter doctor – Flutter, Chrome och VS Code ska ha ✓</a:t>
            </a:r>
          </a:p>
        </p:txBody>
      </p:sp>
      <p:sp>
        <p:nvSpPr>
          <p:cNvPr id="9" name="Oval 8"/>
          <p:cNvSpPr/>
          <p:nvPr/>
        </p:nvSpPr>
        <p:spPr>
          <a:xfrm>
            <a:off x="813816" y="448056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4</a:t>
            </a:r>
          </a:p>
        </p:txBody>
      </p:sp>
      <p:sp>
        <p:nvSpPr>
          <p:cNvPr id="10" name="TextBox 9"/>
          <p:cNvSpPr txBox="1"/>
          <p:nvPr/>
        </p:nvSpPr>
        <p:spPr>
          <a:xfrm>
            <a:off x="1591056" y="4462272"/>
            <a:ext cx="5394960" cy="914400"/>
          </a:xfrm>
          <a:prstGeom prst="rect">
            <a:avLst/>
          </a:prstGeom>
          <a:noFill/>
        </p:spPr>
        <p:txBody>
          <a:bodyPr wrap="square" lIns="0" tIns="0" rIns="0" bIns="0" anchor="t">
            <a:spAutoFit/>
          </a:bodyPr>
          <a:lstStyle/>
          <a:p>
            <a:pPr algn="l">
              <a:spcAft>
                <a:spcPts val="200"/>
              </a:spcAft>
            </a:pPr>
            <a:r>
              <a:rPr sz="1900" b="1"/>
              <a:t>Skapa projektet</a:t>
            </a:r>
          </a:p>
          <a:p>
            <a:pPr algn="l">
              <a:spcAft>
                <a:spcPts val="800"/>
              </a:spcAft>
            </a:pPr>
            <a:r>
              <a:rPr sz="1500" b="0">
                <a:solidFill>
                  <a:srgbClr val="595959"/>
                </a:solidFill>
              </a:rPr>
              <a:t>Flutter: New Project → Application → kvittra</a:t>
            </a:r>
          </a:p>
        </p:txBody>
      </p:sp>
      <p:sp>
        <p:nvSpPr>
          <p:cNvPr id="11" name="Oval 10"/>
          <p:cNvSpPr/>
          <p:nvPr/>
        </p:nvSpPr>
        <p:spPr>
          <a:xfrm>
            <a:off x="813816" y="539496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5</a:t>
            </a:r>
          </a:p>
        </p:txBody>
      </p:sp>
      <p:sp>
        <p:nvSpPr>
          <p:cNvPr id="12" name="TextBox 11"/>
          <p:cNvSpPr txBox="1"/>
          <p:nvPr/>
        </p:nvSpPr>
        <p:spPr>
          <a:xfrm>
            <a:off x="1591056" y="5376672"/>
            <a:ext cx="5394960" cy="914400"/>
          </a:xfrm>
          <a:prstGeom prst="rect">
            <a:avLst/>
          </a:prstGeom>
          <a:noFill/>
        </p:spPr>
        <p:txBody>
          <a:bodyPr wrap="square" lIns="0" tIns="0" rIns="0" bIns="0" anchor="t">
            <a:spAutoFit/>
          </a:bodyPr>
          <a:lstStyle/>
          <a:p>
            <a:pPr algn="l">
              <a:spcAft>
                <a:spcPts val="200"/>
              </a:spcAft>
            </a:pPr>
            <a:r>
              <a:rPr sz="1900" b="1"/>
              <a:t>Kör i Chrome</a:t>
            </a:r>
          </a:p>
          <a:p>
            <a:pPr algn="l">
              <a:spcAft>
                <a:spcPts val="800"/>
              </a:spcAft>
            </a:pPr>
            <a:r>
              <a:rPr sz="1500" b="0">
                <a:solidFill>
                  <a:srgbClr val="595959"/>
                </a:solidFill>
              </a:rPr>
              <a:t>F5, eller flutter run -d chrome</a:t>
            </a:r>
          </a:p>
        </p:txBody>
      </p:sp>
      <p:sp>
        <p:nvSpPr>
          <p:cNvPr id="13" name="Rounded Rectangle 12"/>
          <p:cNvSpPr/>
          <p:nvPr/>
        </p:nvSpPr>
        <p:spPr>
          <a:xfrm>
            <a:off x="7223760" y="1737360"/>
            <a:ext cx="4474159" cy="2634614"/>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Terminal</a:t>
            </a:r>
          </a:p>
          <a:p>
            <a:pPr algn="l"/>
            <a:r>
              <a:rPr sz="1300">
                <a:solidFill>
                  <a:srgbClr val="E6E9EF"/>
                </a:solidFill>
                <a:latin typeface="Courier New"/>
              </a:rPr>
              <a:t>PS&gt; flutter doctor</a:t>
            </a:r>
          </a:p>
          <a:p>
            <a:pPr algn="l"/>
            <a:r>
              <a:rPr sz="1300">
                <a:solidFill>
                  <a:srgbClr val="E6E9EF"/>
                </a:solidFill>
                <a:latin typeface="Courier New"/>
              </a:rPr>
              <a:t>[✓] Flutter</a:t>
            </a:r>
          </a:p>
          <a:p>
            <a:pPr algn="l"/>
            <a:r>
              <a:rPr sz="1300">
                <a:solidFill>
                  <a:srgbClr val="E6E9EF"/>
                </a:solidFill>
                <a:latin typeface="Courier New"/>
              </a:rPr>
              <a:t>[✓] Chrome</a:t>
            </a:r>
          </a:p>
          <a:p>
            <a:pPr algn="l"/>
            <a:r>
              <a:rPr sz="1300">
                <a:solidFill>
                  <a:srgbClr val="E6E9EF"/>
                </a:solidFill>
                <a:latin typeface="Courier New"/>
              </a:rPr>
              <a:t>[✓] VS Code</a:t>
            </a:r>
          </a:p>
          <a:p>
            <a:pPr algn="l"/>
            <a:r>
              <a:rPr sz="1300">
                <a:solidFill>
                  <a:srgbClr val="E6E9EF"/>
                </a:solidFill>
                <a:latin typeface="Courier New"/>
              </a:rPr>
              <a:t>[!] Android toolchain  (behövs inte)</a:t>
            </a:r>
          </a:p>
          <a:p>
            <a:pPr algn="l"/>
            <a:r>
              <a:rPr sz="1300">
                <a:solidFill>
                  <a:srgbClr val="E6E9EF"/>
                </a:solidFill>
                <a:latin typeface="Courier New"/>
              </a:rPr>
              <a:t> </a:t>
            </a:r>
          </a:p>
          <a:p>
            <a:pPr algn="l"/>
            <a:r>
              <a:rPr sz="1300">
                <a:solidFill>
                  <a:srgbClr val="E6E9EF"/>
                </a:solidFill>
                <a:latin typeface="Courier New"/>
              </a:rPr>
              <a:t>PS&gt; flutter create kvittra</a:t>
            </a:r>
          </a:p>
          <a:p>
            <a:pPr algn="l"/>
            <a:r>
              <a:rPr sz="1300">
                <a:solidFill>
                  <a:srgbClr val="E6E9EF"/>
                </a:solidFill>
                <a:latin typeface="Courier New"/>
              </a:rPr>
              <a:t>PS&gt; cd kvittra</a:t>
            </a:r>
          </a:p>
          <a:p>
            <a:pPr algn="l"/>
            <a:r>
              <a:rPr sz="1300">
                <a:solidFill>
                  <a:srgbClr val="E6E9EF"/>
                </a:solidFill>
                <a:latin typeface="Courier New"/>
              </a:rPr>
              <a:t>PS&gt; flutter run -d chrome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Hot reload och projektets filer</a:t>
            </a:r>
          </a:p>
        </p:txBody>
      </p:sp>
      <p:graphicFrame>
        <p:nvGraphicFramePr>
          <p:cNvPr id="3" name="Table 2"/>
          <p:cNvGraphicFramePr>
            <a:graphicFrameLocks noGrp="1"/>
          </p:cNvGraphicFramePr>
          <p:nvPr/>
        </p:nvGraphicFramePr>
        <p:xfrm>
          <a:off x="768096" y="1691640"/>
          <a:ext cx="5486400" cy="2069592"/>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502920">
                <a:tc>
                  <a:txBody>
                    <a:bodyPr/>
                    <a:lstStyle/>
                    <a:p>
                      <a:endParaRPr/>
                    </a:p>
                  </a:txBody>
                  <a:tcPr marT="36576" marB="36576" anchor="ctr"/>
                </a:tc>
                <a:tc>
                  <a:txBody>
                    <a:bodyPr/>
                    <a:lstStyle/>
                    <a:p>
                      <a:r>
                        <a:rPr sz="1600" b="1"/>
                        <a:t>Hot reload</a:t>
                      </a:r>
                    </a:p>
                  </a:txBody>
                  <a:tcPr marT="36576" marB="36576" anchor="ctr"/>
                </a:tc>
                <a:tc>
                  <a:txBody>
                    <a:bodyPr/>
                    <a:lstStyle/>
                    <a:p>
                      <a:r>
                        <a:rPr sz="1600" b="1"/>
                        <a:t>Hot restart</a:t>
                      </a:r>
                    </a:p>
                  </a:txBody>
                  <a:tcPr marT="36576" marB="36576" anchor="ctr"/>
                </a:tc>
                <a:extLst>
                  <a:ext uri="{0D108BD9-81ED-4DB2-BD59-A6C34878D82A}">
                    <a16:rowId xmlns:a16="http://schemas.microsoft.com/office/drawing/2014/main" val="10000"/>
                  </a:ext>
                </a:extLst>
              </a:tr>
              <a:tr h="502920">
                <a:tc>
                  <a:txBody>
                    <a:bodyPr/>
                    <a:lstStyle/>
                    <a:p>
                      <a:r>
                        <a:rPr sz="1600"/>
                        <a:t>Tangent</a:t>
                      </a:r>
                    </a:p>
                  </a:txBody>
                  <a:tcPr marT="36576" marB="36576" anchor="ctr"/>
                </a:tc>
                <a:tc>
                  <a:txBody>
                    <a:bodyPr/>
                    <a:lstStyle/>
                    <a:p>
                      <a:r>
                        <a:rPr sz="1600"/>
                        <a:t>Spara (Ctrl+S)</a:t>
                      </a:r>
                    </a:p>
                  </a:txBody>
                  <a:tcPr marT="36576" marB="36576" anchor="ctr"/>
                </a:tc>
                <a:tc>
                  <a:txBody>
                    <a:bodyPr/>
                    <a:lstStyle/>
                    <a:p>
                      <a:r>
                        <a:rPr sz="1600"/>
                        <a:t>Ctrl+Shift+F5</a:t>
                      </a:r>
                    </a:p>
                  </a:txBody>
                  <a:tcPr marT="36576" marB="36576" anchor="ctr"/>
                </a:tc>
                <a:extLst>
                  <a:ext uri="{0D108BD9-81ED-4DB2-BD59-A6C34878D82A}">
                    <a16:rowId xmlns:a16="http://schemas.microsoft.com/office/drawing/2014/main" val="10001"/>
                  </a:ext>
                </a:extLst>
              </a:tr>
              <a:tr h="502920">
                <a:tc>
                  <a:txBody>
                    <a:bodyPr/>
                    <a:lstStyle/>
                    <a:p>
                      <a:r>
                        <a:rPr sz="1600"/>
                        <a:t>Behåller state?</a:t>
                      </a:r>
                    </a:p>
                  </a:txBody>
                  <a:tcPr marT="36576" marB="36576" anchor="ctr"/>
                </a:tc>
                <a:tc>
                  <a:txBody>
                    <a:bodyPr/>
                    <a:lstStyle/>
                    <a:p>
                      <a:r>
                        <a:rPr sz="1600"/>
                        <a:t>Ja</a:t>
                      </a:r>
                    </a:p>
                  </a:txBody>
                  <a:tcPr marT="36576" marB="36576" anchor="ctr"/>
                </a:tc>
                <a:tc>
                  <a:txBody>
                    <a:bodyPr/>
                    <a:lstStyle/>
                    <a:p>
                      <a:r>
                        <a:rPr sz="1600"/>
                        <a:t>Nej, börjar om</a:t>
                      </a:r>
                    </a:p>
                  </a:txBody>
                  <a:tcPr marT="36576" marB="36576" anchor="ctr"/>
                </a:tc>
                <a:extLst>
                  <a:ext uri="{0D108BD9-81ED-4DB2-BD59-A6C34878D82A}">
                    <a16:rowId xmlns:a16="http://schemas.microsoft.com/office/drawing/2014/main" val="10002"/>
                  </a:ext>
                </a:extLst>
              </a:tr>
              <a:tr h="502920">
                <a:tc>
                  <a:txBody>
                    <a:bodyPr/>
                    <a:lstStyle/>
                    <a:p>
                      <a:r>
                        <a:rPr sz="1600"/>
                        <a:t>Använd när</a:t>
                      </a:r>
                    </a:p>
                  </a:txBody>
                  <a:tcPr marT="36576" marB="36576" anchor="ctr"/>
                </a:tc>
                <a:tc>
                  <a:txBody>
                    <a:bodyPr/>
                    <a:lstStyle/>
                    <a:p>
                      <a:r>
                        <a:rPr sz="1600"/>
                        <a:t>Du ändrar utseende</a:t>
                      </a:r>
                    </a:p>
                  </a:txBody>
                  <a:tcPr marT="36576" marB="36576" anchor="ctr"/>
                </a:tc>
                <a:tc>
                  <a:txBody>
                    <a:bodyPr/>
                    <a:lstStyle/>
                    <a:p>
                      <a:r>
                        <a:rPr sz="1600"/>
                        <a:t>Hot reload räcker inte</a:t>
                      </a:r>
                    </a:p>
                  </a:txBody>
                  <a:tcPr marT="36576" marB="36576" anchor="ctr"/>
                </a:tc>
                <a:extLst>
                  <a:ext uri="{0D108BD9-81ED-4DB2-BD59-A6C34878D82A}">
                    <a16:rowId xmlns:a16="http://schemas.microsoft.com/office/drawing/2014/main" val="10003"/>
                  </a:ext>
                </a:extLst>
              </a:tr>
            </a:tbl>
          </a:graphicData>
        </a:graphic>
      </p:graphicFrame>
      <p:sp>
        <p:nvSpPr>
          <p:cNvPr id="4" name="Rounded Rectangle 3"/>
          <p:cNvSpPr/>
          <p:nvPr/>
        </p:nvSpPr>
        <p:spPr>
          <a:xfrm>
            <a:off x="6583680" y="1691640"/>
            <a:ext cx="4846320" cy="23774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kvittra/</a:t>
            </a:r>
          </a:p>
          <a:p>
            <a:pPr algn="l"/>
            <a:r>
              <a:rPr sz="1500">
                <a:solidFill>
                  <a:srgbClr val="E6E9EF"/>
                </a:solidFill>
                <a:latin typeface="Courier New"/>
              </a:rPr>
              <a:t>lib/</a:t>
            </a:r>
          </a:p>
          <a:p>
            <a:pPr algn="l"/>
            <a:r>
              <a:rPr sz="1500">
                <a:solidFill>
                  <a:srgbClr val="E6E9EF"/>
                </a:solidFill>
                <a:latin typeface="Courier New"/>
              </a:rPr>
              <a:t>  main.dart     ← din kod</a:t>
            </a:r>
          </a:p>
          <a:p>
            <a:pPr algn="l"/>
            <a:r>
              <a:rPr sz="1500">
                <a:solidFill>
                  <a:srgbClr val="E6E9EF"/>
                </a:solidFill>
                <a:latin typeface="Courier New"/>
              </a:rPr>
              <a:t>pubspec.yaml    ← paket</a:t>
            </a:r>
          </a:p>
          <a:p>
            <a:pPr algn="l"/>
            <a:r>
              <a:rPr sz="1500">
                <a:solidFill>
                  <a:srgbClr val="E6E9EF"/>
                </a:solidFill>
                <a:latin typeface="Courier New"/>
              </a:rPr>
              <a:t>web/ android/ … ← rör inte</a:t>
            </a:r>
          </a:p>
        </p:txBody>
      </p:sp>
      <p:sp>
        <p:nvSpPr>
          <p:cNvPr id="5" name="TextBox 4"/>
          <p:cNvSpPr txBox="1"/>
          <p:nvPr/>
        </p:nvSpPr>
        <p:spPr>
          <a:xfrm>
            <a:off x="768096" y="4206240"/>
            <a:ext cx="10655503" cy="1097280"/>
          </a:xfrm>
          <a:prstGeom prst="rect">
            <a:avLst/>
          </a:prstGeom>
          <a:noFill/>
        </p:spPr>
        <p:txBody>
          <a:bodyPr wrap="square" lIns="0" tIns="0" rIns="0" bIns="0" anchor="t">
            <a:spAutoFit/>
          </a:bodyPr>
          <a:lstStyle/>
          <a:p>
            <a:pPr algn="l">
              <a:spcAft>
                <a:spcPts val="800"/>
              </a:spcAft>
            </a:pPr>
            <a:r>
              <a:rPr sz="1800" b="0"/>
              <a:t>Lägg till paket med flutter pub add namn – det skrivs in i pubspec.yaml.</a:t>
            </a:r>
          </a:p>
          <a:p>
            <a:pPr algn="l">
              <a:spcAft>
                <a:spcPts val="800"/>
              </a:spcAft>
            </a:pPr>
            <a:r>
              <a:rPr sz="1600" b="0">
                <a:solidFill>
                  <a:srgbClr val="595959"/>
                </a:solidFill>
              </a:rPr>
              <a:t>Kan du Vue? En widget motsvarar ungefär en komponent.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kom igång</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1.1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Kör räknarappen i Chrome. Byt färg (seedColor) – testa hot reload och hot restart.</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1.2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Byt titeln till ”Kvittra” och översätt texten i räknaren till svenska.</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1.3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Kör flutter doctor. Vilka rader behövs för oss, och vilka inte?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Dart – variabler och typer</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Testa i webbläsaren på dartpad.dev</a:t>
            </a:r>
          </a:p>
          <a:p>
            <a:pPr marL="365760" indent="-274320">
              <a:spcAft>
                <a:spcPts val="800"/>
              </a:spcAft>
              <a:buChar char="•"/>
            </a:pPr>
            <a:r>
              <a:rPr sz="2000"/>
              <a:t>var kan ändras, final kan inte ändras</a:t>
            </a:r>
          </a:p>
          <a:p>
            <a:pPr marL="365760" indent="-274320">
              <a:spcAft>
                <a:spcPts val="800"/>
              </a:spcAft>
              <a:buChar char="•"/>
            </a:pPr>
            <a:r>
              <a:rPr sz="2000"/>
              <a:t>const = värdet är känt innan appen körs</a:t>
            </a:r>
          </a:p>
          <a:p>
            <a:pPr marL="365760" indent="-274320">
              <a:spcAft>
                <a:spcPts val="800"/>
              </a:spcAft>
              <a:buChar char="•"/>
            </a:pPr>
            <a:r>
              <a:rPr sz="2000"/>
              <a:t>Tumregel: final för det mesta</a:t>
            </a:r>
          </a:p>
          <a:p>
            <a:pPr marL="365760" indent="-274320">
              <a:spcAft>
                <a:spcPts val="800"/>
              </a:spcAft>
              <a:buChar char="•"/>
            </a:pPr>
            <a:r>
              <a:rPr sz="2000"/>
              <a:t>Text: 'Hej $name' (som `Hej ${name}` i JS)</a:t>
            </a:r>
          </a:p>
        </p:txBody>
      </p:sp>
      <p:sp>
        <p:nvSpPr>
          <p:cNvPr id="4" name="Rounded Rectangle 3"/>
          <p:cNvSpPr/>
          <p:nvPr/>
        </p:nvSpPr>
        <p:spPr>
          <a:xfrm>
            <a:off x="5577840" y="1737360"/>
            <a:ext cx="6120079" cy="3666489"/>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Dart</a:t>
            </a:r>
          </a:p>
          <a:p>
            <a:pPr algn="l"/>
            <a:r>
              <a:rPr sz="1400">
                <a:solidFill>
                  <a:srgbClr val="E6E9EF"/>
                </a:solidFill>
                <a:latin typeface="Courier New"/>
              </a:rPr>
              <a:t>void main() {</a:t>
            </a:r>
          </a:p>
          <a:p>
            <a:pPr algn="l"/>
            <a:r>
              <a:rPr sz="1400">
                <a:solidFill>
                  <a:srgbClr val="E6E9EF"/>
                </a:solidFill>
                <a:latin typeface="Courier New"/>
              </a:rPr>
              <a:t>  var likes = 3;          // kan ändras</a:t>
            </a:r>
          </a:p>
          <a:p>
            <a:pPr algn="l"/>
            <a:r>
              <a:rPr sz="1400">
                <a:solidFill>
                  <a:srgbClr val="E6E9EF"/>
                </a:solidFill>
                <a:latin typeface="Courier New"/>
              </a:rPr>
              <a:t>  likes = 4;</a:t>
            </a:r>
          </a:p>
          <a:p>
            <a:pPr algn="l"/>
            <a:r>
              <a:rPr sz="1400">
                <a:solidFill>
                  <a:srgbClr val="E6E9EF"/>
                </a:solidFill>
                <a:latin typeface="Courier New"/>
              </a:rPr>
              <a:t>  final username = 'anna'; // kan inte ändras</a:t>
            </a:r>
          </a:p>
          <a:p>
            <a:pPr algn="l"/>
            <a:r>
              <a:rPr sz="1400">
                <a:solidFill>
                  <a:srgbClr val="E6E9EF"/>
                </a:solidFill>
                <a:latin typeface="Courier New"/>
              </a:rPr>
              <a:t>  const maxLength = 280;</a:t>
            </a:r>
          </a:p>
          <a:p>
            <a:pPr algn="l"/>
            <a:r>
              <a:rPr sz="1400">
                <a:solidFill>
                  <a:srgbClr val="E6E9EF"/>
                </a:solidFill>
                <a:latin typeface="Courier New"/>
              </a:rPr>
              <a:t> </a:t>
            </a:r>
          </a:p>
          <a:p>
            <a:pPr algn="l"/>
            <a:r>
              <a:rPr sz="1400">
                <a:solidFill>
                  <a:srgbClr val="E6E9EF"/>
                </a:solidFill>
                <a:latin typeface="Courier New"/>
              </a:rPr>
              <a:t>  final users = ['anna', 'bertil'];  // List</a:t>
            </a:r>
          </a:p>
          <a:p>
            <a:pPr algn="l"/>
            <a:r>
              <a:rPr sz="1400">
                <a:solidFill>
                  <a:srgbClr val="E6E9EF"/>
                </a:solidFill>
                <a:latin typeface="Courier New"/>
              </a:rPr>
              <a:t>  final ages = {'anna': 17};          // Map</a:t>
            </a:r>
          </a:p>
          <a:p>
            <a:pPr algn="l"/>
            <a:r>
              <a:rPr sz="1400">
                <a:solidFill>
                  <a:srgbClr val="E6E9EF"/>
                </a:solidFill>
                <a:latin typeface="Courier New"/>
              </a:rPr>
              <a:t> </a:t>
            </a:r>
          </a:p>
          <a:p>
            <a:pPr algn="l"/>
            <a:r>
              <a:rPr sz="1400">
                <a:solidFill>
                  <a:srgbClr val="E6E9EF"/>
                </a:solidFill>
                <a:latin typeface="Courier New"/>
              </a:rPr>
              <a:t>  for (final u in users) {</a:t>
            </a:r>
          </a:p>
          <a:p>
            <a:pPr algn="l"/>
            <a:r>
              <a:rPr sz="1400">
                <a:solidFill>
                  <a:srgbClr val="E6E9EF"/>
                </a:solidFill>
                <a:latin typeface="Courier New"/>
              </a:rPr>
              <a:t>    print('@$u har $likes likes');</a:t>
            </a:r>
          </a:p>
          <a:p>
            <a:pPr algn="l"/>
            <a:r>
              <a:rPr sz="1400">
                <a:solidFill>
                  <a:srgbClr val="E6E9EF"/>
                </a:solidFill>
                <a:latin typeface="Courier New"/>
              </a:rPr>
              <a:t>  }</a:t>
            </a:r>
          </a:p>
          <a:p>
            <a:pPr algn="l"/>
            <a:r>
              <a:rPr sz="1400">
                <a:solidFill>
                  <a:srgbClr val="E6E9EF"/>
                </a:solidFill>
                <a:latin typeface="Courier New"/>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Funktioner och null safety</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Namngivna parametrar: { required … }</a:t>
            </a:r>
          </a:p>
          <a:p>
            <a:pPr marL="365760" indent="-274320">
              <a:spcAft>
                <a:spcPts val="800"/>
              </a:spcAft>
              <a:buChar char="•"/>
            </a:pPr>
            <a:r>
              <a:rPr sz="2000"/>
              <a:t>String? betyder ”kan vara null”</a:t>
            </a:r>
          </a:p>
          <a:p>
            <a:pPr marL="365760" indent="-274320">
              <a:spcAft>
                <a:spcPts val="800"/>
              </a:spcAft>
              <a:buChar char="•"/>
            </a:pPr>
            <a:r>
              <a:rPr sz="2000"/>
              <a:t>?? ger ett reservvärde</a:t>
            </a:r>
          </a:p>
          <a:p>
            <a:pPr marL="365760" indent="-274320">
              <a:spcAft>
                <a:spcPts val="800"/>
              </a:spcAft>
              <a:buChar char="•"/>
            </a:pPr>
            <a:r>
              <a:rPr sz="2000"/>
              <a:t>Undvik ! – det kraschar om värdet är null</a:t>
            </a:r>
          </a:p>
        </p:txBody>
      </p:sp>
      <p:sp>
        <p:nvSpPr>
          <p:cNvPr id="4" name="Rounded Rectangle 3"/>
          <p:cNvSpPr/>
          <p:nvPr/>
        </p:nvSpPr>
        <p:spPr>
          <a:xfrm>
            <a:off x="5577840" y="1737360"/>
            <a:ext cx="6120079" cy="3666489"/>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Dart</a:t>
            </a:r>
          </a:p>
          <a:p>
            <a:pPr algn="l"/>
            <a:r>
              <a:rPr sz="1400">
                <a:solidFill>
                  <a:srgbClr val="E6E9EF"/>
                </a:solidFill>
                <a:latin typeface="Courier New"/>
              </a:rPr>
              <a:t>String greet({</a:t>
            </a:r>
          </a:p>
          <a:p>
            <a:pPr algn="l"/>
            <a:r>
              <a:rPr sz="1400">
                <a:solidFill>
                  <a:srgbClr val="E6E9EF"/>
                </a:solidFill>
                <a:latin typeface="Courier New"/>
              </a:rPr>
              <a:t>  required String name,</a:t>
            </a:r>
          </a:p>
          <a:p>
            <a:pPr algn="l"/>
            <a:r>
              <a:rPr sz="1400">
                <a:solidFill>
                  <a:srgbClr val="E6E9EF"/>
                </a:solidFill>
                <a:latin typeface="Courier New"/>
              </a:rPr>
              <a:t>  String greeting = 'Hej',</a:t>
            </a:r>
          </a:p>
          <a:p>
            <a:pPr algn="l"/>
            <a:r>
              <a:rPr sz="1400">
                <a:solidFill>
                  <a:srgbClr val="E6E9EF"/>
                </a:solidFill>
                <a:latin typeface="Courier New"/>
              </a:rPr>
              <a:t>}) {</a:t>
            </a:r>
          </a:p>
          <a:p>
            <a:pPr algn="l"/>
            <a:r>
              <a:rPr sz="1400">
                <a:solidFill>
                  <a:srgbClr val="E6E9EF"/>
                </a:solidFill>
                <a:latin typeface="Courier New"/>
              </a:rPr>
              <a:t>  return '$greeting $name!';</a:t>
            </a:r>
          </a:p>
          <a:p>
            <a:pPr algn="l"/>
            <a:r>
              <a:rPr sz="1400">
                <a:solidFill>
                  <a:srgbClr val="E6E9EF"/>
                </a:solidFill>
                <a:latin typeface="Courier New"/>
              </a:rPr>
              <a:t>}</a:t>
            </a:r>
          </a:p>
          <a:p>
            <a:pPr algn="l"/>
            <a:r>
              <a:rPr sz="1400">
                <a:solidFill>
                  <a:srgbClr val="E6E9EF"/>
                </a:solidFill>
                <a:latin typeface="Courier New"/>
              </a:rPr>
              <a:t> </a:t>
            </a:r>
          </a:p>
          <a:p>
            <a:pPr algn="l"/>
            <a:r>
              <a:rPr sz="1400">
                <a:solidFill>
                  <a:srgbClr val="E6E9EF"/>
                </a:solidFill>
                <a:latin typeface="Courier New"/>
              </a:rPr>
              <a:t>void showBio(String? bio) {</a:t>
            </a:r>
          </a:p>
          <a:p>
            <a:pPr algn="l"/>
            <a:r>
              <a:rPr sz="1400">
                <a:solidFill>
                  <a:srgbClr val="E6E9EF"/>
                </a:solidFill>
                <a:latin typeface="Courier New"/>
              </a:rPr>
              <a:t>  print(bio ?? 'Ingen bio');</a:t>
            </a:r>
          </a:p>
          <a:p>
            <a:pPr algn="l"/>
            <a:r>
              <a:rPr sz="1400">
                <a:solidFill>
                  <a:srgbClr val="E6E9EF"/>
                </a:solidFill>
                <a:latin typeface="Courier New"/>
              </a:rPr>
              <a:t>}</a:t>
            </a:r>
          </a:p>
          <a:p>
            <a:pPr algn="l"/>
            <a:r>
              <a:rPr sz="1400">
                <a:solidFill>
                  <a:srgbClr val="E6E9EF"/>
                </a:solidFill>
                <a:latin typeface="Courier New"/>
              </a:rPr>
              <a:t> </a:t>
            </a:r>
          </a:p>
          <a:p>
            <a:pPr algn="l"/>
            <a:r>
              <a:rPr sz="1400">
                <a:solidFill>
                  <a:srgbClr val="E6E9EF"/>
                </a:solidFill>
                <a:latin typeface="Courier New"/>
              </a:rPr>
              <a:t>greet(name: 'Anna');   // Hej Anna!</a:t>
            </a:r>
          </a:p>
          <a:p>
            <a:pPr algn="l"/>
            <a:r>
              <a:rPr sz="1400">
                <a:solidFill>
                  <a:srgbClr val="E6E9EF"/>
                </a:solidFill>
                <a:latin typeface="Courier New"/>
              </a:rPr>
              <a:t>showBio(null);         // Ingen bio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Klasser – ett inlägg i Kvittra</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En klass är en mall för en sorts sak</a:t>
            </a:r>
          </a:p>
          <a:p>
            <a:pPr marL="365760" indent="-274320">
              <a:spcAft>
                <a:spcPts val="800"/>
              </a:spcAft>
              <a:buChar char="•"/>
            </a:pPr>
            <a:r>
              <a:rPr sz="2000"/>
              <a:t>Fälten liknar collectionen posts</a:t>
            </a:r>
          </a:p>
          <a:p>
            <a:pPr marL="365760" indent="-274320">
              <a:spcAft>
                <a:spcPts val="800"/>
              </a:spcAft>
              <a:buChar char="•"/>
            </a:pPr>
            <a:r>
              <a:rPr sz="2000"/>
              <a:t>this.id sparar värdet direkt i fältet</a:t>
            </a:r>
          </a:p>
          <a:p>
            <a:pPr marL="365760" indent="-274320">
              <a:spcAft>
                <a:spcPts val="800"/>
              </a:spcAft>
              <a:buChar char="•"/>
            </a:pPr>
            <a:r>
              <a:rPr sz="2000"/>
              <a:t>fromJson gör om en Map till en Post</a:t>
            </a:r>
          </a:p>
          <a:p>
            <a:pPr marL="365760" indent="-274320">
              <a:spcAft>
                <a:spcPts val="800"/>
              </a:spcAft>
              <a:buChar char="•"/>
            </a:pPr>
            <a:r>
              <a:rPr sz="2000"/>
              <a:t>Inget new – skriv bara Post(...)</a:t>
            </a:r>
          </a:p>
        </p:txBody>
      </p:sp>
      <p:sp>
        <p:nvSpPr>
          <p:cNvPr id="4" name="Rounded Rectangle 3"/>
          <p:cNvSpPr/>
          <p:nvPr/>
        </p:nvSpPr>
        <p:spPr>
          <a:xfrm>
            <a:off x="5577840" y="1737360"/>
            <a:ext cx="6120079" cy="4285614"/>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lib/models/post.dart</a:t>
            </a:r>
          </a:p>
          <a:p>
            <a:pPr algn="l"/>
            <a:r>
              <a:rPr sz="1300">
                <a:solidFill>
                  <a:srgbClr val="E6E9EF"/>
                </a:solidFill>
                <a:latin typeface="Courier New"/>
              </a:rPr>
              <a:t>class Post {</a:t>
            </a:r>
          </a:p>
          <a:p>
            <a:pPr algn="l"/>
            <a:r>
              <a:rPr sz="1300">
                <a:solidFill>
                  <a:srgbClr val="E6E9EF"/>
                </a:solidFill>
                <a:latin typeface="Courier New"/>
              </a:rPr>
              <a:t>  final String id;</a:t>
            </a:r>
          </a:p>
          <a:p>
            <a:pPr algn="l"/>
            <a:r>
              <a:rPr sz="1300">
                <a:solidFill>
                  <a:srgbClr val="E6E9EF"/>
                </a:solidFill>
                <a:latin typeface="Courier New"/>
              </a:rPr>
              <a:t>  final String author;</a:t>
            </a:r>
          </a:p>
          <a:p>
            <a:pPr algn="l"/>
            <a:r>
              <a:rPr sz="1300">
                <a:solidFill>
                  <a:srgbClr val="E6E9EF"/>
                </a:solidFill>
                <a:latin typeface="Courier New"/>
              </a:rPr>
              <a:t>  final String title;</a:t>
            </a:r>
          </a:p>
          <a:p>
            <a:pPr algn="l"/>
            <a:r>
              <a:rPr sz="1300">
                <a:solidFill>
                  <a:srgbClr val="E6E9EF"/>
                </a:solidFill>
                <a:latin typeface="Courier New"/>
              </a:rPr>
              <a:t>  final String body;</a:t>
            </a:r>
          </a:p>
          <a:p>
            <a:pPr algn="l"/>
            <a:r>
              <a:rPr sz="1300">
                <a:solidFill>
                  <a:srgbClr val="E6E9EF"/>
                </a:solidFill>
                <a:latin typeface="Courier New"/>
              </a:rPr>
              <a:t> </a:t>
            </a:r>
          </a:p>
          <a:p>
            <a:pPr algn="l"/>
            <a:r>
              <a:rPr sz="1300">
                <a:solidFill>
                  <a:srgbClr val="E6E9EF"/>
                </a:solidFill>
                <a:latin typeface="Courier New"/>
              </a:rPr>
              <a:t>  const Post({required this.id,</a:t>
            </a:r>
          </a:p>
          <a:p>
            <a:pPr algn="l"/>
            <a:r>
              <a:rPr sz="1300">
                <a:solidFill>
                  <a:srgbClr val="E6E9EF"/>
                </a:solidFill>
                <a:latin typeface="Courier New"/>
              </a:rPr>
              <a:t>      required this.author,</a:t>
            </a:r>
          </a:p>
          <a:p>
            <a:pPr algn="l"/>
            <a:r>
              <a:rPr sz="1300">
                <a:solidFill>
                  <a:srgbClr val="E6E9EF"/>
                </a:solidFill>
                <a:latin typeface="Courier New"/>
              </a:rPr>
              <a:t>      required this.title, required this.body});</a:t>
            </a:r>
          </a:p>
          <a:p>
            <a:pPr algn="l"/>
            <a:r>
              <a:rPr sz="1300">
                <a:solidFill>
                  <a:srgbClr val="E6E9EF"/>
                </a:solidFill>
                <a:latin typeface="Courier New"/>
              </a:rPr>
              <a:t> </a:t>
            </a:r>
          </a:p>
          <a:p>
            <a:pPr algn="l"/>
            <a:r>
              <a:rPr sz="1300">
                <a:solidFill>
                  <a:srgbClr val="E6E9EF"/>
                </a:solidFill>
                <a:latin typeface="Courier New"/>
              </a:rPr>
              <a:t>  factory Post.fromJson(Map&lt;String, dynamic&gt; j) {</a:t>
            </a:r>
          </a:p>
          <a:p>
            <a:pPr algn="l"/>
            <a:r>
              <a:rPr sz="1300">
                <a:solidFill>
                  <a:srgbClr val="E6E9EF"/>
                </a:solidFill>
                <a:latin typeface="Courier New"/>
              </a:rPr>
              <a:t>    return Post(id: j['id'] as String,</a:t>
            </a:r>
          </a:p>
          <a:p>
            <a:pPr algn="l"/>
            <a:r>
              <a:rPr sz="1300">
                <a:solidFill>
                  <a:srgbClr val="E6E9EF"/>
                </a:solidFill>
                <a:latin typeface="Courier New"/>
              </a:rPr>
              <a:t>        author: j['author'] as String,</a:t>
            </a:r>
          </a:p>
          <a:p>
            <a:pPr algn="l"/>
            <a:r>
              <a:rPr sz="1300">
                <a:solidFill>
                  <a:srgbClr val="E6E9EF"/>
                </a:solidFill>
                <a:latin typeface="Courier New"/>
              </a:rPr>
              <a:t>        title: j['title'] as String,</a:t>
            </a:r>
          </a:p>
          <a:p>
            <a:pPr algn="l"/>
            <a:r>
              <a:rPr sz="1300">
                <a:solidFill>
                  <a:srgbClr val="E6E9EF"/>
                </a:solidFill>
                <a:latin typeface="Courier New"/>
              </a:rPr>
              <a:t>        body: j['body'] as String);</a:t>
            </a:r>
          </a:p>
          <a:p>
            <a:pPr algn="l"/>
            <a:r>
              <a:rPr sz="1300">
                <a:solidFill>
                  <a:srgbClr val="E6E9EF"/>
                </a:solidFill>
                <a:latin typeface="Courier New"/>
              </a:rPr>
              <a:t>  }</a:t>
            </a:r>
          </a:p>
          <a:p>
            <a:pPr algn="l"/>
            <a:r>
              <a:rPr sz="1300">
                <a:solidFill>
                  <a:srgbClr val="E6E9EF"/>
                </a:solidFill>
                <a:latin typeface="Courier New"/>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Dart jämfört med JavaScript</a:t>
            </a:r>
          </a:p>
        </p:txBody>
      </p:sp>
      <p:graphicFrame>
        <p:nvGraphicFramePr>
          <p:cNvPr id="3" name="Table 2"/>
          <p:cNvGraphicFramePr>
            <a:graphicFrameLocks noGrp="1"/>
          </p:cNvGraphicFramePr>
          <p:nvPr/>
        </p:nvGraphicFramePr>
        <p:xfrm>
          <a:off x="768096" y="1691640"/>
          <a:ext cx="10607040" cy="40233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502920">
                <a:tc>
                  <a:txBody>
                    <a:bodyPr/>
                    <a:lstStyle/>
                    <a:p>
                      <a:r>
                        <a:rPr sz="1700" b="1"/>
                        <a:t>Dart</a:t>
                      </a:r>
                    </a:p>
                  </a:txBody>
                  <a:tcPr marT="36576" marB="36576" anchor="ctr"/>
                </a:tc>
                <a:tc>
                  <a:txBody>
                    <a:bodyPr/>
                    <a:lstStyle/>
                    <a:p>
                      <a:r>
                        <a:rPr sz="1700" b="1"/>
                        <a:t>JavaScript</a:t>
                      </a:r>
                    </a:p>
                  </a:txBody>
                  <a:tcPr marT="36576" marB="36576" anchor="ctr"/>
                </a:tc>
                <a:extLst>
                  <a:ext uri="{0D108BD9-81ED-4DB2-BD59-A6C34878D82A}">
                    <a16:rowId xmlns:a16="http://schemas.microsoft.com/office/drawing/2014/main" val="10000"/>
                  </a:ext>
                </a:extLst>
              </a:tr>
              <a:tr h="502920">
                <a:tc>
                  <a:txBody>
                    <a:bodyPr/>
                    <a:lstStyle/>
                    <a:p>
                      <a:r>
                        <a:rPr sz="1700">
                          <a:latin typeface="Courier New"/>
                        </a:rPr>
                        <a:t>var, final, const</a:t>
                      </a:r>
                    </a:p>
                  </a:txBody>
                  <a:tcPr marT="36576" marB="36576" anchor="ctr"/>
                </a:tc>
                <a:tc>
                  <a:txBody>
                    <a:bodyPr/>
                    <a:lstStyle/>
                    <a:p>
                      <a:r>
                        <a:rPr sz="1700">
                          <a:latin typeface="Courier New"/>
                        </a:rPr>
                        <a:t>let, const</a:t>
                      </a:r>
                    </a:p>
                  </a:txBody>
                  <a:tcPr marT="36576" marB="36576" anchor="ctr"/>
                </a:tc>
                <a:extLst>
                  <a:ext uri="{0D108BD9-81ED-4DB2-BD59-A6C34878D82A}">
                    <a16:rowId xmlns:a16="http://schemas.microsoft.com/office/drawing/2014/main" val="10001"/>
                  </a:ext>
                </a:extLst>
              </a:tr>
              <a:tr h="502920">
                <a:tc>
                  <a:txBody>
                    <a:bodyPr/>
                    <a:lstStyle/>
                    <a:p>
                      <a:r>
                        <a:rPr sz="1700">
                          <a:latin typeface="Courier New"/>
                        </a:rPr>
                        <a:t>'Hej $namn'</a:t>
                      </a:r>
                    </a:p>
                  </a:txBody>
                  <a:tcPr marT="36576" marB="36576" anchor="ctr"/>
                </a:tc>
                <a:tc>
                  <a:txBody>
                    <a:bodyPr/>
                    <a:lstStyle/>
                    <a:p>
                      <a:r>
                        <a:rPr sz="1700">
                          <a:latin typeface="Courier New"/>
                        </a:rPr>
                        <a:t>`Hej ${namn}`</a:t>
                      </a:r>
                    </a:p>
                  </a:txBody>
                  <a:tcPr marT="36576" marB="36576" anchor="ctr"/>
                </a:tc>
                <a:extLst>
                  <a:ext uri="{0D108BD9-81ED-4DB2-BD59-A6C34878D82A}">
                    <a16:rowId xmlns:a16="http://schemas.microsoft.com/office/drawing/2014/main" val="10002"/>
                  </a:ext>
                </a:extLst>
              </a:tr>
              <a:tr h="502920">
                <a:tc>
                  <a:txBody>
                    <a:bodyPr/>
                    <a:lstStyle/>
                    <a:p>
                      <a:r>
                        <a:rPr sz="1700">
                          <a:latin typeface="Courier New"/>
                        </a:rPr>
                        <a:t>List, Map</a:t>
                      </a:r>
                    </a:p>
                  </a:txBody>
                  <a:tcPr marT="36576" marB="36576" anchor="ctr"/>
                </a:tc>
                <a:tc>
                  <a:txBody>
                    <a:bodyPr/>
                    <a:lstStyle/>
                    <a:p>
                      <a:r>
                        <a:rPr sz="1700">
                          <a:latin typeface="Courier New"/>
                        </a:rPr>
                        <a:t>array, objekt</a:t>
                      </a:r>
                    </a:p>
                  </a:txBody>
                  <a:tcPr marT="36576" marB="36576" anchor="ctr"/>
                </a:tc>
                <a:extLst>
                  <a:ext uri="{0D108BD9-81ED-4DB2-BD59-A6C34878D82A}">
                    <a16:rowId xmlns:a16="http://schemas.microsoft.com/office/drawing/2014/main" val="10003"/>
                  </a:ext>
                </a:extLst>
              </a:tr>
              <a:tr h="502920">
                <a:tc>
                  <a:txBody>
                    <a:bodyPr/>
                    <a:lstStyle/>
                    <a:p>
                      <a:r>
                        <a:rPr sz="1700">
                          <a:latin typeface="Courier New"/>
                        </a:rPr>
                        <a:t>for (final x in lista)</a:t>
                      </a:r>
                    </a:p>
                  </a:txBody>
                  <a:tcPr marT="36576" marB="36576" anchor="ctr"/>
                </a:tc>
                <a:tc>
                  <a:txBody>
                    <a:bodyPr/>
                    <a:lstStyle/>
                    <a:p>
                      <a:r>
                        <a:rPr sz="1700">
                          <a:latin typeface="Courier New"/>
                        </a:rPr>
                        <a:t>for (const x of lista)</a:t>
                      </a:r>
                    </a:p>
                  </a:txBody>
                  <a:tcPr marT="36576" marB="36576" anchor="ctr"/>
                </a:tc>
                <a:extLst>
                  <a:ext uri="{0D108BD9-81ED-4DB2-BD59-A6C34878D82A}">
                    <a16:rowId xmlns:a16="http://schemas.microsoft.com/office/drawing/2014/main" val="10004"/>
                  </a:ext>
                </a:extLst>
              </a:tr>
              <a:tr h="502920">
                <a:tc>
                  <a:txBody>
                    <a:bodyPr/>
                    <a:lstStyle/>
                    <a:p>
                      <a:r>
                        <a:rPr sz="1700">
                          <a:latin typeface="Courier New"/>
                        </a:rPr>
                        <a:t>String? (kan vara null)</a:t>
                      </a:r>
                    </a:p>
                  </a:txBody>
                  <a:tcPr marT="36576" marB="36576" anchor="ctr"/>
                </a:tc>
                <a:tc>
                  <a:txBody>
                    <a:bodyPr/>
                    <a:lstStyle/>
                    <a:p>
                      <a:r>
                        <a:rPr sz="1700">
                          <a:latin typeface="Courier New"/>
                        </a:rPr>
                        <a:t>alla variabler kan vara null</a:t>
                      </a:r>
                    </a:p>
                  </a:txBody>
                  <a:tcPr marT="36576" marB="36576" anchor="ctr"/>
                </a:tc>
                <a:extLst>
                  <a:ext uri="{0D108BD9-81ED-4DB2-BD59-A6C34878D82A}">
                    <a16:rowId xmlns:a16="http://schemas.microsoft.com/office/drawing/2014/main" val="10005"/>
                  </a:ext>
                </a:extLst>
              </a:tr>
              <a:tr h="502920">
                <a:tc>
                  <a:txBody>
                    <a:bodyPr/>
                    <a:lstStyle/>
                    <a:p>
                      <a:r>
                        <a:rPr sz="1700">
                          <a:latin typeface="Courier New"/>
                        </a:rPr>
                        <a:t>bio ?? 'Ingen bio'</a:t>
                      </a:r>
                    </a:p>
                  </a:txBody>
                  <a:tcPr marT="36576" marB="36576" anchor="ctr"/>
                </a:tc>
                <a:tc>
                  <a:txBody>
                    <a:bodyPr/>
                    <a:lstStyle/>
                    <a:p>
                      <a:r>
                        <a:rPr sz="1700">
                          <a:latin typeface="Courier New"/>
                        </a:rPr>
                        <a:t>bio ?? 'Ingen bio'</a:t>
                      </a:r>
                    </a:p>
                  </a:txBody>
                  <a:tcPr marT="36576" marB="36576" anchor="ctr"/>
                </a:tc>
                <a:extLst>
                  <a:ext uri="{0D108BD9-81ED-4DB2-BD59-A6C34878D82A}">
                    <a16:rowId xmlns:a16="http://schemas.microsoft.com/office/drawing/2014/main" val="10006"/>
                  </a:ext>
                </a:extLst>
              </a:tr>
              <a:tr h="502920">
                <a:tc>
                  <a:txBody>
                    <a:bodyPr/>
                    <a:lstStyle/>
                    <a:p>
                      <a:r>
                        <a:rPr sz="1700">
                          <a:latin typeface="Courier New"/>
                        </a:rPr>
                        <a:t>Future, async, await</a:t>
                      </a:r>
                    </a:p>
                  </a:txBody>
                  <a:tcPr marT="36576" marB="36576" anchor="ctr"/>
                </a:tc>
                <a:tc>
                  <a:txBody>
                    <a:bodyPr/>
                    <a:lstStyle/>
                    <a:p>
                      <a:r>
                        <a:rPr sz="1700">
                          <a:latin typeface="Courier New"/>
                        </a:rPr>
                        <a:t>Promise, async, await</a:t>
                      </a:r>
                    </a:p>
                  </a:txBody>
                  <a:tcPr marT="36576" marB="36576"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Dart-grunder</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2.1</a:t>
            </a:r>
          </a:p>
        </p:txBody>
      </p:sp>
      <p:sp>
        <p:nvSpPr>
          <p:cNvPr id="5" name="TextBox 4"/>
          <p:cNvSpPr txBox="1"/>
          <p:nvPr/>
        </p:nvSpPr>
        <p:spPr>
          <a:xfrm>
            <a:off x="1636776" y="1691640"/>
            <a:ext cx="9786823" cy="762000"/>
          </a:xfrm>
          <a:prstGeom prst="rect">
            <a:avLst/>
          </a:prstGeom>
          <a:noFill/>
        </p:spPr>
        <p:txBody>
          <a:bodyPr wrap="square" lIns="0" tIns="0" rIns="0" bIns="0" anchor="t">
            <a:spAutoFit/>
          </a:bodyPr>
          <a:lstStyle/>
          <a:p>
            <a:pPr algn="l">
              <a:spcAft>
                <a:spcPts val="800"/>
              </a:spcAft>
            </a:pPr>
            <a:r>
              <a:rPr sz="1700" b="0"/>
              <a:t>Variabler för bertil. Skriv ut ”Bertil Berg (@bertil) har 2 följare”.</a:t>
            </a:r>
          </a:p>
        </p:txBody>
      </p:sp>
      <p:sp>
        <p:nvSpPr>
          <p:cNvPr id="6" name="TextBox 5"/>
          <p:cNvSpPr txBox="1"/>
          <p:nvPr/>
        </p:nvSpPr>
        <p:spPr>
          <a:xfrm>
            <a:off x="768096" y="2453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2.2</a:t>
            </a:r>
          </a:p>
        </p:txBody>
      </p:sp>
      <p:sp>
        <p:nvSpPr>
          <p:cNvPr id="7" name="TextBox 6"/>
          <p:cNvSpPr txBox="1"/>
          <p:nvPr/>
        </p:nvSpPr>
        <p:spPr>
          <a:xfrm>
            <a:off x="1636776" y="2453640"/>
            <a:ext cx="9786823" cy="762000"/>
          </a:xfrm>
          <a:prstGeom prst="rect">
            <a:avLst/>
          </a:prstGeom>
          <a:noFill/>
        </p:spPr>
        <p:txBody>
          <a:bodyPr wrap="square" lIns="0" tIns="0" rIns="0" bIns="0" anchor="t">
            <a:spAutoFit/>
          </a:bodyPr>
          <a:lstStyle/>
          <a:p>
            <a:pPr algn="l">
              <a:spcAft>
                <a:spcPts val="800"/>
              </a:spcAft>
            </a:pPr>
            <a:r>
              <a:rPr sz="1700" b="0"/>
              <a:t>En lista med användarnamn. Skriv ut alla med @ framför i en for-loop.</a:t>
            </a:r>
          </a:p>
        </p:txBody>
      </p:sp>
      <p:sp>
        <p:nvSpPr>
          <p:cNvPr id="8" name="TextBox 7"/>
          <p:cNvSpPr txBox="1"/>
          <p:nvPr/>
        </p:nvSpPr>
        <p:spPr>
          <a:xfrm>
            <a:off x="768096" y="3215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2.3</a:t>
            </a:r>
          </a:p>
        </p:txBody>
      </p:sp>
      <p:sp>
        <p:nvSpPr>
          <p:cNvPr id="9" name="TextBox 8"/>
          <p:cNvSpPr txBox="1"/>
          <p:nvPr/>
        </p:nvSpPr>
        <p:spPr>
          <a:xfrm>
            <a:off x="1636776" y="3215640"/>
            <a:ext cx="9786823" cy="762000"/>
          </a:xfrm>
          <a:prstGeom prst="rect">
            <a:avLst/>
          </a:prstGeom>
          <a:noFill/>
        </p:spPr>
        <p:txBody>
          <a:bodyPr wrap="square" lIns="0" tIns="0" rIns="0" bIns="0" anchor="t">
            <a:spAutoFit/>
          </a:bodyPr>
          <a:lstStyle/>
          <a:p>
            <a:pPr algn="l">
              <a:spcAft>
                <a:spcPts val="800"/>
              </a:spcAft>
            </a:pPr>
            <a:r>
              <a:rPr sz="1700" b="0"/>
              <a:t>likeText(int likes): ”Inga likes”, ”1 like” eller ”3 likes”.</a:t>
            </a:r>
          </a:p>
        </p:txBody>
      </p:sp>
      <p:sp>
        <p:nvSpPr>
          <p:cNvPr id="10" name="TextBox 9"/>
          <p:cNvSpPr txBox="1"/>
          <p:nvPr/>
        </p:nvSpPr>
        <p:spPr>
          <a:xfrm>
            <a:off x="768096" y="3977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2.4</a:t>
            </a:r>
          </a:p>
        </p:txBody>
      </p:sp>
      <p:sp>
        <p:nvSpPr>
          <p:cNvPr id="11" name="TextBox 10"/>
          <p:cNvSpPr txBox="1"/>
          <p:nvPr/>
        </p:nvSpPr>
        <p:spPr>
          <a:xfrm>
            <a:off x="1636776" y="3977640"/>
            <a:ext cx="9786823" cy="762000"/>
          </a:xfrm>
          <a:prstGeom prst="rect">
            <a:avLst/>
          </a:prstGeom>
          <a:noFill/>
        </p:spPr>
        <p:txBody>
          <a:bodyPr wrap="square" lIns="0" tIns="0" rIns="0" bIns="0" anchor="t">
            <a:spAutoFit/>
          </a:bodyPr>
          <a:lstStyle/>
          <a:p>
            <a:pPr algn="l">
              <a:spcAft>
                <a:spcPts val="800"/>
              </a:spcAft>
            </a:pPr>
            <a:r>
              <a:rPr sz="1700" b="0"/>
              <a:t>greet({required name, greeting = 'Hej'}).</a:t>
            </a:r>
          </a:p>
        </p:txBody>
      </p:sp>
      <p:sp>
        <p:nvSpPr>
          <p:cNvPr id="12" name="TextBox 11"/>
          <p:cNvSpPr txBox="1"/>
          <p:nvPr/>
        </p:nvSpPr>
        <p:spPr>
          <a:xfrm>
            <a:off x="768096" y="4739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2.5</a:t>
            </a:r>
          </a:p>
        </p:txBody>
      </p:sp>
      <p:sp>
        <p:nvSpPr>
          <p:cNvPr id="13" name="TextBox 12"/>
          <p:cNvSpPr txBox="1"/>
          <p:nvPr/>
        </p:nvSpPr>
        <p:spPr>
          <a:xfrm>
            <a:off x="1636776" y="4739640"/>
            <a:ext cx="9786823" cy="762000"/>
          </a:xfrm>
          <a:prstGeom prst="rect">
            <a:avLst/>
          </a:prstGeom>
          <a:noFill/>
        </p:spPr>
        <p:txBody>
          <a:bodyPr wrap="square" lIns="0" tIns="0" rIns="0" bIns="0" anchor="t">
            <a:spAutoFit/>
          </a:bodyPr>
          <a:lstStyle/>
          <a:p>
            <a:pPr algn="l">
              <a:spcAft>
                <a:spcPts val="800"/>
              </a:spcAft>
            </a:pPr>
            <a:r>
              <a:rPr sz="1700" b="0"/>
              <a:t>showBio(String? bio) med ??.</a:t>
            </a:r>
          </a:p>
        </p:txBody>
      </p:sp>
      <p:sp>
        <p:nvSpPr>
          <p:cNvPr id="14" name="TextBox 13"/>
          <p:cNvSpPr txBox="1"/>
          <p:nvPr/>
        </p:nvSpPr>
        <p:spPr>
          <a:xfrm>
            <a:off x="768096" y="5501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2.6</a:t>
            </a:r>
          </a:p>
        </p:txBody>
      </p:sp>
      <p:sp>
        <p:nvSpPr>
          <p:cNvPr id="15" name="TextBox 14"/>
          <p:cNvSpPr txBox="1"/>
          <p:nvPr/>
        </p:nvSpPr>
        <p:spPr>
          <a:xfrm>
            <a:off x="1636776" y="5501640"/>
            <a:ext cx="9786823" cy="762000"/>
          </a:xfrm>
          <a:prstGeom prst="rect">
            <a:avLst/>
          </a:prstGeom>
          <a:noFill/>
        </p:spPr>
        <p:txBody>
          <a:bodyPr wrap="square" lIns="0" tIns="0" rIns="0" bIns="0" anchor="t">
            <a:spAutoFit/>
          </a:bodyPr>
          <a:lstStyle/>
          <a:p>
            <a:pPr algn="l">
              <a:spcAft>
                <a:spcPts val="800"/>
              </a:spcAft>
            </a:pPr>
            <a:r>
              <a:rPr sz="1700" b="0"/>
              <a:t>Klassen Comment (id, post, author, body) med fromJson.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Allt är en widget</a:t>
            </a:r>
          </a:p>
        </p:txBody>
      </p:sp>
      <p:sp>
        <p:nvSpPr>
          <p:cNvPr id="3" name="Rounded Rectangle 2"/>
          <p:cNvSpPr/>
          <p:nvPr/>
        </p:nvSpPr>
        <p:spPr>
          <a:xfrm>
            <a:off x="768096" y="1691640"/>
            <a:ext cx="5120640" cy="265176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Widgetträdet</a:t>
            </a:r>
          </a:p>
          <a:p>
            <a:pPr algn="l"/>
            <a:r>
              <a:rPr sz="1500">
                <a:solidFill>
                  <a:srgbClr val="E6E9EF"/>
                </a:solidFill>
                <a:latin typeface="Courier New"/>
              </a:rPr>
              <a:t>MaterialApp</a:t>
            </a:r>
          </a:p>
          <a:p>
            <a:pPr algn="l"/>
            <a:r>
              <a:rPr sz="1500">
                <a:solidFill>
                  <a:srgbClr val="E6E9EF"/>
                </a:solidFill>
                <a:latin typeface="Courier New"/>
              </a:rPr>
              <a:t>└── Scaffold</a:t>
            </a:r>
          </a:p>
          <a:p>
            <a:pPr algn="l"/>
            <a:r>
              <a:rPr sz="1500">
                <a:solidFill>
                  <a:srgbClr val="E6E9EF"/>
                </a:solidFill>
                <a:latin typeface="Courier New"/>
              </a:rPr>
              <a:t>    ├── AppBar</a:t>
            </a:r>
          </a:p>
          <a:p>
            <a:pPr algn="l"/>
            <a:r>
              <a:rPr sz="1500">
                <a:solidFill>
                  <a:srgbClr val="E6E9EF"/>
                </a:solidFill>
                <a:latin typeface="Courier New"/>
              </a:rPr>
              <a:t>    │   └── Text('Kvittra')</a:t>
            </a:r>
          </a:p>
          <a:p>
            <a:pPr algn="l"/>
            <a:r>
              <a:rPr sz="1500">
                <a:solidFill>
                  <a:srgbClr val="E6E9EF"/>
                </a:solidFill>
                <a:latin typeface="Courier New"/>
              </a:rPr>
              <a:t>    └── Center</a:t>
            </a:r>
          </a:p>
          <a:p>
            <a:pPr algn="l"/>
            <a:r>
              <a:rPr sz="1500">
                <a:solidFill>
                  <a:srgbClr val="E6E9EF"/>
                </a:solidFill>
                <a:latin typeface="Courier New"/>
              </a:rPr>
              <a:t>        └── Text('Välkommen!')</a:t>
            </a:r>
          </a:p>
        </p:txBody>
      </p:sp>
      <p:graphicFrame>
        <p:nvGraphicFramePr>
          <p:cNvPr id="4" name="Table 3"/>
          <p:cNvGraphicFramePr>
            <a:graphicFrameLocks noGrp="1"/>
          </p:cNvGraphicFramePr>
          <p:nvPr/>
        </p:nvGraphicFramePr>
        <p:xfrm>
          <a:off x="6309360" y="1691640"/>
          <a:ext cx="5120640" cy="3364992"/>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420624">
                <a:tc>
                  <a:txBody>
                    <a:bodyPr/>
                    <a:lstStyle/>
                    <a:p>
                      <a:r>
                        <a:rPr sz="1500" b="1"/>
                        <a:t>Widget</a:t>
                      </a:r>
                    </a:p>
                  </a:txBody>
                  <a:tcPr marT="36576" marB="36576" anchor="ctr"/>
                </a:tc>
                <a:tc>
                  <a:txBody>
                    <a:bodyPr/>
                    <a:lstStyle/>
                    <a:p>
                      <a:r>
                        <a:rPr sz="1500" b="1"/>
                        <a:t>Gör</a:t>
                      </a:r>
                    </a:p>
                  </a:txBody>
                  <a:tcPr marT="36576" marB="36576" anchor="ctr"/>
                </a:tc>
                <a:extLst>
                  <a:ext uri="{0D108BD9-81ED-4DB2-BD59-A6C34878D82A}">
                    <a16:rowId xmlns:a16="http://schemas.microsoft.com/office/drawing/2014/main" val="10000"/>
                  </a:ext>
                </a:extLst>
              </a:tr>
              <a:tr h="420624">
                <a:tc>
                  <a:txBody>
                    <a:bodyPr/>
                    <a:lstStyle/>
                    <a:p>
                      <a:r>
                        <a:rPr sz="1500">
                          <a:latin typeface="Courier New"/>
                        </a:rPr>
                        <a:t>Text</a:t>
                      </a:r>
                    </a:p>
                  </a:txBody>
                  <a:tcPr marT="36576" marB="36576" anchor="ctr"/>
                </a:tc>
                <a:tc>
                  <a:txBody>
                    <a:bodyPr/>
                    <a:lstStyle/>
                    <a:p>
                      <a:r>
                        <a:rPr sz="1500"/>
                        <a:t>Visar text</a:t>
                      </a:r>
                    </a:p>
                  </a:txBody>
                  <a:tcPr marT="36576" marB="36576" anchor="ctr"/>
                </a:tc>
                <a:extLst>
                  <a:ext uri="{0D108BD9-81ED-4DB2-BD59-A6C34878D82A}">
                    <a16:rowId xmlns:a16="http://schemas.microsoft.com/office/drawing/2014/main" val="10001"/>
                  </a:ext>
                </a:extLst>
              </a:tr>
              <a:tr h="420624">
                <a:tc>
                  <a:txBody>
                    <a:bodyPr/>
                    <a:lstStyle/>
                    <a:p>
                      <a:r>
                        <a:rPr sz="1500">
                          <a:latin typeface="Courier New"/>
                        </a:rPr>
                        <a:t>Icon</a:t>
                      </a:r>
                    </a:p>
                  </a:txBody>
                  <a:tcPr marT="36576" marB="36576" anchor="ctr"/>
                </a:tc>
                <a:tc>
                  <a:txBody>
                    <a:bodyPr/>
                    <a:lstStyle/>
                    <a:p>
                      <a:r>
                        <a:rPr sz="1500"/>
                        <a:t>Visar en ikon</a:t>
                      </a:r>
                    </a:p>
                  </a:txBody>
                  <a:tcPr marT="36576" marB="36576" anchor="ctr"/>
                </a:tc>
                <a:extLst>
                  <a:ext uri="{0D108BD9-81ED-4DB2-BD59-A6C34878D82A}">
                    <a16:rowId xmlns:a16="http://schemas.microsoft.com/office/drawing/2014/main" val="10002"/>
                  </a:ext>
                </a:extLst>
              </a:tr>
              <a:tr h="420624">
                <a:tc>
                  <a:txBody>
                    <a:bodyPr/>
                    <a:lstStyle/>
                    <a:p>
                      <a:r>
                        <a:rPr sz="1500">
                          <a:latin typeface="Courier New"/>
                        </a:rPr>
                        <a:t>Padding</a:t>
                      </a:r>
                    </a:p>
                  </a:txBody>
                  <a:tcPr marT="36576" marB="36576" anchor="ctr"/>
                </a:tc>
                <a:tc>
                  <a:txBody>
                    <a:bodyPr/>
                    <a:lstStyle/>
                    <a:p>
                      <a:r>
                        <a:rPr sz="1500"/>
                        <a:t>Luft runt ett barn</a:t>
                      </a:r>
                    </a:p>
                  </a:txBody>
                  <a:tcPr marT="36576" marB="36576" anchor="ctr"/>
                </a:tc>
                <a:extLst>
                  <a:ext uri="{0D108BD9-81ED-4DB2-BD59-A6C34878D82A}">
                    <a16:rowId xmlns:a16="http://schemas.microsoft.com/office/drawing/2014/main" val="10003"/>
                  </a:ext>
                </a:extLst>
              </a:tr>
              <a:tr h="420624">
                <a:tc>
                  <a:txBody>
                    <a:bodyPr/>
                    <a:lstStyle/>
                    <a:p>
                      <a:r>
                        <a:rPr sz="1500">
                          <a:latin typeface="Courier New"/>
                        </a:rPr>
                        <a:t>SizedBox</a:t>
                      </a:r>
                    </a:p>
                  </a:txBody>
                  <a:tcPr marT="36576" marB="36576" anchor="ctr"/>
                </a:tc>
                <a:tc>
                  <a:txBody>
                    <a:bodyPr/>
                    <a:lstStyle/>
                    <a:p>
                      <a:r>
                        <a:rPr sz="1500"/>
                        <a:t>Tomrum eller fast storlek</a:t>
                      </a:r>
                    </a:p>
                  </a:txBody>
                  <a:tcPr marT="36576" marB="36576" anchor="ctr"/>
                </a:tc>
                <a:extLst>
                  <a:ext uri="{0D108BD9-81ED-4DB2-BD59-A6C34878D82A}">
                    <a16:rowId xmlns:a16="http://schemas.microsoft.com/office/drawing/2014/main" val="10004"/>
                  </a:ext>
                </a:extLst>
              </a:tr>
              <a:tr h="420624">
                <a:tc>
                  <a:txBody>
                    <a:bodyPr/>
                    <a:lstStyle/>
                    <a:p>
                      <a:r>
                        <a:rPr sz="1500">
                          <a:latin typeface="Courier New"/>
                        </a:rPr>
                        <a:t>Row / Column</a:t>
                      </a:r>
                    </a:p>
                  </a:txBody>
                  <a:tcPr marT="36576" marB="36576" anchor="ctr"/>
                </a:tc>
                <a:tc>
                  <a:txBody>
                    <a:bodyPr/>
                    <a:lstStyle/>
                    <a:p>
                      <a:r>
                        <a:rPr sz="1500"/>
                        <a:t>Bredvid / under varandra</a:t>
                      </a:r>
                    </a:p>
                  </a:txBody>
                  <a:tcPr marT="36576" marB="36576" anchor="ctr"/>
                </a:tc>
                <a:extLst>
                  <a:ext uri="{0D108BD9-81ED-4DB2-BD59-A6C34878D82A}">
                    <a16:rowId xmlns:a16="http://schemas.microsoft.com/office/drawing/2014/main" val="10005"/>
                  </a:ext>
                </a:extLst>
              </a:tr>
              <a:tr h="420624">
                <a:tc>
                  <a:txBody>
                    <a:bodyPr/>
                    <a:lstStyle/>
                    <a:p>
                      <a:r>
                        <a:rPr sz="1500">
                          <a:latin typeface="Courier New"/>
                        </a:rPr>
                        <a:t>Card, ListTile</a:t>
                      </a:r>
                    </a:p>
                  </a:txBody>
                  <a:tcPr marT="36576" marB="36576" anchor="ctr"/>
                </a:tc>
                <a:tc>
                  <a:txBody>
                    <a:bodyPr/>
                    <a:lstStyle/>
                    <a:p>
                      <a:r>
                        <a:rPr sz="1500"/>
                        <a:t>Kort och listrader</a:t>
                      </a:r>
                    </a:p>
                  </a:txBody>
                  <a:tcPr marT="36576" marB="36576" anchor="ctr"/>
                </a:tc>
                <a:extLst>
                  <a:ext uri="{0D108BD9-81ED-4DB2-BD59-A6C34878D82A}">
                    <a16:rowId xmlns:a16="http://schemas.microsoft.com/office/drawing/2014/main" val="10006"/>
                  </a:ext>
                </a:extLst>
              </a:tr>
              <a:tr h="420624">
                <a:tc>
                  <a:txBody>
                    <a:bodyPr/>
                    <a:lstStyle/>
                    <a:p>
                      <a:r>
                        <a:rPr sz="1500">
                          <a:latin typeface="Courier New"/>
                        </a:rPr>
                        <a:t>CircleAvatar</a:t>
                      </a:r>
                    </a:p>
                  </a:txBody>
                  <a:tcPr marT="36576" marB="36576" anchor="ctr"/>
                </a:tc>
                <a:tc>
                  <a:txBody>
                    <a:bodyPr/>
                    <a:lstStyle/>
                    <a:p>
                      <a:r>
                        <a:rPr sz="1500"/>
                        <a:t>Rund bild eller bokstav</a:t>
                      </a:r>
                    </a:p>
                  </a:txBody>
                  <a:tcPr marT="36576" marB="36576"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Row och Column</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Row: barnen bredvid varandra</a:t>
            </a:r>
          </a:p>
          <a:p>
            <a:pPr marL="365760" indent="-274320">
              <a:spcAft>
                <a:spcPts val="800"/>
              </a:spcAft>
              <a:buChar char="•"/>
            </a:pPr>
            <a:r>
              <a:rPr sz="2000"/>
              <a:t>Column: barnen under varandra</a:t>
            </a:r>
          </a:p>
          <a:p>
            <a:pPr marL="365760" indent="-274320">
              <a:spcAft>
                <a:spcPts val="800"/>
              </a:spcAft>
              <a:buChar char="•"/>
            </a:pPr>
            <a:r>
              <a:rPr sz="2000"/>
              <a:t>SizedBox ger luft mellan</a:t>
            </a:r>
          </a:p>
          <a:p>
            <a:pPr marL="365760" indent="-274320">
              <a:spcAft>
                <a:spcPts val="800"/>
              </a:spcAft>
              <a:buChar char="•"/>
            </a:pPr>
            <a:r>
              <a:rPr sz="2000"/>
              <a:t>crossAxisAlignment.start vänsterställer</a:t>
            </a:r>
          </a:p>
          <a:p>
            <a:pPr marL="365760" indent="-274320">
              <a:spcAft>
                <a:spcPts val="800"/>
              </a:spcAft>
              <a:buChar char="•"/>
            </a:pPr>
            <a:r>
              <a:rPr sz="2000"/>
              <a:t>Expanded tar resten av platsen</a:t>
            </a:r>
          </a:p>
          <a:p>
            <a:pPr marL="365760" indent="-274320">
              <a:spcAft>
                <a:spcPts val="800"/>
              </a:spcAft>
              <a:buChar char="•"/>
            </a:pPr>
            <a:r>
              <a:rPr sz="2000"/>
              <a:t>Röd-gul randig ruta = overflow, något får inte plats</a:t>
            </a:r>
          </a:p>
        </p:txBody>
      </p:sp>
      <p:sp>
        <p:nvSpPr>
          <p:cNvPr id="4" name="Rounded Rectangle 3"/>
          <p:cNvSpPr/>
          <p:nvPr/>
        </p:nvSpPr>
        <p:spPr>
          <a:xfrm>
            <a:off x="5577840" y="1737360"/>
            <a:ext cx="6120079" cy="3888739"/>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Avatar + namn</a:t>
            </a:r>
          </a:p>
          <a:p>
            <a:pPr algn="l"/>
            <a:r>
              <a:rPr sz="1400">
                <a:solidFill>
                  <a:srgbClr val="E6E9EF"/>
                </a:solidFill>
                <a:latin typeface="Courier New"/>
              </a:rPr>
              <a:t>Row(</a:t>
            </a:r>
          </a:p>
          <a:p>
            <a:pPr algn="l"/>
            <a:r>
              <a:rPr sz="1400">
                <a:solidFill>
                  <a:srgbClr val="E6E9EF"/>
                </a:solidFill>
                <a:latin typeface="Courier New"/>
              </a:rPr>
              <a:t>  children: [</a:t>
            </a:r>
          </a:p>
          <a:p>
            <a:pPr algn="l"/>
            <a:r>
              <a:rPr sz="1400">
                <a:solidFill>
                  <a:srgbClr val="E6E9EF"/>
                </a:solidFill>
                <a:latin typeface="Courier New"/>
              </a:rPr>
              <a:t>    CircleAvatar(child: Text('A')),</a:t>
            </a:r>
          </a:p>
          <a:p>
            <a:pPr algn="l"/>
            <a:r>
              <a:rPr sz="1400">
                <a:solidFill>
                  <a:srgbClr val="E6E9EF"/>
                </a:solidFill>
                <a:latin typeface="Courier New"/>
              </a:rPr>
              <a:t>    SizedBox(width: 8),</a:t>
            </a:r>
          </a:p>
          <a:p>
            <a:pPr algn="l"/>
            <a:r>
              <a:rPr sz="1400">
                <a:solidFill>
                  <a:srgbClr val="E6E9EF"/>
                </a:solidFill>
                <a:latin typeface="Courier New"/>
              </a:rPr>
              <a:t>    Column(</a:t>
            </a:r>
          </a:p>
          <a:p>
            <a:pPr algn="l"/>
            <a:r>
              <a:rPr sz="1400">
                <a:solidFill>
                  <a:srgbClr val="E6E9EF"/>
                </a:solidFill>
                <a:latin typeface="Courier New"/>
              </a:rPr>
              <a:t>      crossAxisAlignment:</a:t>
            </a:r>
          </a:p>
          <a:p>
            <a:pPr algn="l"/>
            <a:r>
              <a:rPr sz="1400">
                <a:solidFill>
                  <a:srgbClr val="E6E9EF"/>
                </a:solidFill>
                <a:latin typeface="Courier New"/>
              </a:rPr>
              <a:t>          CrossAxisAlignment.start,</a:t>
            </a:r>
          </a:p>
          <a:p>
            <a:pPr algn="l"/>
            <a:r>
              <a:rPr sz="1400">
                <a:solidFill>
                  <a:srgbClr val="E6E9EF"/>
                </a:solidFill>
                <a:latin typeface="Courier New"/>
              </a:rPr>
              <a:t>      children: [</a:t>
            </a:r>
          </a:p>
          <a:p>
            <a:pPr algn="l"/>
            <a:r>
              <a:rPr sz="1400">
                <a:solidFill>
                  <a:srgbClr val="E6E9EF"/>
                </a:solidFill>
                <a:latin typeface="Courier New"/>
              </a:rPr>
              <a:t>        Text('Anna Andersson'),</a:t>
            </a:r>
          </a:p>
          <a:p>
            <a:pPr algn="l"/>
            <a:r>
              <a:rPr sz="1400">
                <a:solidFill>
                  <a:srgbClr val="E6E9EF"/>
                </a:solidFill>
                <a:latin typeface="Courier New"/>
              </a:rPr>
              <a:t>        Text('@anna'),</a:t>
            </a:r>
          </a:p>
          <a:p>
            <a:pPr algn="l"/>
            <a:r>
              <a:rPr sz="1400">
                <a:solidFill>
                  <a:srgbClr val="E6E9EF"/>
                </a:solidFill>
                <a:latin typeface="Courier New"/>
              </a:rPr>
              <a:t>      ],</a:t>
            </a:r>
          </a:p>
          <a:p>
            <a:pPr algn="l"/>
            <a:r>
              <a:rPr sz="1400">
                <a:solidFill>
                  <a:srgbClr val="E6E9EF"/>
                </a:solidFill>
                <a:latin typeface="Courier New"/>
              </a:rPr>
              <a:t>    ),</a:t>
            </a:r>
          </a:p>
          <a:p>
            <a:pPr algn="l"/>
            <a:r>
              <a:rPr sz="1400">
                <a:solidFill>
                  <a:srgbClr val="E6E9EF"/>
                </a:solidFill>
                <a:latin typeface="Courier New"/>
              </a:rPr>
              <a:t>  ],</a:t>
            </a:r>
          </a:p>
          <a:p>
            <a:pPr algn="l"/>
            <a:r>
              <a:rPr sz="1400">
                <a:solidFill>
                  <a:srgbClr val="E6E9EF"/>
                </a:solidFill>
                <a:latin typeface="Courier New"/>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Bygg ett PostCard</a:t>
            </a:r>
          </a:p>
        </p:txBody>
      </p:sp>
      <p:sp>
        <p:nvSpPr>
          <p:cNvPr id="3" name="Rounded Rectangle 2"/>
          <p:cNvSpPr/>
          <p:nvPr/>
        </p:nvSpPr>
        <p:spPr>
          <a:xfrm>
            <a:off x="768096" y="1691640"/>
            <a:ext cx="10655503" cy="493776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lib/widgets/post_card.dart</a:t>
            </a:r>
          </a:p>
          <a:p>
            <a:pPr algn="l"/>
            <a:r>
              <a:rPr sz="1300">
                <a:solidFill>
                  <a:srgbClr val="E6E9EF"/>
                </a:solidFill>
                <a:latin typeface="Courier New"/>
              </a:rPr>
              <a:t>class PostCard extends StatelessWidget {</a:t>
            </a:r>
          </a:p>
          <a:p>
            <a:pPr algn="l"/>
            <a:r>
              <a:rPr sz="1300">
                <a:solidFill>
                  <a:srgbClr val="E6E9EF"/>
                </a:solidFill>
                <a:latin typeface="Courier New"/>
              </a:rPr>
              <a:t>  const PostCard({super.key, required this.post});</a:t>
            </a:r>
          </a:p>
          <a:p>
            <a:pPr algn="l"/>
            <a:r>
              <a:rPr sz="1300">
                <a:solidFill>
                  <a:srgbClr val="E6E9EF"/>
                </a:solidFill>
                <a:latin typeface="Courier New"/>
              </a:rPr>
              <a:t>  final Post post;</a:t>
            </a:r>
          </a:p>
          <a:p>
            <a:pPr algn="l"/>
            <a:r>
              <a:rPr sz="1300">
                <a:solidFill>
                  <a:srgbClr val="E6E9EF"/>
                </a:solidFill>
                <a:latin typeface="Courier New"/>
              </a:rPr>
              <a:t> </a:t>
            </a:r>
          </a:p>
          <a:p>
            <a:pPr algn="l"/>
            <a:r>
              <a:rPr sz="1300">
                <a:solidFill>
                  <a:srgbClr val="E6E9EF"/>
                </a:solidFill>
                <a:latin typeface="Courier New"/>
              </a:rPr>
              <a:t>  @override</a:t>
            </a:r>
          </a:p>
          <a:p>
            <a:pPr algn="l"/>
            <a:r>
              <a:rPr sz="1300">
                <a:solidFill>
                  <a:srgbClr val="E6E9EF"/>
                </a:solidFill>
                <a:latin typeface="Courier New"/>
              </a:rPr>
              <a:t>  Widget build(BuildContext context) {</a:t>
            </a:r>
          </a:p>
          <a:p>
            <a:pPr algn="l"/>
            <a:r>
              <a:rPr sz="1300">
                <a:solidFill>
                  <a:srgbClr val="E6E9EF"/>
                </a:solidFill>
                <a:latin typeface="Courier New"/>
              </a:rPr>
              <a:t>    return Card(</a:t>
            </a:r>
          </a:p>
          <a:p>
            <a:pPr algn="l"/>
            <a:r>
              <a:rPr sz="1300">
                <a:solidFill>
                  <a:srgbClr val="E6E9EF"/>
                </a:solidFill>
                <a:latin typeface="Courier New"/>
              </a:rPr>
              <a:t>      child: Padding(</a:t>
            </a:r>
          </a:p>
          <a:p>
            <a:pPr algn="l"/>
            <a:r>
              <a:rPr sz="1300">
                <a:solidFill>
                  <a:srgbClr val="E6E9EF"/>
                </a:solidFill>
                <a:latin typeface="Courier New"/>
              </a:rPr>
              <a:t>        padding: const EdgeInsets.all(16),</a:t>
            </a:r>
          </a:p>
          <a:p>
            <a:pPr algn="l"/>
            <a:r>
              <a:rPr sz="1300">
                <a:solidFill>
                  <a:srgbClr val="E6E9EF"/>
                </a:solidFill>
                <a:latin typeface="Courier New"/>
              </a:rPr>
              <a:t>        child: Column(crossAxisAlignment: CrossAxisAlignment.start, children: [</a:t>
            </a:r>
          </a:p>
          <a:p>
            <a:pPr algn="l"/>
            <a:r>
              <a:rPr sz="1300">
                <a:solidFill>
                  <a:srgbClr val="E6E9EF"/>
                </a:solidFill>
                <a:latin typeface="Courier New"/>
              </a:rPr>
              <a:t>          Row(children: [</a:t>
            </a:r>
          </a:p>
          <a:p>
            <a:pPr algn="l"/>
            <a:r>
              <a:rPr sz="1300">
                <a:solidFill>
                  <a:srgbClr val="E6E9EF"/>
                </a:solidFill>
                <a:latin typeface="Courier New"/>
              </a:rPr>
              <a:t>            CircleAvatar(child: Text(post.author[0].toUpperCase())),</a:t>
            </a:r>
          </a:p>
          <a:p>
            <a:pPr algn="l"/>
            <a:r>
              <a:rPr sz="1300">
                <a:solidFill>
                  <a:srgbClr val="E6E9EF"/>
                </a:solidFill>
                <a:latin typeface="Courier New"/>
              </a:rPr>
              <a:t>            const SizedBox(width: 12),</a:t>
            </a:r>
          </a:p>
          <a:p>
            <a:pPr algn="l"/>
            <a:r>
              <a:rPr sz="1300">
                <a:solidFill>
                  <a:srgbClr val="E6E9EF"/>
                </a:solidFill>
                <a:latin typeface="Courier New"/>
              </a:rPr>
              <a:t>            Text('@${post.author}'),</a:t>
            </a:r>
          </a:p>
          <a:p>
            <a:pPr algn="l"/>
            <a:r>
              <a:rPr sz="1300">
                <a:solidFill>
                  <a:srgbClr val="E6E9EF"/>
                </a:solidFill>
                <a:latin typeface="Courier New"/>
              </a:rPr>
              <a:t>          ]),</a:t>
            </a:r>
          </a:p>
          <a:p>
            <a:pPr algn="l"/>
            <a:r>
              <a:rPr sz="1300">
                <a:solidFill>
                  <a:srgbClr val="E6E9EF"/>
                </a:solidFill>
                <a:latin typeface="Courier New"/>
              </a:rPr>
              <a:t>          const SizedBox(height: 12),</a:t>
            </a:r>
          </a:p>
          <a:p>
            <a:pPr algn="l"/>
            <a:r>
              <a:rPr sz="1300">
                <a:solidFill>
                  <a:srgbClr val="E6E9EF"/>
                </a:solidFill>
                <a:latin typeface="Courier New"/>
              </a:rPr>
              <a:t>          Text(post.title, style: Theme.of(context).textTheme.titleMedium),</a:t>
            </a:r>
          </a:p>
          <a:p>
            <a:pPr algn="l"/>
            <a:r>
              <a:rPr sz="1300">
                <a:solidFill>
                  <a:srgbClr val="E6E9EF"/>
                </a:solidFill>
                <a:latin typeface="Courier New"/>
              </a:rPr>
              <a:t>          Text(post.body),</a:t>
            </a:r>
          </a:p>
          <a:p>
            <a:pPr algn="l"/>
            <a:r>
              <a:rPr sz="1300">
                <a:solidFill>
                  <a:srgbClr val="E6E9EF"/>
                </a:solidFill>
                <a:latin typeface="Courier New"/>
              </a:rPr>
              <a:t>        ]),</a:t>
            </a:r>
          </a:p>
          <a:p>
            <a:pPr algn="l"/>
            <a:r>
              <a:rPr sz="1300">
                <a:solidFill>
                  <a:srgbClr val="E6E9EF"/>
                </a:solidFill>
                <a:latin typeface="Courier New"/>
              </a:rPr>
              <a:t>      ),</a:t>
            </a:r>
          </a:p>
          <a:p>
            <a:pPr algn="l"/>
            <a:r>
              <a:rPr sz="1300">
                <a:solidFill>
                  <a:srgbClr val="E6E9EF"/>
                </a:solidFill>
                <a:latin typeface="Courier New"/>
              </a:rPr>
              <a:t>    );</a:t>
            </a:r>
          </a:p>
          <a:p>
            <a:pPr algn="l"/>
            <a:r>
              <a:rPr sz="1300">
                <a:solidFill>
                  <a:srgbClr val="E6E9EF"/>
                </a:solidFill>
                <a:latin typeface="Courier New"/>
              </a:rPr>
              <a:t>  }</a:t>
            </a:r>
          </a:p>
          <a:p>
            <a:pPr algn="l"/>
            <a:r>
              <a:rPr sz="1300">
                <a:solidFill>
                  <a:srgbClr val="E6E9EF"/>
                </a:solidFill>
                <a:latin typeface="Courier New"/>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widgets och layout</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3.1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Byt seedColor, t.ex. till Colors.teal. Vad ändras?</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3.2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Lägg till två egna inlägg, p7 och p8, i samplePosts.</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3.3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Visa post.body med högst två rader (maxLines + ellipsis).</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3.4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En rad längst ner i PostCard med hjärt- och pratbubbleikon.</a:t>
            </a:r>
          </a:p>
        </p:txBody>
      </p:sp>
      <p:sp>
        <p:nvSpPr>
          <p:cNvPr id="12" name="TextBox 11"/>
          <p:cNvSpPr txBox="1"/>
          <p:nvPr/>
        </p:nvSpPr>
        <p:spPr>
          <a:xfrm>
            <a:off x="768096" y="480060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3.5</a:t>
            </a:r>
          </a:p>
        </p:txBody>
      </p:sp>
      <p:sp>
        <p:nvSpPr>
          <p:cNvPr id="13" name="TextBox 12"/>
          <p:cNvSpPr txBox="1"/>
          <p:nvPr/>
        </p:nvSpPr>
        <p:spPr>
          <a:xfrm>
            <a:off x="1636776" y="4800600"/>
            <a:ext cx="9786823" cy="777240"/>
          </a:xfrm>
          <a:prstGeom prst="rect">
            <a:avLst/>
          </a:prstGeom>
          <a:noFill/>
        </p:spPr>
        <p:txBody>
          <a:bodyPr wrap="square" lIns="0" tIns="0" rIns="0" bIns="0" anchor="t">
            <a:spAutoFit/>
          </a:bodyPr>
          <a:lstStyle/>
          <a:p>
            <a:pPr algn="l">
              <a:spcAft>
                <a:spcPts val="800"/>
              </a:spcAft>
            </a:pPr>
            <a:r>
              <a:rPr sz="1700" b="0"/>
              <a:t>En UserTile-widget och en lista med användare (ListView.builder).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 data som ändras</a:t>
            </a:r>
          </a:p>
        </p:txBody>
      </p:sp>
      <p:sp>
        <p:nvSpPr>
          <p:cNvPr id="3" name="Rounded Rectangle 2"/>
          <p:cNvSpPr/>
          <p:nvPr/>
        </p:nvSpPr>
        <p:spPr>
          <a:xfrm>
            <a:off x="768096" y="1691640"/>
            <a:ext cx="10655503" cy="118872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r>
              <a:rPr sz="1600">
                <a:solidFill>
                  <a:srgbClr val="E6E9EF"/>
                </a:solidFill>
                <a:latin typeface="Courier New"/>
              </a:rPr>
              <a:t> du trycker      state ändras       build() körs        skärmen</a:t>
            </a:r>
          </a:p>
          <a:p>
            <a:pPr algn="l"/>
            <a:r>
              <a:rPr sz="1600">
                <a:solidFill>
                  <a:srgbClr val="E6E9EF"/>
                </a:solidFill>
                <a:latin typeface="Courier New"/>
              </a:rPr>
              <a:t> på hjärtat  ──►  _liked = true  ──►  igen          ──►  visar ♥</a:t>
            </a:r>
          </a:p>
        </p:txBody>
      </p:sp>
      <p:graphicFrame>
        <p:nvGraphicFramePr>
          <p:cNvPr id="4" name="Table 3"/>
          <p:cNvGraphicFramePr>
            <a:graphicFrameLocks noGrp="1"/>
          </p:cNvGraphicFramePr>
          <p:nvPr/>
        </p:nvGraphicFramePr>
        <p:xfrm>
          <a:off x="768096" y="3200400"/>
          <a:ext cx="10652759" cy="201168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502920">
                <a:tc>
                  <a:txBody>
                    <a:bodyPr/>
                    <a:lstStyle/>
                    <a:p>
                      <a:endParaRPr/>
                    </a:p>
                  </a:txBody>
                  <a:tcPr marT="36576" marB="36576" anchor="ctr"/>
                </a:tc>
                <a:tc>
                  <a:txBody>
                    <a:bodyPr/>
                    <a:lstStyle/>
                    <a:p>
                      <a:r>
                        <a:rPr sz="1700" b="1"/>
                        <a:t>StatelessWidget</a:t>
                      </a:r>
                    </a:p>
                  </a:txBody>
                  <a:tcPr marT="36576" marB="36576" anchor="ctr"/>
                </a:tc>
                <a:tc>
                  <a:txBody>
                    <a:bodyPr/>
                    <a:lstStyle/>
                    <a:p>
                      <a:r>
                        <a:rPr sz="1700" b="1"/>
                        <a:t>StatefulWidget</a:t>
                      </a:r>
                    </a:p>
                  </a:txBody>
                  <a:tcPr marT="36576" marB="36576" anchor="ctr"/>
                </a:tc>
                <a:extLst>
                  <a:ext uri="{0D108BD9-81ED-4DB2-BD59-A6C34878D82A}">
                    <a16:rowId xmlns:a16="http://schemas.microsoft.com/office/drawing/2014/main" val="10000"/>
                  </a:ext>
                </a:extLst>
              </a:tr>
              <a:tr h="502920">
                <a:tc>
                  <a:txBody>
                    <a:bodyPr/>
                    <a:lstStyle/>
                    <a:p>
                      <a:r>
                        <a:rPr sz="1700"/>
                        <a:t>Har eget minne?</a:t>
                      </a:r>
                    </a:p>
                  </a:txBody>
                  <a:tcPr marT="36576" marB="36576" anchor="ctr"/>
                </a:tc>
                <a:tc>
                  <a:txBody>
                    <a:bodyPr/>
                    <a:lstStyle/>
                    <a:p>
                      <a:r>
                        <a:rPr sz="1700"/>
                        <a:t>Nej</a:t>
                      </a:r>
                    </a:p>
                  </a:txBody>
                  <a:tcPr marT="36576" marB="36576" anchor="ctr"/>
                </a:tc>
                <a:tc>
                  <a:txBody>
                    <a:bodyPr/>
                    <a:lstStyle/>
                    <a:p>
                      <a:r>
                        <a:rPr sz="1700"/>
                        <a:t>Ja</a:t>
                      </a:r>
                    </a:p>
                  </a:txBody>
                  <a:tcPr marT="36576" marB="36576" anchor="ctr"/>
                </a:tc>
                <a:extLst>
                  <a:ext uri="{0D108BD9-81ED-4DB2-BD59-A6C34878D82A}">
                    <a16:rowId xmlns:a16="http://schemas.microsoft.com/office/drawing/2014/main" val="10001"/>
                  </a:ext>
                </a:extLst>
              </a:tr>
              <a:tr h="502920">
                <a:tc>
                  <a:txBody>
                    <a:bodyPr/>
                    <a:lstStyle/>
                    <a:p>
                      <a:r>
                        <a:rPr sz="1700"/>
                        <a:t>Kan ändra sig själv?</a:t>
                      </a:r>
                    </a:p>
                  </a:txBody>
                  <a:tcPr marT="36576" marB="36576" anchor="ctr"/>
                </a:tc>
                <a:tc>
                  <a:txBody>
                    <a:bodyPr/>
                    <a:lstStyle/>
                    <a:p>
                      <a:r>
                        <a:rPr sz="1700"/>
                        <a:t>Nej</a:t>
                      </a:r>
                    </a:p>
                  </a:txBody>
                  <a:tcPr marT="36576" marB="36576" anchor="ctr"/>
                </a:tc>
                <a:tc>
                  <a:txBody>
                    <a:bodyPr/>
                    <a:lstStyle/>
                    <a:p>
                      <a:r>
                        <a:rPr sz="1700"/>
                        <a:t>Ja, med setState</a:t>
                      </a:r>
                    </a:p>
                  </a:txBody>
                  <a:tcPr marT="36576" marB="36576" anchor="ctr"/>
                </a:tc>
                <a:extLst>
                  <a:ext uri="{0D108BD9-81ED-4DB2-BD59-A6C34878D82A}">
                    <a16:rowId xmlns:a16="http://schemas.microsoft.com/office/drawing/2014/main" val="10002"/>
                  </a:ext>
                </a:extLst>
              </a:tr>
              <a:tr h="502920">
                <a:tc>
                  <a:txBody>
                    <a:bodyPr/>
                    <a:lstStyle/>
                    <a:p>
                      <a:r>
                        <a:rPr sz="1700"/>
                        <a:t>Exempel</a:t>
                      </a:r>
                    </a:p>
                  </a:txBody>
                  <a:tcPr marT="36576" marB="36576" anchor="ctr"/>
                </a:tc>
                <a:tc>
                  <a:txBody>
                    <a:bodyPr/>
                    <a:lstStyle/>
                    <a:p>
                      <a:r>
                        <a:rPr sz="1700"/>
                        <a:t>Text, vårt PostCard</a:t>
                      </a:r>
                    </a:p>
                  </a:txBody>
                  <a:tcPr marT="36576" marB="36576" anchor="ctr"/>
                </a:tc>
                <a:tc>
                  <a:txBody>
                    <a:bodyPr/>
                    <a:lstStyle/>
                    <a:p>
                      <a:r>
                        <a:rPr sz="1700"/>
                        <a:t>En gilla-knapp, ett textfält</a:t>
                      </a:r>
                    </a:p>
                  </a:txBody>
                  <a:tcPr marT="36576" marB="36576"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 gilla-knapp med setState</a:t>
            </a:r>
          </a:p>
        </p:txBody>
      </p:sp>
      <p:sp>
        <p:nvSpPr>
          <p:cNvPr id="3" name="TextBox 2"/>
          <p:cNvSpPr txBox="1"/>
          <p:nvPr/>
        </p:nvSpPr>
        <p:spPr>
          <a:xfrm>
            <a:off x="768096" y="1691640"/>
            <a:ext cx="4078224" cy="4572000"/>
          </a:xfrm>
          <a:prstGeom prst="rect">
            <a:avLst/>
          </a:prstGeom>
          <a:noFill/>
        </p:spPr>
        <p:txBody>
          <a:bodyPr wrap="square" lIns="0" tIns="0" rIns="0" bIns="0">
            <a:spAutoFit/>
          </a:bodyPr>
          <a:lstStyle/>
          <a:p>
            <a:pPr marL="365760" indent="-274320">
              <a:spcAft>
                <a:spcPts val="800"/>
              </a:spcAft>
              <a:buChar char="•"/>
            </a:pPr>
            <a:r>
              <a:rPr sz="2000"/>
              <a:t>Två klasser: widgeten och dess State</a:t>
            </a:r>
          </a:p>
          <a:p>
            <a:pPr marL="365760" indent="-274320">
              <a:spcAft>
                <a:spcPts val="800"/>
              </a:spcAft>
              <a:buChar char="•"/>
            </a:pPr>
            <a:r>
              <a:rPr sz="2000"/>
              <a:t>initState körs en gång när knappen skapas</a:t>
            </a:r>
          </a:p>
          <a:p>
            <a:pPr marL="365760" indent="-274320">
              <a:spcAft>
                <a:spcPts val="800"/>
              </a:spcAft>
              <a:buChar char="•"/>
            </a:pPr>
            <a:r>
              <a:rPr sz="2000"/>
              <a:t>widget.initialLikes läser från widgeten</a:t>
            </a:r>
          </a:p>
          <a:p>
            <a:pPr marL="365760" indent="-274320">
              <a:spcAft>
                <a:spcPts val="800"/>
              </a:spcAft>
              <a:buChar char="•"/>
            </a:pPr>
            <a:r>
              <a:rPr sz="2000"/>
              <a:t>setState ändrar state och ritar om</a:t>
            </a:r>
          </a:p>
          <a:p>
            <a:pPr marL="365760" indent="-274320">
              <a:spcAft>
                <a:spcPts val="800"/>
              </a:spcAft>
              <a:buChar char="•"/>
            </a:pPr>
            <a:r>
              <a:rPr sz="2000"/>
              <a:t>Glömmer du setState ritas skärmen inte om!</a:t>
            </a:r>
          </a:p>
        </p:txBody>
      </p:sp>
      <p:sp>
        <p:nvSpPr>
          <p:cNvPr id="4" name="Rounded Rectangle 3"/>
          <p:cNvSpPr/>
          <p:nvPr/>
        </p:nvSpPr>
        <p:spPr>
          <a:xfrm>
            <a:off x="5120640" y="1737360"/>
            <a:ext cx="6577279" cy="46634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lib/widgets/like_button.dart</a:t>
            </a:r>
          </a:p>
          <a:p>
            <a:pPr algn="l"/>
            <a:r>
              <a:rPr sz="1100">
                <a:solidFill>
                  <a:srgbClr val="E6E9EF"/>
                </a:solidFill>
                <a:latin typeface="Courier New"/>
              </a:rPr>
              <a:t>class LikeButton extends StatefulWidget {</a:t>
            </a:r>
          </a:p>
          <a:p>
            <a:pPr algn="l"/>
            <a:r>
              <a:rPr sz="1100">
                <a:solidFill>
                  <a:srgbClr val="E6E9EF"/>
                </a:solidFill>
                <a:latin typeface="Courier New"/>
              </a:rPr>
              <a:t>  const LikeButton({super.key, this.initialLikes = 0});</a:t>
            </a:r>
          </a:p>
          <a:p>
            <a:pPr algn="l"/>
            <a:r>
              <a:rPr sz="1100">
                <a:solidFill>
                  <a:srgbClr val="E6E9EF"/>
                </a:solidFill>
                <a:latin typeface="Courier New"/>
              </a:rPr>
              <a:t>  final int initialLikes;</a:t>
            </a:r>
          </a:p>
          <a:p>
            <a:pPr algn="l"/>
            <a:r>
              <a:rPr sz="1100">
                <a:solidFill>
                  <a:srgbClr val="E6E9EF"/>
                </a:solidFill>
                <a:latin typeface="Courier New"/>
              </a:rPr>
              <a:t>  @override</a:t>
            </a:r>
          </a:p>
          <a:p>
            <a:pPr algn="l"/>
            <a:r>
              <a:rPr sz="1100">
                <a:solidFill>
                  <a:srgbClr val="E6E9EF"/>
                </a:solidFill>
                <a:latin typeface="Courier New"/>
              </a:rPr>
              <a:t>  State&lt;LikeButton&gt; createState() =&gt; _LikeButtonState();</a:t>
            </a:r>
          </a:p>
          <a:p>
            <a:pPr algn="l"/>
            <a:r>
              <a:rPr sz="1100">
                <a:solidFill>
                  <a:srgbClr val="E6E9EF"/>
                </a:solidFill>
                <a:latin typeface="Courier New"/>
              </a:rPr>
              <a:t>}</a:t>
            </a:r>
          </a:p>
          <a:p>
            <a:pPr algn="l"/>
            <a:r>
              <a:rPr sz="1100">
                <a:solidFill>
                  <a:srgbClr val="E6E9EF"/>
                </a:solidFill>
                <a:latin typeface="Courier New"/>
              </a:rPr>
              <a:t>class _LikeButtonState extends State&lt;LikeButton&gt; {</a:t>
            </a:r>
          </a:p>
          <a:p>
            <a:pPr algn="l"/>
            <a:r>
              <a:rPr sz="1100">
                <a:solidFill>
                  <a:srgbClr val="E6E9EF"/>
                </a:solidFill>
                <a:latin typeface="Courier New"/>
              </a:rPr>
              <a:t>  bool _liked = false;</a:t>
            </a:r>
          </a:p>
          <a:p>
            <a:pPr algn="l"/>
            <a:r>
              <a:rPr sz="1100">
                <a:solidFill>
                  <a:srgbClr val="E6E9EF"/>
                </a:solidFill>
                <a:latin typeface="Courier New"/>
              </a:rPr>
              <a:t>  int _likes = 0;</a:t>
            </a:r>
          </a:p>
          <a:p>
            <a:pPr algn="l"/>
            <a:r>
              <a:rPr sz="1100">
                <a:solidFill>
                  <a:srgbClr val="E6E9EF"/>
                </a:solidFill>
                <a:latin typeface="Courier New"/>
              </a:rPr>
              <a:t>  @override</a:t>
            </a:r>
          </a:p>
          <a:p>
            <a:pPr algn="l"/>
            <a:r>
              <a:rPr sz="1100">
                <a:solidFill>
                  <a:srgbClr val="E6E9EF"/>
                </a:solidFill>
                <a:latin typeface="Courier New"/>
              </a:rPr>
              <a:t>  void initState() {</a:t>
            </a:r>
          </a:p>
          <a:p>
            <a:pPr algn="l"/>
            <a:r>
              <a:rPr sz="1100">
                <a:solidFill>
                  <a:srgbClr val="E6E9EF"/>
                </a:solidFill>
                <a:latin typeface="Courier New"/>
              </a:rPr>
              <a:t>    super.initState();</a:t>
            </a:r>
          </a:p>
          <a:p>
            <a:pPr algn="l"/>
            <a:r>
              <a:rPr sz="1100">
                <a:solidFill>
                  <a:srgbClr val="E6E9EF"/>
                </a:solidFill>
                <a:latin typeface="Courier New"/>
              </a:rPr>
              <a:t>    _likes = widget.initialLikes;</a:t>
            </a:r>
          </a:p>
          <a:p>
            <a:pPr algn="l"/>
            <a:r>
              <a:rPr sz="1100">
                <a:solidFill>
                  <a:srgbClr val="E6E9EF"/>
                </a:solidFill>
                <a:latin typeface="Courier New"/>
              </a:rPr>
              <a:t>  }</a:t>
            </a:r>
          </a:p>
          <a:p>
            <a:pPr algn="l"/>
            <a:r>
              <a:rPr sz="1100">
                <a:solidFill>
                  <a:srgbClr val="E6E9EF"/>
                </a:solidFill>
                <a:latin typeface="Courier New"/>
              </a:rPr>
              <a:t>  void _toggle() =&gt; setState(() {</a:t>
            </a:r>
          </a:p>
          <a:p>
            <a:pPr algn="l"/>
            <a:r>
              <a:rPr sz="1100">
                <a:solidFill>
                  <a:srgbClr val="E6E9EF"/>
                </a:solidFill>
                <a:latin typeface="Courier New"/>
              </a:rPr>
              <a:t>        _liked = !_liked;</a:t>
            </a:r>
          </a:p>
          <a:p>
            <a:pPr algn="l"/>
            <a:r>
              <a:rPr sz="1100">
                <a:solidFill>
                  <a:srgbClr val="E6E9EF"/>
                </a:solidFill>
                <a:latin typeface="Courier New"/>
              </a:rPr>
              <a:t>        _likes += _liked ? 1 : -1;</a:t>
            </a:r>
          </a:p>
          <a:p>
            <a:pPr algn="l"/>
            <a:r>
              <a:rPr sz="1100">
                <a:solidFill>
                  <a:srgbClr val="E6E9EF"/>
                </a:solidFill>
                <a:latin typeface="Courier New"/>
              </a:rPr>
              <a:t>      });</a:t>
            </a:r>
          </a:p>
          <a:p>
            <a:pPr algn="l"/>
            <a:r>
              <a:rPr sz="1100">
                <a:solidFill>
                  <a:srgbClr val="E6E9EF"/>
                </a:solidFill>
                <a:latin typeface="Courier New"/>
              </a:rPr>
              <a:t>  @override</a:t>
            </a:r>
          </a:p>
          <a:p>
            <a:pPr algn="l"/>
            <a:r>
              <a:rPr sz="1100">
                <a:solidFill>
                  <a:srgbClr val="E6E9EF"/>
                </a:solidFill>
                <a:latin typeface="Courier New"/>
              </a:rPr>
              <a:t>  Widget build(BuildContext context) =&gt; TextButton.icon(</a:t>
            </a:r>
          </a:p>
          <a:p>
            <a:pPr algn="l"/>
            <a:r>
              <a:rPr sz="1100">
                <a:solidFill>
                  <a:srgbClr val="E6E9EF"/>
                </a:solidFill>
                <a:latin typeface="Courier New"/>
              </a:rPr>
              <a:t>      onPressed: _toggle,</a:t>
            </a:r>
          </a:p>
          <a:p>
            <a:pPr algn="l"/>
            <a:r>
              <a:rPr sz="1100">
                <a:solidFill>
                  <a:srgbClr val="E6E9EF"/>
                </a:solidFill>
                <a:latin typeface="Courier New"/>
              </a:rPr>
              <a:t>      icon: Icon(_liked ? Icons.favorite : Icons.favorite_border),</a:t>
            </a:r>
          </a:p>
          <a:p>
            <a:pPr algn="l"/>
            <a:r>
              <a:rPr sz="1100">
                <a:solidFill>
                  <a:srgbClr val="E6E9EF"/>
                </a:solidFill>
                <a:latin typeface="Courier New"/>
              </a:rPr>
              <a:t>      label: Text('$_likes'));</a:t>
            </a:r>
          </a:p>
          <a:p>
            <a:pPr algn="l"/>
            <a:r>
              <a:rPr sz="1100">
                <a:solidFill>
                  <a:srgbClr val="E6E9EF"/>
                </a:solidFill>
                <a:latin typeface="Courier New"/>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Textfält, controller och dispose</a:t>
            </a:r>
          </a:p>
        </p:txBody>
      </p:sp>
      <p:sp>
        <p:nvSpPr>
          <p:cNvPr id="3" name="TextBox 2"/>
          <p:cNvSpPr txBox="1"/>
          <p:nvPr/>
        </p:nvSpPr>
        <p:spPr>
          <a:xfrm>
            <a:off x="768096" y="1691640"/>
            <a:ext cx="10655503" cy="548640"/>
          </a:xfrm>
          <a:prstGeom prst="rect">
            <a:avLst/>
          </a:prstGeom>
          <a:noFill/>
        </p:spPr>
        <p:txBody>
          <a:bodyPr wrap="square" lIns="0" tIns="0" rIns="0" bIns="0" anchor="t">
            <a:spAutoFit/>
          </a:bodyPr>
          <a:lstStyle/>
          <a:p>
            <a:pPr algn="l">
              <a:spcAft>
                <a:spcPts val="800"/>
              </a:spcAft>
            </a:pPr>
            <a:r>
              <a:rPr sz="1800" b="0"/>
              <a:t>Ett TextField styrs av en TextEditingController: controller.text läser, controller.clear() tömmer.</a:t>
            </a:r>
          </a:p>
        </p:txBody>
      </p:sp>
      <p:graphicFrame>
        <p:nvGraphicFramePr>
          <p:cNvPr id="4" name="Table 3"/>
          <p:cNvGraphicFramePr>
            <a:graphicFrameLocks noGrp="1"/>
          </p:cNvGraphicFramePr>
          <p:nvPr/>
        </p:nvGraphicFramePr>
        <p:xfrm>
          <a:off x="768096" y="2286000"/>
          <a:ext cx="10607040" cy="21945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548640">
                <a:tc>
                  <a:txBody>
                    <a:bodyPr/>
                    <a:lstStyle/>
                    <a:p>
                      <a:r>
                        <a:rPr sz="1700" b="1"/>
                        <a:t>Metod</a:t>
                      </a:r>
                    </a:p>
                  </a:txBody>
                  <a:tcPr marT="36576" marB="36576" anchor="ctr"/>
                </a:tc>
                <a:tc>
                  <a:txBody>
                    <a:bodyPr/>
                    <a:lstStyle/>
                    <a:p>
                      <a:r>
                        <a:rPr sz="1700" b="1"/>
                        <a:t>När körs den?</a:t>
                      </a:r>
                    </a:p>
                  </a:txBody>
                  <a:tcPr marT="36576" marB="36576" anchor="ctr"/>
                </a:tc>
                <a:tc>
                  <a:txBody>
                    <a:bodyPr/>
                    <a:lstStyle/>
                    <a:p>
                      <a:r>
                        <a:rPr sz="1700" b="1"/>
                        <a:t>Används till</a:t>
                      </a:r>
                    </a:p>
                  </a:txBody>
                  <a:tcPr marT="36576" marB="36576" anchor="ctr"/>
                </a:tc>
                <a:extLst>
                  <a:ext uri="{0D108BD9-81ED-4DB2-BD59-A6C34878D82A}">
                    <a16:rowId xmlns:a16="http://schemas.microsoft.com/office/drawing/2014/main" val="10000"/>
                  </a:ext>
                </a:extLst>
              </a:tr>
              <a:tr h="548640">
                <a:tc>
                  <a:txBody>
                    <a:bodyPr/>
                    <a:lstStyle/>
                    <a:p>
                      <a:r>
                        <a:rPr sz="1700">
                          <a:latin typeface="Courier New"/>
                        </a:rPr>
                        <a:t>initState()</a:t>
                      </a:r>
                    </a:p>
                  </a:txBody>
                  <a:tcPr marT="36576" marB="36576" anchor="ctr"/>
                </a:tc>
                <a:tc>
                  <a:txBody>
                    <a:bodyPr/>
                    <a:lstStyle/>
                    <a:p>
                      <a:r>
                        <a:rPr sz="1700"/>
                        <a:t>En gång, när widgeten skapas</a:t>
                      </a:r>
                    </a:p>
                  </a:txBody>
                  <a:tcPr marT="36576" marB="36576" anchor="ctr"/>
                </a:tc>
                <a:tc>
                  <a:txBody>
                    <a:bodyPr/>
                    <a:lstStyle/>
                    <a:p>
                      <a:r>
                        <a:rPr sz="1700"/>
                        <a:t>Sätta startvärden</a:t>
                      </a:r>
                    </a:p>
                  </a:txBody>
                  <a:tcPr marT="36576" marB="36576" anchor="ctr"/>
                </a:tc>
                <a:extLst>
                  <a:ext uri="{0D108BD9-81ED-4DB2-BD59-A6C34878D82A}">
                    <a16:rowId xmlns:a16="http://schemas.microsoft.com/office/drawing/2014/main" val="10001"/>
                  </a:ext>
                </a:extLst>
              </a:tr>
              <a:tr h="548640">
                <a:tc>
                  <a:txBody>
                    <a:bodyPr/>
                    <a:lstStyle/>
                    <a:p>
                      <a:r>
                        <a:rPr sz="1700">
                          <a:latin typeface="Courier New"/>
                        </a:rPr>
                        <a:t>build()</a:t>
                      </a:r>
                    </a:p>
                  </a:txBody>
                  <a:tcPr marT="36576" marB="36576" anchor="ctr"/>
                </a:tc>
                <a:tc>
                  <a:txBody>
                    <a:bodyPr/>
                    <a:lstStyle/>
                    <a:p>
                      <a:r>
                        <a:rPr sz="1700"/>
                        <a:t>Varje gång något ändras</a:t>
                      </a:r>
                    </a:p>
                  </a:txBody>
                  <a:tcPr marT="36576" marB="36576" anchor="ctr"/>
                </a:tc>
                <a:tc>
                  <a:txBody>
                    <a:bodyPr/>
                    <a:lstStyle/>
                    <a:p>
                      <a:r>
                        <a:rPr sz="1700"/>
                        <a:t>Rita skärmen</a:t>
                      </a:r>
                    </a:p>
                  </a:txBody>
                  <a:tcPr marT="36576" marB="36576" anchor="ctr"/>
                </a:tc>
                <a:extLst>
                  <a:ext uri="{0D108BD9-81ED-4DB2-BD59-A6C34878D82A}">
                    <a16:rowId xmlns:a16="http://schemas.microsoft.com/office/drawing/2014/main" val="10002"/>
                  </a:ext>
                </a:extLst>
              </a:tr>
              <a:tr h="548640">
                <a:tc>
                  <a:txBody>
                    <a:bodyPr/>
                    <a:lstStyle/>
                    <a:p>
                      <a:r>
                        <a:rPr sz="1700">
                          <a:latin typeface="Courier New"/>
                        </a:rPr>
                        <a:t>dispose()</a:t>
                      </a:r>
                    </a:p>
                  </a:txBody>
                  <a:tcPr marT="36576" marB="36576" anchor="ctr"/>
                </a:tc>
                <a:tc>
                  <a:txBody>
                    <a:bodyPr/>
                    <a:lstStyle/>
                    <a:p>
                      <a:r>
                        <a:rPr sz="1700"/>
                        <a:t>En gång, när widgeten tas bort</a:t>
                      </a:r>
                    </a:p>
                  </a:txBody>
                  <a:tcPr marT="36576" marB="36576" anchor="ctr"/>
                </a:tc>
                <a:tc>
                  <a:txBody>
                    <a:bodyPr/>
                    <a:lstStyle/>
                    <a:p>
                      <a:r>
                        <a:rPr sz="1700"/>
                        <a:t>Städa: _controller.dispose()</a:t>
                      </a:r>
                    </a:p>
                  </a:txBody>
                  <a:tcPr marT="36576" marB="36576" anchor="ctr"/>
                </a:tc>
                <a:extLst>
                  <a:ext uri="{0D108BD9-81ED-4DB2-BD59-A6C34878D82A}">
                    <a16:rowId xmlns:a16="http://schemas.microsoft.com/office/drawing/2014/main" val="10003"/>
                  </a:ext>
                </a:extLst>
              </a:tr>
            </a:tbl>
          </a:graphicData>
        </a:graphic>
      </p:graphicFrame>
      <p:sp>
        <p:nvSpPr>
          <p:cNvPr id="5" name="TextBox 4"/>
          <p:cNvSpPr txBox="1"/>
          <p:nvPr/>
        </p:nvSpPr>
        <p:spPr>
          <a:xfrm>
            <a:off x="768096" y="4709160"/>
            <a:ext cx="10655503" cy="731520"/>
          </a:xfrm>
          <a:prstGeom prst="rect">
            <a:avLst/>
          </a:prstGeom>
          <a:noFill/>
        </p:spPr>
        <p:txBody>
          <a:bodyPr wrap="square" lIns="0" tIns="0" rIns="0" bIns="0" anchor="t">
            <a:spAutoFit/>
          </a:bodyPr>
          <a:lstStyle/>
          <a:p>
            <a:pPr algn="l">
              <a:spcAft>
                <a:spcPts val="800"/>
              </a:spcAft>
            </a:pPr>
            <a:r>
              <a:rPr sz="1600" b="0">
                <a:solidFill>
                  <a:srgbClr val="595959"/>
                </a:solidFill>
              </a:rPr>
              <a:t>⚠️ Skapa aldrig en controller inuti build – den skulle skapas om varje gång. Och glöm inte dispose, annars läcker appen minne.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 här blir jobbigt …</a:t>
            </a:r>
          </a:p>
        </p:txBody>
      </p:sp>
      <p:graphicFrame>
        <p:nvGraphicFramePr>
          <p:cNvPr id="3" name="Table 2"/>
          <p:cNvGraphicFramePr>
            <a:graphicFrameLocks noGrp="1"/>
          </p:cNvGraphicFramePr>
          <p:nvPr/>
        </p:nvGraphicFramePr>
        <p:xfrm>
          <a:off x="768096" y="1691640"/>
          <a:ext cx="10607040" cy="3291840"/>
        </p:xfrm>
        <a:graphic>
          <a:graphicData uri="http://schemas.openxmlformats.org/drawingml/2006/table">
            <a:tbl>
              <a:tblPr firstRow="1" bandRow="1">
                <a:tableStyleId>{5C22544A-7EE6-4342-B048-85BDC9FD1C3A}</a:tableStyleId>
              </a:tblPr>
              <a:tblGrid>
                <a:gridCol w="576072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548640">
                <a:tc>
                  <a:txBody>
                    <a:bodyPr/>
                    <a:lstStyle/>
                    <a:p>
                      <a:r>
                        <a:rPr sz="1700" b="1"/>
                        <a:t>Jobbigt</a:t>
                      </a:r>
                    </a:p>
                  </a:txBody>
                  <a:tcPr marT="36576" marB="36576" anchor="ctr"/>
                </a:tc>
                <a:tc>
                  <a:txBody>
                    <a:bodyPr/>
                    <a:lstStyle/>
                    <a:p>
                      <a:r>
                        <a:rPr sz="1700" b="1"/>
                        <a:t>Exempel</a:t>
                      </a:r>
                    </a:p>
                  </a:txBody>
                  <a:tcPr marT="36576" marB="36576" anchor="ctr"/>
                </a:tc>
                <a:extLst>
                  <a:ext uri="{0D108BD9-81ED-4DB2-BD59-A6C34878D82A}">
                    <a16:rowId xmlns:a16="http://schemas.microsoft.com/office/drawing/2014/main" val="10000"/>
                  </a:ext>
                </a:extLst>
              </a:tr>
              <a:tr h="548640">
                <a:tc>
                  <a:txBody>
                    <a:bodyPr/>
                    <a:lstStyle/>
                    <a:p>
                      <a:r>
                        <a:rPr sz="1700"/>
                        <a:t>Två klasser för varje widget som ändrar sig</a:t>
                      </a:r>
                    </a:p>
                  </a:txBody>
                  <a:tcPr marT="36576" marB="36576" anchor="ctr"/>
                </a:tc>
                <a:tc>
                  <a:txBody>
                    <a:bodyPr/>
                    <a:lstStyle/>
                    <a:p>
                      <a:r>
                        <a:rPr sz="1700"/>
                        <a:t>LikeButton och _LikeButtonState</a:t>
                      </a:r>
                    </a:p>
                  </a:txBody>
                  <a:tcPr marT="36576" marB="36576" anchor="ctr"/>
                </a:tc>
                <a:extLst>
                  <a:ext uri="{0D108BD9-81ED-4DB2-BD59-A6C34878D82A}">
                    <a16:rowId xmlns:a16="http://schemas.microsoft.com/office/drawing/2014/main" val="10001"/>
                  </a:ext>
                </a:extLst>
              </a:tr>
              <a:tr h="548640">
                <a:tc>
                  <a:txBody>
                    <a:bodyPr/>
                    <a:lstStyle/>
                    <a:p>
                      <a:r>
                        <a:rPr sz="1700"/>
                        <a:t>setState överallt – glöms det uppdateras inget</a:t>
                      </a:r>
                    </a:p>
                  </a:txBody>
                  <a:tcPr marT="36576" marB="36576" anchor="ctr"/>
                </a:tc>
                <a:tc>
                  <a:txBody>
                    <a:bodyPr/>
                    <a:lstStyle/>
                    <a:p>
                      <a:r>
                        <a:rPr sz="1700"/>
                        <a:t>_toggle()</a:t>
                      </a:r>
                    </a:p>
                  </a:txBody>
                  <a:tcPr marT="36576" marB="36576" anchor="ctr"/>
                </a:tc>
                <a:extLst>
                  <a:ext uri="{0D108BD9-81ED-4DB2-BD59-A6C34878D82A}">
                    <a16:rowId xmlns:a16="http://schemas.microsoft.com/office/drawing/2014/main" val="10002"/>
                  </a:ext>
                </a:extLst>
              </a:tr>
              <a:tr h="548640">
                <a:tc>
                  <a:txBody>
                    <a:bodyPr/>
                    <a:lstStyle/>
                    <a:p>
                      <a:r>
                        <a:rPr sz="1700"/>
                        <a:t>dispose för varje controller</a:t>
                      </a:r>
                    </a:p>
                  </a:txBody>
                  <a:tcPr marT="36576" marB="36576" anchor="ctr"/>
                </a:tc>
                <a:tc>
                  <a:txBody>
                    <a:bodyPr/>
                    <a:lstStyle/>
                    <a:p>
                      <a:r>
                        <a:rPr sz="1700"/>
                        <a:t>_controller.dispose()</a:t>
                      </a:r>
                    </a:p>
                  </a:txBody>
                  <a:tcPr marT="36576" marB="36576" anchor="ctr"/>
                </a:tc>
                <a:extLst>
                  <a:ext uri="{0D108BD9-81ED-4DB2-BD59-A6C34878D82A}">
                    <a16:rowId xmlns:a16="http://schemas.microsoft.com/office/drawing/2014/main" val="10003"/>
                  </a:ext>
                </a:extLst>
              </a:tr>
              <a:tr h="548640">
                <a:tc>
                  <a:txBody>
                    <a:bodyPr/>
                    <a:lstStyle/>
                    <a:p>
                      <a:r>
                        <a:rPr sz="1700"/>
                        <a:t>initState för att kopiera startvärden</a:t>
                      </a:r>
                    </a:p>
                  </a:txBody>
                  <a:tcPr marT="36576" marB="36576" anchor="ctr"/>
                </a:tc>
                <a:tc>
                  <a:txBody>
                    <a:bodyPr/>
                    <a:lstStyle/>
                    <a:p>
                      <a:r>
                        <a:rPr sz="1700"/>
                        <a:t>_likes = widget.initialLikes</a:t>
                      </a:r>
                    </a:p>
                  </a:txBody>
                  <a:tcPr marT="36576" marB="36576" anchor="ctr"/>
                </a:tc>
                <a:extLst>
                  <a:ext uri="{0D108BD9-81ED-4DB2-BD59-A6C34878D82A}">
                    <a16:rowId xmlns:a16="http://schemas.microsoft.com/office/drawing/2014/main" val="10004"/>
                  </a:ext>
                </a:extLst>
              </a:tr>
              <a:tr h="548640">
                <a:tc>
                  <a:txBody>
                    <a:bodyPr/>
                    <a:lstStyle/>
                    <a:p>
                      <a:r>
                        <a:rPr sz="1700"/>
                        <a:t>State sitter fast i en widget</a:t>
                      </a:r>
                    </a:p>
                  </a:txBody>
                  <a:tcPr marT="36576" marB="36576" anchor="ctr"/>
                </a:tc>
                <a:tc>
                  <a:txBody>
                    <a:bodyPr/>
                    <a:lstStyle/>
                    <a:p>
                      <a:r>
                        <a:rPr sz="1700"/>
                        <a:t>AppBar kan inte veta hur många du gillat</a:t>
                      </a:r>
                    </a:p>
                  </a:txBody>
                  <a:tcPr marT="36576" marB="36576" anchor="ctr"/>
                </a:tc>
                <a:extLst>
                  <a:ext uri="{0D108BD9-81ED-4DB2-BD59-A6C34878D82A}">
                    <a16:rowId xmlns:a16="http://schemas.microsoft.com/office/drawing/2014/main" val="10005"/>
                  </a:ext>
                </a:extLst>
              </a:tr>
            </a:tbl>
          </a:graphicData>
        </a:graphic>
      </p:graphicFrame>
      <p:sp>
        <p:nvSpPr>
          <p:cNvPr id="4" name="TextBox 3"/>
          <p:cNvSpPr txBox="1"/>
          <p:nvPr/>
        </p:nvSpPr>
        <p:spPr>
          <a:xfrm>
            <a:off x="768096" y="5212079"/>
            <a:ext cx="10655503" cy="731520"/>
          </a:xfrm>
          <a:prstGeom prst="rect">
            <a:avLst/>
          </a:prstGeom>
          <a:noFill/>
        </p:spPr>
        <p:txBody>
          <a:bodyPr wrap="square" lIns="0" tIns="0" rIns="0" bIns="0" anchor="t">
            <a:spAutoFit/>
          </a:bodyPr>
          <a:lstStyle/>
          <a:p>
            <a:pPr algn="l">
              <a:spcAft>
                <a:spcPts val="800"/>
              </a:spcAft>
            </a:pPr>
            <a:r>
              <a:rPr sz="1600" b="0">
                <a:solidFill>
                  <a:srgbClr val="595959"/>
                </a:solidFill>
              </a:rPr>
              <a:t>I modul 03 löser Flutter Compositions det här – precis som ref och onUnmounted i Vue.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state och interaktion</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4.1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FollowButton som StatefulWidget: växlar mellan ”Följ” och ”Följer”.</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4.2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Ta bort setState i LikeButton. Vad händer, och varför?</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4.3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Visa antalet kommentarer överst i CommentSection.</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4.4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Gör skicka-knappen grå när fältet är tomt (onChanged + onPressed: null).</a:t>
            </a:r>
          </a:p>
        </p:txBody>
      </p:sp>
      <p:sp>
        <p:nvSpPr>
          <p:cNvPr id="12" name="TextBox 11"/>
          <p:cNvSpPr txBox="1"/>
          <p:nvPr/>
        </p:nvSpPr>
        <p:spPr>
          <a:xfrm>
            <a:off x="768096" y="480060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4.5</a:t>
            </a:r>
          </a:p>
        </p:txBody>
      </p:sp>
      <p:sp>
        <p:nvSpPr>
          <p:cNvPr id="13" name="TextBox 12"/>
          <p:cNvSpPr txBox="1"/>
          <p:nvPr/>
        </p:nvSpPr>
        <p:spPr>
          <a:xfrm>
            <a:off x="1636776" y="4800600"/>
            <a:ext cx="9786823" cy="777240"/>
          </a:xfrm>
          <a:prstGeom prst="rect">
            <a:avLst/>
          </a:prstGeom>
          <a:noFill/>
        </p:spPr>
        <p:txBody>
          <a:bodyPr wrap="square" lIns="0" tIns="0" rIns="0" bIns="0" anchor="t">
            <a:spAutoFit/>
          </a:bodyPr>
          <a:lstStyle/>
          <a:p>
            <a:pPr algn="l">
              <a:spcAft>
                <a:spcPts val="800"/>
              </a:spcAft>
            </a:pPr>
            <a:r>
              <a:rPr sz="1700" b="0"/>
              <a:t>Utmaning: en papperskorg för att ta bort en kommentar.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Navigation med go_router</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flutter pub add go_router</a:t>
            </a:r>
          </a:p>
          <a:p>
            <a:pPr marL="365760" indent="-274320">
              <a:spcAft>
                <a:spcPts val="800"/>
              </a:spcAft>
              <a:buChar char="•"/>
            </a:pPr>
            <a:r>
              <a:rPr sz="2000"/>
              <a:t>Varje skärm får en adress, som på en webbplats</a:t>
            </a:r>
          </a:p>
          <a:p>
            <a:pPr marL="365760" indent="-274320">
              <a:spcAft>
                <a:spcPts val="800"/>
              </a:spcAft>
              <a:buChar char="•"/>
            </a:pPr>
            <a:r>
              <a:rPr sz="2000"/>
              <a:t>:id är en parameter – /posts/p3 ger id = 'p3'</a:t>
            </a:r>
          </a:p>
          <a:p>
            <a:pPr marL="365760" indent="-274320">
              <a:spcAft>
                <a:spcPts val="800"/>
              </a:spcAft>
              <a:buChar char="•"/>
            </a:pPr>
            <a:r>
              <a:rPr sz="2000"/>
              <a:t>/posts/new måste stå före /posts/:id</a:t>
            </a:r>
          </a:p>
          <a:p>
            <a:pPr marL="365760" indent="-274320">
              <a:spcAft>
                <a:spcPts val="800"/>
              </a:spcAft>
              <a:buChar char="•"/>
            </a:pPr>
            <a:r>
              <a:rPr sz="2000"/>
              <a:t>MaterialApp.router(routerConfig: router)</a:t>
            </a:r>
          </a:p>
        </p:txBody>
      </p:sp>
      <p:sp>
        <p:nvSpPr>
          <p:cNvPr id="4" name="Rounded Rectangle 3"/>
          <p:cNvSpPr/>
          <p:nvPr/>
        </p:nvSpPr>
        <p:spPr>
          <a:xfrm>
            <a:off x="5577840" y="1737360"/>
            <a:ext cx="6120079" cy="2777489"/>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lib/router.dart</a:t>
            </a:r>
          </a:p>
          <a:p>
            <a:pPr algn="l"/>
            <a:r>
              <a:rPr sz="1400">
                <a:solidFill>
                  <a:srgbClr val="E6E9EF"/>
                </a:solidFill>
                <a:latin typeface="Courier New"/>
              </a:rPr>
              <a:t>final router = GoRouter(routes: [</a:t>
            </a:r>
          </a:p>
          <a:p>
            <a:pPr algn="l"/>
            <a:r>
              <a:rPr sz="1400">
                <a:solidFill>
                  <a:srgbClr val="E6E9EF"/>
                </a:solidFill>
                <a:latin typeface="Courier New"/>
              </a:rPr>
              <a:t>  GoRoute(path: '/',</a:t>
            </a:r>
          </a:p>
          <a:p>
            <a:pPr algn="l"/>
            <a:r>
              <a:rPr sz="1400">
                <a:solidFill>
                  <a:srgbClr val="E6E9EF"/>
                </a:solidFill>
                <a:latin typeface="Courier New"/>
              </a:rPr>
              <a:t>      builder: (c, s) =&gt; const FeedScreen()),</a:t>
            </a:r>
          </a:p>
          <a:p>
            <a:pPr algn="l"/>
            <a:r>
              <a:rPr sz="1400">
                <a:solidFill>
                  <a:srgbClr val="E6E9EF"/>
                </a:solidFill>
                <a:latin typeface="Courier New"/>
              </a:rPr>
              <a:t>  GoRoute(path: '/posts/new',</a:t>
            </a:r>
          </a:p>
          <a:p>
            <a:pPr algn="l"/>
            <a:r>
              <a:rPr sz="1400">
                <a:solidFill>
                  <a:srgbClr val="E6E9EF"/>
                </a:solidFill>
                <a:latin typeface="Courier New"/>
              </a:rPr>
              <a:t>      builder: (c, s) =&gt; const NewPostScreen()),</a:t>
            </a:r>
          </a:p>
          <a:p>
            <a:pPr algn="l"/>
            <a:r>
              <a:rPr sz="1400">
                <a:solidFill>
                  <a:srgbClr val="E6E9EF"/>
                </a:solidFill>
                <a:latin typeface="Courier New"/>
              </a:rPr>
              <a:t>  GoRoute(path: '/posts/:id',</a:t>
            </a:r>
          </a:p>
          <a:p>
            <a:pPr algn="l"/>
            <a:r>
              <a:rPr sz="1400">
                <a:solidFill>
                  <a:srgbClr val="E6E9EF"/>
                </a:solidFill>
                <a:latin typeface="Courier New"/>
              </a:rPr>
              <a:t>      builder: (c, s) =&gt; PostDetailScreen(</a:t>
            </a:r>
          </a:p>
          <a:p>
            <a:pPr algn="l"/>
            <a:r>
              <a:rPr sz="1400">
                <a:solidFill>
                  <a:srgbClr val="E6E9EF"/>
                </a:solidFill>
                <a:latin typeface="Courier New"/>
              </a:rPr>
              <a:t>          postId: s.pathParameters['id'] ?? '')),</a:t>
            </a:r>
          </a:p>
          <a:p>
            <a:pPr algn="l"/>
            <a:r>
              <a:rPr sz="1400">
                <a:solidFill>
                  <a:srgbClr val="E6E9EF"/>
                </a:solidFill>
                <a:latin typeface="Courier New"/>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Navigera mellan skärmar</a:t>
            </a:r>
          </a:p>
        </p:txBody>
      </p:sp>
      <p:sp>
        <p:nvSpPr>
          <p:cNvPr id="3" name="Rounded Rectangle 2"/>
          <p:cNvSpPr/>
          <p:nvPr/>
        </p:nvSpPr>
        <p:spPr>
          <a:xfrm>
            <a:off x="768096" y="1691640"/>
            <a:ext cx="4937760" cy="219456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Skärmar ligger i en stapel</a:t>
            </a:r>
          </a:p>
          <a:p>
            <a:pPr algn="l"/>
            <a:r>
              <a:rPr sz="1400">
                <a:solidFill>
                  <a:srgbClr val="E6E9EF"/>
                </a:solidFill>
                <a:latin typeface="Courier New"/>
              </a:rPr>
              <a:t> push('/posts/p1')        pop()</a:t>
            </a:r>
          </a:p>
          <a:p>
            <a:pPr algn="l"/>
            <a:r>
              <a:rPr sz="1400">
                <a:solidFill>
                  <a:srgbClr val="E6E9EF"/>
                </a:solidFill>
                <a:latin typeface="Courier New"/>
              </a:rPr>
              <a:t>┌────────┐  ┌────────┐  ┌────────┐</a:t>
            </a:r>
          </a:p>
          <a:p>
            <a:pPr algn="l"/>
            <a:r>
              <a:rPr sz="1400">
                <a:solidFill>
                  <a:srgbClr val="E6E9EF"/>
                </a:solidFill>
                <a:latin typeface="Courier New"/>
              </a:rPr>
              <a:t>│        │  │ Inlägg │  │        │</a:t>
            </a:r>
          </a:p>
          <a:p>
            <a:pPr algn="l"/>
            <a:r>
              <a:rPr sz="1400">
                <a:solidFill>
                  <a:srgbClr val="E6E9EF"/>
                </a:solidFill>
                <a:latin typeface="Courier New"/>
              </a:rPr>
              <a:t>│ Flöde  │─►│ Flöde  │─►│ Flöde  │</a:t>
            </a:r>
          </a:p>
          <a:p>
            <a:pPr algn="l"/>
            <a:r>
              <a:rPr sz="1400">
                <a:solidFill>
                  <a:srgbClr val="E6E9EF"/>
                </a:solidFill>
                <a:latin typeface="Courier New"/>
              </a:rPr>
              <a:t>└────────┘  └────────┘  └────────┘</a:t>
            </a:r>
          </a:p>
        </p:txBody>
      </p:sp>
      <p:graphicFrame>
        <p:nvGraphicFramePr>
          <p:cNvPr id="4" name="Table 3"/>
          <p:cNvGraphicFramePr>
            <a:graphicFrameLocks noGrp="1"/>
          </p:cNvGraphicFramePr>
          <p:nvPr/>
        </p:nvGraphicFramePr>
        <p:xfrm>
          <a:off x="6035040" y="1691640"/>
          <a:ext cx="5394960" cy="2514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502920">
                <a:tc>
                  <a:txBody>
                    <a:bodyPr/>
                    <a:lstStyle/>
                    <a:p>
                      <a:r>
                        <a:rPr sz="1400" b="1"/>
                        <a:t>Kommando</a:t>
                      </a:r>
                    </a:p>
                  </a:txBody>
                  <a:tcPr marT="36576" marB="36576" anchor="ctr"/>
                </a:tc>
                <a:tc>
                  <a:txBody>
                    <a:bodyPr/>
                    <a:lstStyle/>
                    <a:p>
                      <a:r>
                        <a:rPr sz="1400" b="1"/>
                        <a:t>Gör</a:t>
                      </a:r>
                    </a:p>
                  </a:txBody>
                  <a:tcPr marT="36576" marB="36576" anchor="ctr"/>
                </a:tc>
                <a:extLst>
                  <a:ext uri="{0D108BD9-81ED-4DB2-BD59-A6C34878D82A}">
                    <a16:rowId xmlns:a16="http://schemas.microsoft.com/office/drawing/2014/main" val="10000"/>
                  </a:ext>
                </a:extLst>
              </a:tr>
              <a:tr h="502920">
                <a:tc>
                  <a:txBody>
                    <a:bodyPr/>
                    <a:lstStyle/>
                    <a:p>
                      <a:r>
                        <a:rPr sz="1400">
                          <a:latin typeface="Courier New"/>
                        </a:rPr>
                        <a:t>context.push('/posts/p1')</a:t>
                      </a:r>
                    </a:p>
                  </a:txBody>
                  <a:tcPr marT="36576" marB="36576" anchor="ctr"/>
                </a:tc>
                <a:tc>
                  <a:txBody>
                    <a:bodyPr/>
                    <a:lstStyle/>
                    <a:p>
                      <a:r>
                        <a:rPr sz="1400"/>
                        <a:t>Lägger en skärm överst</a:t>
                      </a:r>
                    </a:p>
                  </a:txBody>
                  <a:tcPr marT="36576" marB="36576" anchor="ctr"/>
                </a:tc>
                <a:extLst>
                  <a:ext uri="{0D108BD9-81ED-4DB2-BD59-A6C34878D82A}">
                    <a16:rowId xmlns:a16="http://schemas.microsoft.com/office/drawing/2014/main" val="10001"/>
                  </a:ext>
                </a:extLst>
              </a:tr>
              <a:tr h="502920">
                <a:tc>
                  <a:txBody>
                    <a:bodyPr/>
                    <a:lstStyle/>
                    <a:p>
                      <a:r>
                        <a:rPr sz="1400">
                          <a:latin typeface="Courier New"/>
                        </a:rPr>
                        <a:t>context.pop()</a:t>
                      </a:r>
                    </a:p>
                  </a:txBody>
                  <a:tcPr marT="36576" marB="36576" anchor="ctr"/>
                </a:tc>
                <a:tc>
                  <a:txBody>
                    <a:bodyPr/>
                    <a:lstStyle/>
                    <a:p>
                      <a:r>
                        <a:rPr sz="1400"/>
                        <a:t>Tar bort den översta</a:t>
                      </a:r>
                    </a:p>
                  </a:txBody>
                  <a:tcPr marT="36576" marB="36576" anchor="ctr"/>
                </a:tc>
                <a:extLst>
                  <a:ext uri="{0D108BD9-81ED-4DB2-BD59-A6C34878D82A}">
                    <a16:rowId xmlns:a16="http://schemas.microsoft.com/office/drawing/2014/main" val="10002"/>
                  </a:ext>
                </a:extLst>
              </a:tr>
              <a:tr h="502920">
                <a:tc>
                  <a:txBody>
                    <a:bodyPr/>
                    <a:lstStyle/>
                    <a:p>
                      <a:r>
                        <a:rPr sz="1400">
                          <a:latin typeface="Courier New"/>
                        </a:rPr>
                        <a:t>context.go('/')</a:t>
                      </a:r>
                    </a:p>
                  </a:txBody>
                  <a:tcPr marT="36576" marB="36576" anchor="ctr"/>
                </a:tc>
                <a:tc>
                  <a:txBody>
                    <a:bodyPr/>
                    <a:lstStyle/>
                    <a:p>
                      <a:r>
                        <a:rPr sz="1400"/>
                        <a:t>Byter skärm, stapeln byggs om</a:t>
                      </a:r>
                    </a:p>
                  </a:txBody>
                  <a:tcPr marT="36576" marB="36576" anchor="ctr"/>
                </a:tc>
                <a:extLst>
                  <a:ext uri="{0D108BD9-81ED-4DB2-BD59-A6C34878D82A}">
                    <a16:rowId xmlns:a16="http://schemas.microsoft.com/office/drawing/2014/main" val="10003"/>
                  </a:ext>
                </a:extLst>
              </a:tr>
              <a:tr h="502920">
                <a:tc>
                  <a:txBody>
                    <a:bodyPr/>
                    <a:lstStyle/>
                    <a:p>
                      <a:r>
                        <a:rPr sz="1400">
                          <a:latin typeface="Courier New"/>
                        </a:rPr>
                        <a:t>context.pop(post)</a:t>
                      </a:r>
                    </a:p>
                  </a:txBody>
                  <a:tcPr marT="36576" marB="36576" anchor="ctr"/>
                </a:tc>
                <a:tc>
                  <a:txBody>
                    <a:bodyPr/>
                    <a:lstStyle/>
                    <a:p>
                      <a:r>
                        <a:rPr sz="1400"/>
                        <a:t>Går tillbaka och skickar med ett svar</a:t>
                      </a:r>
                    </a:p>
                  </a:txBody>
                  <a:tcPr marT="36576" marB="36576"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Formulär och validering</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Form håller ihop fälten</a:t>
            </a:r>
          </a:p>
          <a:p>
            <a:pPr marL="365760" indent="-274320">
              <a:spcAft>
                <a:spcPts val="800"/>
              </a:spcAft>
              <a:buChar char="•"/>
            </a:pPr>
            <a:r>
              <a:rPr sz="2000"/>
              <a:t>GlobalKey&lt;FormState&gt; är ett handtag till formuläret</a:t>
            </a:r>
          </a:p>
          <a:p>
            <a:pPr marL="365760" indent="-274320">
              <a:spcAft>
                <a:spcPts val="800"/>
              </a:spcAft>
              <a:buChar char="•"/>
            </a:pPr>
            <a:r>
              <a:rPr sz="2000"/>
              <a:t>TextFormField har en validator</a:t>
            </a:r>
          </a:p>
          <a:p>
            <a:pPr marL="365760" indent="-274320">
              <a:spcAft>
                <a:spcPts val="800"/>
              </a:spcAft>
              <a:buChar char="•"/>
            </a:pPr>
            <a:r>
              <a:rPr sz="2000"/>
              <a:t>validator returnerar null om allt är okej</a:t>
            </a:r>
          </a:p>
          <a:p>
            <a:pPr marL="365760" indent="-274320">
              <a:spcAft>
                <a:spcPts val="800"/>
              </a:spcAft>
              <a:buChar char="•"/>
            </a:pPr>
            <a:r>
              <a:rPr sz="2000"/>
              <a:t>…annars ett felmeddelande som visas under fältet</a:t>
            </a:r>
          </a:p>
        </p:txBody>
      </p:sp>
      <p:sp>
        <p:nvSpPr>
          <p:cNvPr id="4" name="Rounded Rectangle 3"/>
          <p:cNvSpPr/>
          <p:nvPr/>
        </p:nvSpPr>
        <p:spPr>
          <a:xfrm>
            <a:off x="5577840" y="1737360"/>
            <a:ext cx="6120079" cy="3888739"/>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lib/validators.dart</a:t>
            </a:r>
          </a:p>
          <a:p>
            <a:pPr algn="l"/>
            <a:r>
              <a:rPr sz="1400">
                <a:solidFill>
                  <a:srgbClr val="E6E9EF"/>
                </a:solidFill>
                <a:latin typeface="Courier New"/>
              </a:rPr>
              <a:t>String? validateTitle(String? value) {</a:t>
            </a:r>
          </a:p>
          <a:p>
            <a:pPr algn="l"/>
            <a:r>
              <a:rPr sz="1400">
                <a:solidFill>
                  <a:srgbClr val="E6E9EF"/>
                </a:solidFill>
                <a:latin typeface="Courier New"/>
              </a:rPr>
              <a:t>  if (value == null || value.trim().isEmpty) {</a:t>
            </a:r>
          </a:p>
          <a:p>
            <a:pPr algn="l"/>
            <a:r>
              <a:rPr sz="1400">
                <a:solidFill>
                  <a:srgbClr val="E6E9EF"/>
                </a:solidFill>
                <a:latin typeface="Courier New"/>
              </a:rPr>
              <a:t>    return 'Skriv en rubrik';</a:t>
            </a:r>
          </a:p>
          <a:p>
            <a:pPr algn="l"/>
            <a:r>
              <a:rPr sz="1400">
                <a:solidFill>
                  <a:srgbClr val="E6E9EF"/>
                </a:solidFill>
                <a:latin typeface="Courier New"/>
              </a:rPr>
              <a:t>  }</a:t>
            </a:r>
          </a:p>
          <a:p>
            <a:pPr algn="l"/>
            <a:r>
              <a:rPr sz="1400">
                <a:solidFill>
                  <a:srgbClr val="E6E9EF"/>
                </a:solidFill>
                <a:latin typeface="Courier New"/>
              </a:rPr>
              <a:t>  if (value.trim().length &lt; 3) {</a:t>
            </a:r>
          </a:p>
          <a:p>
            <a:pPr algn="l"/>
            <a:r>
              <a:rPr sz="1400">
                <a:solidFill>
                  <a:srgbClr val="E6E9EF"/>
                </a:solidFill>
                <a:latin typeface="Courier New"/>
              </a:rPr>
              <a:t>    return 'Minst 3 tecken';</a:t>
            </a:r>
          </a:p>
          <a:p>
            <a:pPr algn="l"/>
            <a:r>
              <a:rPr sz="1400">
                <a:solidFill>
                  <a:srgbClr val="E6E9EF"/>
                </a:solidFill>
                <a:latin typeface="Courier New"/>
              </a:rPr>
              <a:t>  }</a:t>
            </a:r>
          </a:p>
          <a:p>
            <a:pPr algn="l"/>
            <a:r>
              <a:rPr sz="1400">
                <a:solidFill>
                  <a:srgbClr val="E6E9EF"/>
                </a:solidFill>
                <a:latin typeface="Courier New"/>
              </a:rPr>
              <a:t>  return null; // okej</a:t>
            </a:r>
          </a:p>
          <a:p>
            <a:pPr algn="l"/>
            <a:r>
              <a:rPr sz="1400">
                <a:solidFill>
                  <a:srgbClr val="E6E9EF"/>
                </a:solidFill>
                <a:latin typeface="Courier New"/>
              </a:rPr>
              <a:t>}</a:t>
            </a:r>
          </a:p>
          <a:p>
            <a:pPr algn="l"/>
            <a:r>
              <a:rPr sz="1400">
                <a:solidFill>
                  <a:srgbClr val="E6E9EF"/>
                </a:solidFill>
                <a:latin typeface="Courier New"/>
              </a:rPr>
              <a:t> </a:t>
            </a:r>
          </a:p>
          <a:p>
            <a:pPr algn="l"/>
            <a:r>
              <a:rPr sz="1400">
                <a:solidFill>
                  <a:srgbClr val="8B95A7"/>
                </a:solidFill>
                <a:latin typeface="Courier New"/>
              </a:rPr>
              <a:t>// I knappen:</a:t>
            </a:r>
          </a:p>
          <a:p>
            <a:pPr algn="l"/>
            <a:r>
              <a:rPr sz="1400">
                <a:solidFill>
                  <a:srgbClr val="E6E9EF"/>
                </a:solidFill>
                <a:latin typeface="Courier New"/>
              </a:rPr>
              <a:t>if (_formKey.currentState!.validate()) {</a:t>
            </a:r>
          </a:p>
          <a:p>
            <a:pPr algn="l"/>
            <a:r>
              <a:rPr sz="1400">
                <a:solidFill>
                  <a:srgbClr val="E6E9EF"/>
                </a:solidFill>
                <a:latin typeface="Courier New"/>
              </a:rPr>
              <a:t>  context.pop(post);</a:t>
            </a:r>
          </a:p>
          <a:p>
            <a:pPr algn="l"/>
            <a:r>
              <a:rPr sz="1400">
                <a:solidFill>
                  <a:srgbClr val="E6E9EF"/>
                </a:solidFill>
                <a:latin typeface="Courier New"/>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navigation och formulär</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5.1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En knapp ”Avbryt” som stänger formuläret.</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5.2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Rubriken får vara högst 60 tecken.</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5.3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En SnackBar ”Inlägget är publicerat” i flödet.</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5.4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Adressen /users/:username och en ProfileScreen med användarens inlägg.</a:t>
            </a:r>
          </a:p>
        </p:txBody>
      </p:sp>
      <p:sp>
        <p:nvSpPr>
          <p:cNvPr id="12" name="TextBox 11"/>
          <p:cNvSpPr txBox="1"/>
          <p:nvPr/>
        </p:nvSpPr>
        <p:spPr>
          <a:xfrm>
            <a:off x="768096" y="480060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5.5</a:t>
            </a:r>
          </a:p>
        </p:txBody>
      </p:sp>
      <p:sp>
        <p:nvSpPr>
          <p:cNvPr id="13" name="TextBox 12"/>
          <p:cNvSpPr txBox="1"/>
          <p:nvPr/>
        </p:nvSpPr>
        <p:spPr>
          <a:xfrm>
            <a:off x="1636776" y="4800600"/>
            <a:ext cx="9786823" cy="777240"/>
          </a:xfrm>
          <a:prstGeom prst="rect">
            <a:avLst/>
          </a:prstGeom>
          <a:noFill/>
        </p:spPr>
        <p:txBody>
          <a:bodyPr wrap="square" lIns="0" tIns="0" rIns="0" bIns="0" anchor="t">
            <a:spAutoFit/>
          </a:bodyPr>
          <a:lstStyle/>
          <a:p>
            <a:pPr algn="l">
              <a:spcAft>
                <a:spcPts val="800"/>
              </a:spcAft>
            </a:pPr>
            <a:r>
              <a:rPr sz="1700" b="0"/>
              <a:t>Utmaning: tryck på författaren i PostCard för att öppna profilen.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Hämta data från PocketBase</a:t>
            </a:r>
          </a:p>
        </p:txBody>
      </p:sp>
      <p:sp>
        <p:nvSpPr>
          <p:cNvPr id="3" name="Oval 2"/>
          <p:cNvSpPr/>
          <p:nvPr/>
        </p:nvSpPr>
        <p:spPr>
          <a:xfrm>
            <a:off x="813816" y="173736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1</a:t>
            </a:r>
          </a:p>
        </p:txBody>
      </p:sp>
      <p:sp>
        <p:nvSpPr>
          <p:cNvPr id="4" name="TextBox 3"/>
          <p:cNvSpPr txBox="1"/>
          <p:nvPr/>
        </p:nvSpPr>
        <p:spPr>
          <a:xfrm>
            <a:off x="1591056" y="1719072"/>
            <a:ext cx="5394960" cy="960120"/>
          </a:xfrm>
          <a:prstGeom prst="rect">
            <a:avLst/>
          </a:prstGeom>
          <a:noFill/>
        </p:spPr>
        <p:txBody>
          <a:bodyPr wrap="square" lIns="0" tIns="0" rIns="0" bIns="0" anchor="t">
            <a:spAutoFit/>
          </a:bodyPr>
          <a:lstStyle/>
          <a:p>
            <a:pPr algn="l">
              <a:spcAft>
                <a:spcPts val="200"/>
              </a:spcAft>
            </a:pPr>
            <a:r>
              <a:rPr sz="1900" b="1"/>
              <a:t>Starta PocketBase</a:t>
            </a:r>
          </a:p>
          <a:p>
            <a:pPr algn="l">
              <a:spcAft>
                <a:spcPts val="800"/>
              </a:spcAft>
            </a:pPr>
            <a:r>
              <a:rPr sz="1500" b="0">
                <a:solidFill>
                  <a:srgbClr val="595959"/>
                </a:solidFill>
              </a:rPr>
              <a:t>.\pocketbase.exe serve i mappen kvittra-pb</a:t>
            </a:r>
          </a:p>
        </p:txBody>
      </p:sp>
      <p:sp>
        <p:nvSpPr>
          <p:cNvPr id="5" name="Oval 4"/>
          <p:cNvSpPr/>
          <p:nvPr/>
        </p:nvSpPr>
        <p:spPr>
          <a:xfrm>
            <a:off x="813816" y="269748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2</a:t>
            </a:r>
          </a:p>
        </p:txBody>
      </p:sp>
      <p:sp>
        <p:nvSpPr>
          <p:cNvPr id="6" name="TextBox 5"/>
          <p:cNvSpPr txBox="1"/>
          <p:nvPr/>
        </p:nvSpPr>
        <p:spPr>
          <a:xfrm>
            <a:off x="1591056" y="2679192"/>
            <a:ext cx="5394960" cy="960120"/>
          </a:xfrm>
          <a:prstGeom prst="rect">
            <a:avLst/>
          </a:prstGeom>
          <a:noFill/>
        </p:spPr>
        <p:txBody>
          <a:bodyPr wrap="square" lIns="0" tIns="0" rIns="0" bIns="0" anchor="t">
            <a:spAutoFit/>
          </a:bodyPr>
          <a:lstStyle/>
          <a:p>
            <a:pPr algn="l">
              <a:spcAft>
                <a:spcPts val="200"/>
              </a:spcAft>
            </a:pPr>
            <a:r>
              <a:rPr sz="1900" b="1"/>
              <a:t>Installera paketet</a:t>
            </a:r>
          </a:p>
          <a:p>
            <a:pPr algn="l">
              <a:spcAft>
                <a:spcPts val="800"/>
              </a:spcAft>
            </a:pPr>
            <a:r>
              <a:rPr sz="1500" b="0">
                <a:solidFill>
                  <a:srgbClr val="595959"/>
                </a:solidFill>
              </a:rPr>
              <a:t>flutter pub add pocketbase</a:t>
            </a:r>
          </a:p>
        </p:txBody>
      </p:sp>
      <p:sp>
        <p:nvSpPr>
          <p:cNvPr id="7" name="Oval 6"/>
          <p:cNvSpPr/>
          <p:nvPr/>
        </p:nvSpPr>
        <p:spPr>
          <a:xfrm>
            <a:off x="813816" y="365760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3</a:t>
            </a:r>
          </a:p>
        </p:txBody>
      </p:sp>
      <p:sp>
        <p:nvSpPr>
          <p:cNvPr id="8" name="TextBox 7"/>
          <p:cNvSpPr txBox="1"/>
          <p:nvPr/>
        </p:nvSpPr>
        <p:spPr>
          <a:xfrm>
            <a:off x="1591056" y="3639312"/>
            <a:ext cx="5394960" cy="960120"/>
          </a:xfrm>
          <a:prstGeom prst="rect">
            <a:avLst/>
          </a:prstGeom>
          <a:noFill/>
        </p:spPr>
        <p:txBody>
          <a:bodyPr wrap="square" lIns="0" tIns="0" rIns="0" bIns="0" anchor="t">
            <a:spAutoFit/>
          </a:bodyPr>
          <a:lstStyle/>
          <a:p>
            <a:pPr algn="l">
              <a:spcAft>
                <a:spcPts val="200"/>
              </a:spcAft>
            </a:pPr>
            <a:r>
              <a:rPr sz="1900" b="1"/>
              <a:t>En anslutning för hela appen</a:t>
            </a:r>
          </a:p>
          <a:p>
            <a:pPr algn="l">
              <a:spcAft>
                <a:spcPts val="800"/>
              </a:spcAft>
            </a:pPr>
            <a:r>
              <a:rPr sz="1500" b="0">
                <a:solidFill>
                  <a:srgbClr val="595959"/>
                </a:solidFill>
              </a:rPr>
              <a:t>lib/data/pocketbase.dart</a:t>
            </a:r>
          </a:p>
        </p:txBody>
      </p:sp>
      <p:sp>
        <p:nvSpPr>
          <p:cNvPr id="9" name="Oval 8"/>
          <p:cNvSpPr/>
          <p:nvPr/>
        </p:nvSpPr>
        <p:spPr>
          <a:xfrm>
            <a:off x="813816" y="461772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4</a:t>
            </a:r>
          </a:p>
        </p:txBody>
      </p:sp>
      <p:sp>
        <p:nvSpPr>
          <p:cNvPr id="10" name="TextBox 9"/>
          <p:cNvSpPr txBox="1"/>
          <p:nvPr/>
        </p:nvSpPr>
        <p:spPr>
          <a:xfrm>
            <a:off x="1591056" y="4599432"/>
            <a:ext cx="5394960" cy="960120"/>
          </a:xfrm>
          <a:prstGeom prst="rect">
            <a:avLst/>
          </a:prstGeom>
          <a:noFill/>
        </p:spPr>
        <p:txBody>
          <a:bodyPr wrap="square" lIns="0" tIns="0" rIns="0" bIns="0" anchor="t">
            <a:spAutoFit/>
          </a:bodyPr>
          <a:lstStyle/>
          <a:p>
            <a:pPr algn="l">
              <a:spcAft>
                <a:spcPts val="200"/>
              </a:spcAft>
            </a:pPr>
            <a:r>
              <a:rPr sz="1900" b="1"/>
              <a:t>Logga in</a:t>
            </a:r>
          </a:p>
          <a:p>
            <a:pPr algn="l">
              <a:spcAft>
                <a:spcPts val="800"/>
              </a:spcAft>
            </a:pPr>
            <a:r>
              <a:rPr sz="1500" b="0">
                <a:solidFill>
                  <a:srgbClr val="595959"/>
                </a:solidFill>
              </a:rPr>
              <a:t>API-regeln kräver inloggning för att se inlägg</a:t>
            </a:r>
          </a:p>
        </p:txBody>
      </p:sp>
      <p:sp>
        <p:nvSpPr>
          <p:cNvPr id="11" name="Rounded Rectangle 10"/>
          <p:cNvSpPr/>
          <p:nvPr/>
        </p:nvSpPr>
        <p:spPr>
          <a:xfrm>
            <a:off x="7223760" y="1737360"/>
            <a:ext cx="4474159" cy="284099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lib/data/pocketbase.dart</a:t>
            </a:r>
          </a:p>
          <a:p>
            <a:pPr algn="l"/>
            <a:r>
              <a:rPr sz="1300">
                <a:solidFill>
                  <a:srgbClr val="E6E9EF"/>
                </a:solidFill>
                <a:latin typeface="Courier New"/>
              </a:rPr>
              <a:t>final pb = PocketBase(</a:t>
            </a:r>
          </a:p>
          <a:p>
            <a:pPr algn="l"/>
            <a:r>
              <a:rPr sz="1300">
                <a:solidFill>
                  <a:srgbClr val="E6E9EF"/>
                </a:solidFill>
                <a:latin typeface="Courier New"/>
              </a:rPr>
              <a:t>    'http://127.0.0.1:8090');</a:t>
            </a:r>
          </a:p>
          <a:p>
            <a:pPr algn="l"/>
            <a:r>
              <a:rPr sz="1300">
                <a:solidFill>
                  <a:srgbClr val="E6E9EF"/>
                </a:solidFill>
                <a:latin typeface="Courier New"/>
              </a:rPr>
              <a:t> </a:t>
            </a:r>
          </a:p>
          <a:p>
            <a:pPr algn="l"/>
            <a:r>
              <a:rPr sz="1300">
                <a:solidFill>
                  <a:srgbClr val="E6E9EF"/>
                </a:solidFill>
                <a:latin typeface="Courier New"/>
              </a:rPr>
              <a:t>Future&lt;void&gt; loginAsAnna() async {</a:t>
            </a:r>
          </a:p>
          <a:p>
            <a:pPr algn="l"/>
            <a:r>
              <a:rPr sz="1300">
                <a:solidFill>
                  <a:srgbClr val="E6E9EF"/>
                </a:solidFill>
                <a:latin typeface="Courier New"/>
              </a:rPr>
              <a:t>  if (pb.authStore.isValid) return;</a:t>
            </a:r>
          </a:p>
          <a:p>
            <a:pPr algn="l"/>
            <a:r>
              <a:rPr sz="1300">
                <a:solidFill>
                  <a:srgbClr val="E6E9EF"/>
                </a:solidFill>
                <a:latin typeface="Courier New"/>
              </a:rPr>
              <a:t>  await pb.collection('users')</a:t>
            </a:r>
          </a:p>
          <a:p>
            <a:pPr algn="l"/>
            <a:r>
              <a:rPr sz="1300">
                <a:solidFill>
                  <a:srgbClr val="E6E9EF"/>
                </a:solidFill>
                <a:latin typeface="Courier New"/>
              </a:rPr>
              <a:t>      .authWithPassword(</a:t>
            </a:r>
          </a:p>
          <a:p>
            <a:pPr algn="l"/>
            <a:r>
              <a:rPr sz="1300">
                <a:solidFill>
                  <a:srgbClr val="E6E9EF"/>
                </a:solidFill>
                <a:latin typeface="Courier New"/>
              </a:rPr>
              <a:t>        'anna@example.com',</a:t>
            </a:r>
          </a:p>
          <a:p>
            <a:pPr algn="l"/>
            <a:r>
              <a:rPr sz="1300">
                <a:solidFill>
                  <a:srgbClr val="E6E9EF"/>
                </a:solidFill>
                <a:latin typeface="Courier New"/>
              </a:rPr>
              <a:t>        'kvittra123');</a:t>
            </a:r>
          </a:p>
          <a:p>
            <a:pPr algn="l"/>
            <a:r>
              <a:rPr sz="1300">
                <a:solidFill>
                  <a:srgbClr val="E6E9EF"/>
                </a:solidFill>
                <a:latin typeface="Courier New"/>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Hämta inläggen</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getList hämtar en sida</a:t>
            </a:r>
          </a:p>
          <a:p>
            <a:pPr marL="365760" indent="-274320">
              <a:spcAft>
                <a:spcPts val="800"/>
              </a:spcAft>
              <a:buChar char="•"/>
            </a:pPr>
            <a:r>
              <a:rPr sz="2000"/>
              <a:t>sort: '-created' = nyaste först</a:t>
            </a:r>
          </a:p>
          <a:p>
            <a:pPr marL="365760" indent="-274320">
              <a:spcAft>
                <a:spcPts val="800"/>
              </a:spcAft>
              <a:buChar char="•"/>
            </a:pPr>
            <a:r>
              <a:rPr sz="2000"/>
              <a:t>expand: 'author' tar med författaren (som JOIN)</a:t>
            </a:r>
          </a:p>
          <a:p>
            <a:pPr marL="365760" indent="-274320">
              <a:spcAft>
                <a:spcPts val="800"/>
              </a:spcAft>
              <a:buChar char="•"/>
            </a:pPr>
            <a:r>
              <a:rPr sz="2000"/>
              <a:t>record.get&lt;String&gt;('title') läser ett fält</a:t>
            </a:r>
          </a:p>
          <a:p>
            <a:pPr marL="365760" indent="-274320">
              <a:spcAft>
                <a:spcPts val="800"/>
              </a:spcAft>
              <a:buChar char="•"/>
            </a:pPr>
            <a:r>
              <a:rPr sz="2000"/>
              <a:t>'expand.author.username' läser inuti expand</a:t>
            </a:r>
          </a:p>
        </p:txBody>
      </p:sp>
      <p:sp>
        <p:nvSpPr>
          <p:cNvPr id="4" name="Rounded Rectangle 3"/>
          <p:cNvSpPr/>
          <p:nvPr/>
        </p:nvSpPr>
        <p:spPr>
          <a:xfrm>
            <a:off x="5577840" y="1737360"/>
            <a:ext cx="6120079" cy="43967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lib/data/pocketbase.dart</a:t>
            </a:r>
          </a:p>
          <a:p>
            <a:pPr algn="l"/>
            <a:r>
              <a:rPr sz="1200">
                <a:solidFill>
                  <a:srgbClr val="E6E9EF"/>
                </a:solidFill>
                <a:latin typeface="Courier New"/>
              </a:rPr>
              <a:t>Future&lt;List&lt;Post&gt;&gt; fetchPosts() async {</a:t>
            </a:r>
          </a:p>
          <a:p>
            <a:pPr algn="l"/>
            <a:r>
              <a:rPr sz="1200">
                <a:solidFill>
                  <a:srgbClr val="E6E9EF"/>
                </a:solidFill>
                <a:latin typeface="Courier New"/>
              </a:rPr>
              <a:t>  await loginAsAnna();</a:t>
            </a:r>
          </a:p>
          <a:p>
            <a:pPr algn="l"/>
            <a:r>
              <a:rPr sz="1200">
                <a:solidFill>
                  <a:srgbClr val="E6E9EF"/>
                </a:solidFill>
                <a:latin typeface="Courier New"/>
              </a:rPr>
              <a:t>  final result = await pb</a:t>
            </a:r>
          </a:p>
          <a:p>
            <a:pPr algn="l"/>
            <a:r>
              <a:rPr sz="1200">
                <a:solidFill>
                  <a:srgbClr val="E6E9EF"/>
                </a:solidFill>
                <a:latin typeface="Courier New"/>
              </a:rPr>
              <a:t>      .collection('posts').getList(</a:t>
            </a:r>
          </a:p>
          <a:p>
            <a:pPr algn="l"/>
            <a:r>
              <a:rPr sz="1200">
                <a:solidFill>
                  <a:srgbClr val="E6E9EF"/>
                </a:solidFill>
                <a:latin typeface="Courier New"/>
              </a:rPr>
              <a:t>        page: 1, perPage: 20,</a:t>
            </a:r>
          </a:p>
          <a:p>
            <a:pPr algn="l"/>
            <a:r>
              <a:rPr sz="1200">
                <a:solidFill>
                  <a:srgbClr val="E6E9EF"/>
                </a:solidFill>
                <a:latin typeface="Courier New"/>
              </a:rPr>
              <a:t>        sort: '-created',</a:t>
            </a:r>
          </a:p>
          <a:p>
            <a:pPr algn="l"/>
            <a:r>
              <a:rPr sz="1200">
                <a:solidFill>
                  <a:srgbClr val="E6E9EF"/>
                </a:solidFill>
                <a:latin typeface="Courier New"/>
              </a:rPr>
              <a:t>        expand: 'author',</a:t>
            </a:r>
          </a:p>
          <a:p>
            <a:pPr algn="l"/>
            <a:r>
              <a:rPr sz="1200">
                <a:solidFill>
                  <a:srgbClr val="E6E9EF"/>
                </a:solidFill>
                <a:latin typeface="Courier New"/>
              </a:rPr>
              <a:t>      );</a:t>
            </a:r>
          </a:p>
          <a:p>
            <a:pPr algn="l"/>
            <a:r>
              <a:rPr sz="1200">
                <a:solidFill>
                  <a:srgbClr val="E6E9EF"/>
                </a:solidFill>
                <a:latin typeface="Courier New"/>
              </a:rPr>
              <a:t>  return result.items</a:t>
            </a:r>
          </a:p>
          <a:p>
            <a:pPr algn="l"/>
            <a:r>
              <a:rPr sz="1200">
                <a:solidFill>
                  <a:srgbClr val="E6E9EF"/>
                </a:solidFill>
                <a:latin typeface="Courier New"/>
              </a:rPr>
              <a:t>      .map(Post.fromRecord).toList();</a:t>
            </a:r>
          </a:p>
          <a:p>
            <a:pPr algn="l"/>
            <a:r>
              <a:rPr sz="1200">
                <a:solidFill>
                  <a:srgbClr val="E6E9EF"/>
                </a:solidFill>
                <a:latin typeface="Courier New"/>
              </a:rPr>
              <a:t>}</a:t>
            </a:r>
          </a:p>
          <a:p>
            <a:pPr algn="l"/>
            <a:r>
              <a:rPr sz="1200">
                <a:solidFill>
                  <a:srgbClr val="E6E9EF"/>
                </a:solidFill>
                <a:latin typeface="Courier New"/>
              </a:rPr>
              <a:t> </a:t>
            </a:r>
          </a:p>
          <a:p>
            <a:pPr algn="l"/>
            <a:r>
              <a:rPr sz="1200">
                <a:solidFill>
                  <a:srgbClr val="8B95A7"/>
                </a:solidFill>
                <a:latin typeface="Courier New"/>
              </a:rPr>
              <a:t>// I klassen Post:</a:t>
            </a:r>
          </a:p>
          <a:p>
            <a:pPr algn="l"/>
            <a:r>
              <a:rPr sz="1200">
                <a:solidFill>
                  <a:srgbClr val="E6E9EF"/>
                </a:solidFill>
                <a:latin typeface="Courier New"/>
              </a:rPr>
              <a:t>factory Post.fromRecord(RecordModel r) =&gt; Post(</a:t>
            </a:r>
          </a:p>
          <a:p>
            <a:pPr algn="l"/>
            <a:r>
              <a:rPr sz="1200">
                <a:solidFill>
                  <a:srgbClr val="E6E9EF"/>
                </a:solidFill>
                <a:latin typeface="Courier New"/>
              </a:rPr>
              <a:t>  id: r.id,</a:t>
            </a:r>
          </a:p>
          <a:p>
            <a:pPr algn="l"/>
            <a:r>
              <a:rPr sz="1200">
                <a:solidFill>
                  <a:srgbClr val="E6E9EF"/>
                </a:solidFill>
                <a:latin typeface="Courier New"/>
              </a:rPr>
              <a:t>  author: r.get&lt;String&gt;(</a:t>
            </a:r>
          </a:p>
          <a:p>
            <a:pPr algn="l"/>
            <a:r>
              <a:rPr sz="1200">
                <a:solidFill>
                  <a:srgbClr val="E6E9EF"/>
                </a:solidFill>
                <a:latin typeface="Courier New"/>
              </a:rPr>
              <a:t>      'expand.author.username', '?'),</a:t>
            </a:r>
          </a:p>
          <a:p>
            <a:pPr algn="l"/>
            <a:r>
              <a:rPr sz="1200">
                <a:solidFill>
                  <a:srgbClr val="E6E9EF"/>
                </a:solidFill>
                <a:latin typeface="Courier New"/>
              </a:rPr>
              <a:t>  title: r.get&lt;String&gt;('title'),</a:t>
            </a:r>
          </a:p>
          <a:p>
            <a:pPr algn="l"/>
            <a:r>
              <a:rPr sz="1200">
                <a:solidFill>
                  <a:srgbClr val="E6E9EF"/>
                </a:solidFill>
                <a:latin typeface="Courier New"/>
              </a:rPr>
              <a:t>  body: r.get&lt;String&gt;('body'));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FutureBuilder: laddar, fel eller data</a:t>
            </a:r>
          </a:p>
        </p:txBody>
      </p:sp>
      <p:sp>
        <p:nvSpPr>
          <p:cNvPr id="3" name="Rounded Rectangle 2"/>
          <p:cNvSpPr/>
          <p:nvPr/>
        </p:nvSpPr>
        <p:spPr>
          <a:xfrm>
            <a:off x="676656" y="1783080"/>
            <a:ext cx="3445154" cy="3566160"/>
          </a:xfrm>
          <a:prstGeom prst="roundRect">
            <a:avLst>
              <a:gd name="adj" fmla="val 6000"/>
            </a:avLst>
          </a:prstGeom>
          <a:solidFill>
            <a:schemeClr val="accent2">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32688" y="2039112"/>
            <a:ext cx="640080" cy="6400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1</a:t>
            </a:r>
          </a:p>
        </p:txBody>
      </p:sp>
      <p:sp>
        <p:nvSpPr>
          <p:cNvPr id="5" name="TextBox 4"/>
          <p:cNvSpPr txBox="1"/>
          <p:nvPr/>
        </p:nvSpPr>
        <p:spPr>
          <a:xfrm>
            <a:off x="932688" y="2834640"/>
            <a:ext cx="2933090" cy="548640"/>
          </a:xfrm>
          <a:prstGeom prst="rect">
            <a:avLst/>
          </a:prstGeom>
          <a:noFill/>
        </p:spPr>
        <p:txBody>
          <a:bodyPr wrap="square" lIns="0" tIns="0" rIns="0" bIns="0" anchor="t">
            <a:spAutoFit/>
          </a:bodyPr>
          <a:lstStyle/>
          <a:p>
            <a:pPr algn="l">
              <a:spcAft>
                <a:spcPts val="800"/>
              </a:spcAft>
            </a:pPr>
            <a:r>
              <a:rPr sz="1900" b="1"/>
              <a:t>Laddar</a:t>
            </a:r>
          </a:p>
        </p:txBody>
      </p:sp>
      <p:sp>
        <p:nvSpPr>
          <p:cNvPr id="6" name="TextBox 5"/>
          <p:cNvSpPr txBox="1"/>
          <p:nvPr/>
        </p:nvSpPr>
        <p:spPr>
          <a:xfrm>
            <a:off x="932688" y="3429000"/>
            <a:ext cx="2933090" cy="1554479"/>
          </a:xfrm>
          <a:prstGeom prst="rect">
            <a:avLst/>
          </a:prstGeom>
          <a:noFill/>
        </p:spPr>
        <p:txBody>
          <a:bodyPr wrap="square" lIns="0" tIns="0" rIns="0" bIns="0" anchor="t">
            <a:spAutoFit/>
          </a:bodyPr>
          <a:lstStyle/>
          <a:p>
            <a:pPr algn="l">
              <a:spcAft>
                <a:spcPts val="800"/>
              </a:spcAft>
            </a:pPr>
            <a:r>
              <a:rPr sz="1600" b="0"/>
              <a:t>ConnectionState.waiting</a:t>
            </a:r>
          </a:p>
          <a:p>
            <a:pPr algn="l">
              <a:spcAft>
                <a:spcPts val="800"/>
              </a:spcAft>
            </a:pPr>
            <a:r>
              <a:rPr sz="1600" b="0"/>
              <a:t>→ en snurra: CircularProgressIndicator</a:t>
            </a:r>
          </a:p>
        </p:txBody>
      </p:sp>
      <p:sp>
        <p:nvSpPr>
          <p:cNvPr id="7" name="Rounded Rectangle 6"/>
          <p:cNvSpPr/>
          <p:nvPr/>
        </p:nvSpPr>
        <p:spPr>
          <a:xfrm>
            <a:off x="4350410" y="1783080"/>
            <a:ext cx="3445154" cy="3566160"/>
          </a:xfrm>
          <a:prstGeom prst="roundRect">
            <a:avLst>
              <a:gd name="adj" fmla="val 6000"/>
            </a:avLst>
          </a:prstGeom>
          <a:solidFill>
            <a:schemeClr val="accent2">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606442" y="2039112"/>
            <a:ext cx="640080" cy="6400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2</a:t>
            </a:r>
          </a:p>
        </p:txBody>
      </p:sp>
      <p:sp>
        <p:nvSpPr>
          <p:cNvPr id="9" name="TextBox 8"/>
          <p:cNvSpPr txBox="1"/>
          <p:nvPr/>
        </p:nvSpPr>
        <p:spPr>
          <a:xfrm>
            <a:off x="4606442" y="2834640"/>
            <a:ext cx="2933090" cy="548640"/>
          </a:xfrm>
          <a:prstGeom prst="rect">
            <a:avLst/>
          </a:prstGeom>
          <a:noFill/>
        </p:spPr>
        <p:txBody>
          <a:bodyPr wrap="square" lIns="0" tIns="0" rIns="0" bIns="0" anchor="t">
            <a:spAutoFit/>
          </a:bodyPr>
          <a:lstStyle/>
          <a:p>
            <a:pPr algn="l">
              <a:spcAft>
                <a:spcPts val="800"/>
              </a:spcAft>
            </a:pPr>
            <a:r>
              <a:rPr sz="1900" b="1"/>
              <a:t>Fel</a:t>
            </a:r>
          </a:p>
        </p:txBody>
      </p:sp>
      <p:sp>
        <p:nvSpPr>
          <p:cNvPr id="10" name="TextBox 9"/>
          <p:cNvSpPr txBox="1"/>
          <p:nvPr/>
        </p:nvSpPr>
        <p:spPr>
          <a:xfrm>
            <a:off x="4606442" y="3429000"/>
            <a:ext cx="2933090" cy="1554479"/>
          </a:xfrm>
          <a:prstGeom prst="rect">
            <a:avLst/>
          </a:prstGeom>
          <a:noFill/>
        </p:spPr>
        <p:txBody>
          <a:bodyPr wrap="square" lIns="0" tIns="0" rIns="0" bIns="0" anchor="t">
            <a:spAutoFit/>
          </a:bodyPr>
          <a:lstStyle/>
          <a:p>
            <a:pPr algn="l">
              <a:spcAft>
                <a:spcPts val="800"/>
              </a:spcAft>
            </a:pPr>
            <a:r>
              <a:rPr sz="1600" b="0"/>
              <a:t>snapshot.hasError</a:t>
            </a:r>
          </a:p>
          <a:p>
            <a:pPr algn="l">
              <a:spcAft>
                <a:spcPts val="800"/>
              </a:spcAft>
            </a:pPr>
            <a:r>
              <a:rPr sz="1600" b="0"/>
              <a:t>→ felmeddelande + knappen Försök igen</a:t>
            </a:r>
          </a:p>
          <a:p>
            <a:pPr algn="l">
              <a:spcAft>
                <a:spcPts val="800"/>
              </a:spcAft>
            </a:pPr>
            <a:r>
              <a:rPr sz="1600" b="0"/>
              <a:t>ClientException: 0 = PocketBase är inte igång, 403 = regeln säger nej</a:t>
            </a:r>
          </a:p>
        </p:txBody>
      </p:sp>
      <p:sp>
        <p:nvSpPr>
          <p:cNvPr id="11" name="Rounded Rectangle 10"/>
          <p:cNvSpPr/>
          <p:nvPr/>
        </p:nvSpPr>
        <p:spPr>
          <a:xfrm>
            <a:off x="8024164" y="1783080"/>
            <a:ext cx="3445154" cy="3566160"/>
          </a:xfrm>
          <a:prstGeom prst="roundRect">
            <a:avLst>
              <a:gd name="adj" fmla="val 6000"/>
            </a:avLst>
          </a:prstGeom>
          <a:solidFill>
            <a:schemeClr val="accent2">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80196" y="2039112"/>
            <a:ext cx="640080" cy="6400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3</a:t>
            </a:r>
          </a:p>
        </p:txBody>
      </p:sp>
      <p:sp>
        <p:nvSpPr>
          <p:cNvPr id="13" name="TextBox 12"/>
          <p:cNvSpPr txBox="1"/>
          <p:nvPr/>
        </p:nvSpPr>
        <p:spPr>
          <a:xfrm>
            <a:off x="8280196" y="2834640"/>
            <a:ext cx="2933090" cy="548640"/>
          </a:xfrm>
          <a:prstGeom prst="rect">
            <a:avLst/>
          </a:prstGeom>
          <a:noFill/>
        </p:spPr>
        <p:txBody>
          <a:bodyPr wrap="square" lIns="0" tIns="0" rIns="0" bIns="0" anchor="t">
            <a:spAutoFit/>
          </a:bodyPr>
          <a:lstStyle/>
          <a:p>
            <a:pPr algn="l">
              <a:spcAft>
                <a:spcPts val="800"/>
              </a:spcAft>
            </a:pPr>
            <a:r>
              <a:rPr sz="1900" b="1"/>
              <a:t>Data</a:t>
            </a:r>
          </a:p>
        </p:txBody>
      </p:sp>
      <p:sp>
        <p:nvSpPr>
          <p:cNvPr id="14" name="TextBox 13"/>
          <p:cNvSpPr txBox="1"/>
          <p:nvPr/>
        </p:nvSpPr>
        <p:spPr>
          <a:xfrm>
            <a:off x="8280196" y="3429000"/>
            <a:ext cx="2933090" cy="1554479"/>
          </a:xfrm>
          <a:prstGeom prst="rect">
            <a:avLst/>
          </a:prstGeom>
          <a:noFill/>
        </p:spPr>
        <p:txBody>
          <a:bodyPr wrap="square" lIns="0" tIns="0" rIns="0" bIns="0" anchor="t">
            <a:spAutoFit/>
          </a:bodyPr>
          <a:lstStyle/>
          <a:p>
            <a:pPr algn="l">
              <a:spcAft>
                <a:spcPts val="800"/>
              </a:spcAft>
            </a:pPr>
            <a:r>
              <a:rPr sz="1600" b="0"/>
              <a:t>snapshot.data</a:t>
            </a:r>
          </a:p>
          <a:p>
            <a:pPr algn="l">
              <a:spcAft>
                <a:spcPts val="800"/>
              </a:spcAft>
            </a:pPr>
            <a:r>
              <a:rPr sz="1600" b="0"/>
              <a:t>→ ListView med PostCard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hämta data från PocketBase</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6.1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Öppna 127.0.0.1:8090/api/collections/posts/records i Chrome. Varför är listan tom?</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6.2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Stoppa PocketBase och ladda om appen. Vad visas? Starta igen och tryck Försök igen.</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6.3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fetchPost(id) med getOne och en PostDetailScreen med FutureBuilder.</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6.4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Visa kommentarerna under inlägget: Comment.fromRecord + pb.filter('post = {:id}', …).</a:t>
            </a:r>
          </a:p>
        </p:txBody>
      </p:sp>
      <p:sp>
        <p:nvSpPr>
          <p:cNvPr id="12" name="TextBox 11"/>
          <p:cNvSpPr txBox="1"/>
          <p:nvPr/>
        </p:nvSpPr>
        <p:spPr>
          <a:xfrm>
            <a:off x="768096" y="480060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6.5</a:t>
            </a:r>
          </a:p>
        </p:txBody>
      </p:sp>
      <p:sp>
        <p:nvSpPr>
          <p:cNvPr id="13" name="TextBox 12"/>
          <p:cNvSpPr txBox="1"/>
          <p:nvPr/>
        </p:nvSpPr>
        <p:spPr>
          <a:xfrm>
            <a:off x="1636776" y="4800600"/>
            <a:ext cx="9786823" cy="777240"/>
          </a:xfrm>
          <a:prstGeom prst="rect">
            <a:avLst/>
          </a:prstGeom>
          <a:noFill/>
        </p:spPr>
        <p:txBody>
          <a:bodyPr wrap="square" lIns="0" tIns="0" rIns="0" bIns="0" anchor="t">
            <a:spAutoFit/>
          </a:bodyPr>
          <a:lstStyle/>
          <a:p>
            <a:pPr algn="l">
              <a:spcAft>
                <a:spcPts val="800"/>
              </a:spcAft>
            </a:pPr>
            <a:r>
              <a:rPr sz="1700" b="0"/>
              <a:t>Utmaning: en UsersScreen på /users med getFullList(sort: 'username').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3">
            <a:lumMod val="75000"/>
          </a:schemeClr>
        </a:solidFill>
        <a:effectLst/>
      </p:bgPr>
    </p:bg>
    <p:spTree>
      <p:nvGrpSpPr>
        <p:cNvPr id="1" name=""/>
        <p:cNvGrpSpPr/>
        <p:nvPr/>
      </p:nvGrpSpPr>
      <p:grpSpPr>
        <a:xfrm>
          <a:off x="0" y="0"/>
          <a:ext cx="0" cy="0"/>
          <a:chOff x="0" y="0"/>
          <a:chExt cx="0" cy="0"/>
        </a:xfrm>
      </p:grpSpPr>
      <p:sp>
        <p:nvSpPr>
          <p:cNvPr id="2" name="TextBox 1"/>
          <p:cNvSpPr txBox="1"/>
          <p:nvPr/>
        </p:nvSpPr>
        <p:spPr>
          <a:xfrm>
            <a:off x="768096" y="914400"/>
            <a:ext cx="3200400" cy="2011680"/>
          </a:xfrm>
          <a:prstGeom prst="rect">
            <a:avLst/>
          </a:prstGeom>
          <a:noFill/>
        </p:spPr>
        <p:txBody>
          <a:bodyPr wrap="square" lIns="0" tIns="0" rIns="0" bIns="0" anchor="t">
            <a:spAutoFit/>
          </a:bodyPr>
          <a:lstStyle/>
          <a:p>
            <a:pPr algn="l">
              <a:spcAft>
                <a:spcPts val="800"/>
              </a:spcAft>
            </a:pPr>
            <a:r>
              <a:rPr sz="12000" b="1">
                <a:solidFill>
                  <a:srgbClr val="FFFFFF"/>
                </a:solidFill>
              </a:rPr>
              <a:t>03</a:t>
            </a:r>
          </a:p>
        </p:txBody>
      </p:sp>
      <p:sp>
        <p:nvSpPr>
          <p:cNvPr id="3" name="TextBox 2"/>
          <p:cNvSpPr txBox="1"/>
          <p:nvPr/>
        </p:nvSpPr>
        <p:spPr>
          <a:xfrm>
            <a:off x="768096" y="2788920"/>
            <a:ext cx="4572000" cy="2286000"/>
          </a:xfrm>
          <a:prstGeom prst="rect">
            <a:avLst/>
          </a:prstGeom>
          <a:noFill/>
        </p:spPr>
        <p:txBody>
          <a:bodyPr wrap="square" lIns="0" tIns="0" rIns="0" bIns="0" anchor="t">
            <a:spAutoFit/>
          </a:bodyPr>
          <a:lstStyle/>
          <a:p>
            <a:pPr algn="l">
              <a:spcAft>
                <a:spcPts val="800"/>
              </a:spcAft>
            </a:pPr>
            <a:r>
              <a:rPr sz="3800" b="1">
                <a:solidFill>
                  <a:srgbClr val="FFFFFF"/>
                </a:solidFill>
              </a:rPr>
              <a:t>Flutter Compositions</a:t>
            </a:r>
          </a:p>
        </p:txBody>
      </p:sp>
      <p:sp>
        <p:nvSpPr>
          <p:cNvPr id="4" name="TextBox 3"/>
          <p:cNvSpPr txBox="1"/>
          <p:nvPr/>
        </p:nvSpPr>
        <p:spPr>
          <a:xfrm>
            <a:off x="5852160" y="1051560"/>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1. Introduktion</a:t>
            </a:r>
          </a:p>
        </p:txBody>
      </p:sp>
      <p:sp>
        <p:nvSpPr>
          <p:cNvPr id="5" name="TextBox 4"/>
          <p:cNvSpPr txBox="1"/>
          <p:nvPr/>
        </p:nvSpPr>
        <p:spPr>
          <a:xfrm>
            <a:off x="5852160" y="1527048"/>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2. ref och computed</a:t>
            </a:r>
          </a:p>
        </p:txBody>
      </p:sp>
      <p:sp>
        <p:nvSpPr>
          <p:cNvPr id="6" name="TextBox 5"/>
          <p:cNvSpPr txBox="1"/>
          <p:nvPr/>
        </p:nvSpPr>
        <p:spPr>
          <a:xfrm>
            <a:off x="5852160" y="2002536"/>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3. watch och livscykel</a:t>
            </a:r>
          </a:p>
        </p:txBody>
      </p:sp>
      <p:sp>
        <p:nvSpPr>
          <p:cNvPr id="7" name="TextBox 6"/>
          <p:cNvSpPr txBox="1"/>
          <p:nvPr/>
        </p:nvSpPr>
        <p:spPr>
          <a:xfrm>
            <a:off x="5852160" y="2478024"/>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4. Props och composables</a:t>
            </a:r>
          </a:p>
        </p:txBody>
      </p:sp>
      <p:sp>
        <p:nvSpPr>
          <p:cNvPr id="8" name="TextBox 7"/>
          <p:cNvSpPr txBox="1"/>
          <p:nvPr/>
        </p:nvSpPr>
        <p:spPr>
          <a:xfrm>
            <a:off x="5852160" y="2953512"/>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5. Skriva data och realtid</a:t>
            </a:r>
          </a:p>
        </p:txBody>
      </p:sp>
      <p:sp>
        <p:nvSpPr>
          <p:cNvPr id="9" name="TextBox 8"/>
          <p:cNvSpPr txBox="1"/>
          <p:nvPr/>
        </p:nvSpPr>
        <p:spPr>
          <a:xfrm>
            <a:off x="5852160" y="3429000"/>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6. Provide och inject</a:t>
            </a:r>
          </a:p>
        </p:txBody>
      </p:sp>
      <p:sp>
        <p:nvSpPr>
          <p:cNvPr id="10" name="TextBox 9"/>
          <p:cNvSpPr txBox="1"/>
          <p:nvPr/>
        </p:nvSpPr>
        <p:spPr>
          <a:xfrm>
            <a:off x="5852160" y="3904487"/>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7. Hämta data</a:t>
            </a:r>
          </a:p>
        </p:txBody>
      </p:sp>
      <p:sp>
        <p:nvSpPr>
          <p:cNvPr id="11" name="TextBox 10"/>
          <p:cNvSpPr txBox="1"/>
          <p:nvPr/>
        </p:nvSpPr>
        <p:spPr>
          <a:xfrm>
            <a:off x="5852160" y="4379975"/>
            <a:ext cx="5669280" cy="411480"/>
          </a:xfrm>
          <a:prstGeom prst="rect">
            <a:avLst/>
          </a:prstGeom>
          <a:noFill/>
        </p:spPr>
        <p:txBody>
          <a:bodyPr wrap="square" lIns="0" tIns="0" rIns="0" bIns="0" anchor="t">
            <a:spAutoFit/>
          </a:bodyPr>
          <a:lstStyle/>
          <a:p>
            <a:pPr algn="l">
              <a:spcAft>
                <a:spcPts val="800"/>
              </a:spcAft>
            </a:pPr>
            <a:r>
              <a:rPr sz="1900" b="0">
                <a:solidFill>
                  <a:srgbClr val="FFFFFF"/>
                </a:solidFill>
              </a:rPr>
              <a:t>8. Bygg Kvittra-appen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2C75C6B-4CA4-F21A-FC79-32AAC0618E51}"/>
              </a:ext>
            </a:extLst>
          </p:cNvPr>
          <p:cNvSpPr>
            <a:spLocks noGrp="1"/>
          </p:cNvSpPr>
          <p:nvPr>
            <p:ph type="title"/>
          </p:nvPr>
        </p:nvSpPr>
        <p:spPr/>
        <p:txBody>
          <a:bodyPr/>
          <a:lstStyle/>
          <a:p>
            <a:r>
              <a:rPr lang="sv-SE"/>
              <a:t>Flutter Compositions</a:t>
            </a:r>
          </a:p>
        </p:txBody>
      </p:sp>
      <p:sp>
        <p:nvSpPr>
          <p:cNvPr id="3" name="Platshållare för innehåll 2">
            <a:extLst>
              <a:ext uri="{FF2B5EF4-FFF2-40B4-BE49-F238E27FC236}">
                <a16:creationId xmlns:a16="http://schemas.microsoft.com/office/drawing/2014/main" id="{BC329EFA-6E27-9DA1-944C-178FA1E64ECA}"/>
              </a:ext>
            </a:extLst>
          </p:cNvPr>
          <p:cNvSpPr>
            <a:spLocks noGrp="1"/>
          </p:cNvSpPr>
          <p:nvPr>
            <p:ph idx="1"/>
          </p:nvPr>
        </p:nvSpPr>
        <p:spPr>
          <a:xfrm>
            <a:off x="838200" y="1825625"/>
            <a:ext cx="10515600" cy="1596954"/>
          </a:xfrm>
        </p:spPr>
        <p:txBody>
          <a:bodyPr vert="horz" lIns="91440" tIns="45720" rIns="91440" bIns="45720" rtlCol="0" anchor="t">
            <a:normAutofit fontScale="92500" lnSpcReduction="20000"/>
          </a:bodyPr>
          <a:lstStyle/>
          <a:p>
            <a:r>
              <a:rPr lang="sv-SE"/>
              <a:t>En snubbe från Taiwan</a:t>
            </a:r>
          </a:p>
          <a:p>
            <a:r>
              <a:rPr lang="sv-SE"/>
              <a:t>Tillåter oss använda samma </a:t>
            </a:r>
            <a:br>
              <a:rPr lang="sv-SE" dirty="0"/>
            </a:br>
            <a:r>
              <a:rPr lang="sv-SE"/>
              <a:t>arbetssätt i Flutter som Vue</a:t>
            </a:r>
          </a:p>
          <a:p>
            <a:r>
              <a:rPr lang="sv-SE" dirty="0">
                <a:ea typeface="+mn-lt"/>
                <a:cs typeface="+mn-lt"/>
                <a:hlinkClick r:id="rId3"/>
              </a:rPr>
              <a:t>https://yoyo930021.github.io/flutter_compositions</a:t>
            </a:r>
            <a:endParaRPr lang="sv-SE" dirty="0"/>
          </a:p>
        </p:txBody>
      </p:sp>
      <p:pic>
        <p:nvPicPr>
          <p:cNvPr id="4" name="Bildobjekt 3" descr="Hangover Chow GIFs - Find &amp; Share on GIPHY">
            <a:extLst>
              <a:ext uri="{FF2B5EF4-FFF2-40B4-BE49-F238E27FC236}">
                <a16:creationId xmlns:a16="http://schemas.microsoft.com/office/drawing/2014/main" id="{A148A4AF-9B5A-FC22-71B1-CB33970FFB2D}"/>
              </a:ext>
            </a:extLst>
          </p:cNvPr>
          <p:cNvPicPr>
            <a:picLocks noChangeAspect="1"/>
          </p:cNvPicPr>
          <p:nvPr/>
        </p:nvPicPr>
        <p:blipFill>
          <a:blip r:embed="rId4"/>
          <a:stretch>
            <a:fillRect/>
          </a:stretch>
        </p:blipFill>
        <p:spPr>
          <a:xfrm>
            <a:off x="5667511" y="1400485"/>
            <a:ext cx="5061891" cy="4653408"/>
          </a:xfrm>
          <a:prstGeom prst="rect">
            <a:avLst/>
          </a:prstGeom>
        </p:spPr>
      </p:pic>
    </p:spTree>
    <p:extLst>
      <p:ext uri="{BB962C8B-B14F-4D97-AF65-F5344CB8AC3E}">
        <p14:creationId xmlns:p14="http://schemas.microsoft.com/office/powerpoint/2010/main" val="26983663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Samma gilla-knapp – utan setState</a:t>
            </a:r>
          </a:p>
        </p:txBody>
      </p:sp>
      <p:sp>
        <p:nvSpPr>
          <p:cNvPr id="3" name="TextBox 2"/>
          <p:cNvSpPr txBox="1"/>
          <p:nvPr/>
        </p:nvSpPr>
        <p:spPr>
          <a:xfrm>
            <a:off x="768096" y="1691640"/>
            <a:ext cx="4169664" cy="4572000"/>
          </a:xfrm>
          <a:prstGeom prst="rect">
            <a:avLst/>
          </a:prstGeom>
          <a:noFill/>
        </p:spPr>
        <p:txBody>
          <a:bodyPr wrap="square" lIns="0" tIns="0" rIns="0" bIns="0">
            <a:spAutoFit/>
          </a:bodyPr>
          <a:lstStyle/>
          <a:p>
            <a:pPr marL="365760" indent="-274320">
              <a:spcAft>
                <a:spcPts val="800"/>
              </a:spcAft>
              <a:buChar char="•"/>
            </a:pPr>
            <a:r>
              <a:rPr sz="2000"/>
              <a:t>En klass i stället för två</a:t>
            </a:r>
          </a:p>
          <a:p>
            <a:pPr marL="365760" indent="-274320">
              <a:spcAft>
                <a:spcPts val="800"/>
              </a:spcAft>
              <a:buChar char="•"/>
            </a:pPr>
            <a:r>
              <a:rPr sz="2000"/>
              <a:t>setup() skapar state</a:t>
            </a:r>
          </a:p>
          <a:p>
            <a:pPr marL="365760" indent="-274320">
              <a:spcAft>
                <a:spcPts val="800"/>
              </a:spcAft>
              <a:buChar char="•"/>
            </a:pPr>
            <a:r>
              <a:rPr sz="2000"/>
              <a:t>ref(false) = en låda med ett värde</a:t>
            </a:r>
          </a:p>
          <a:p>
            <a:pPr marL="365760" indent="-274320">
              <a:spcAft>
                <a:spcPts val="800"/>
              </a:spcAft>
              <a:buChar char="•"/>
            </a:pPr>
            <a:r>
              <a:rPr sz="2000"/>
              <a:t>computed räknas fram av sig själv</a:t>
            </a:r>
          </a:p>
          <a:p>
            <a:pPr marL="365760" indent="-274320">
              <a:spcAft>
                <a:spcPts val="800"/>
              </a:spcAft>
              <a:buChar char="•"/>
            </a:pPr>
            <a:r>
              <a:rPr sz="2000"/>
              <a:t>Builder-funktionen ritar UI:t</a:t>
            </a:r>
          </a:p>
          <a:p>
            <a:pPr marL="365760" indent="-274320">
              <a:spcAft>
                <a:spcPts val="800"/>
              </a:spcAft>
              <a:buChar char="•"/>
            </a:pPr>
            <a:r>
              <a:rPr sz="2000"/>
              <a:t>Ingen setState, ingen dispose</a:t>
            </a:r>
          </a:p>
        </p:txBody>
      </p:sp>
      <p:sp>
        <p:nvSpPr>
          <p:cNvPr id="4" name="Rounded Rectangle 3"/>
          <p:cNvSpPr/>
          <p:nvPr/>
        </p:nvSpPr>
        <p:spPr>
          <a:xfrm>
            <a:off x="5212080" y="1737360"/>
            <a:ext cx="6485839" cy="46634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lib/widgets/like_button.dart</a:t>
            </a:r>
          </a:p>
          <a:p>
            <a:pPr algn="l"/>
            <a:r>
              <a:rPr sz="1200">
                <a:solidFill>
                  <a:srgbClr val="E6E9EF"/>
                </a:solidFill>
                <a:latin typeface="Courier New"/>
              </a:rPr>
              <a:t>class LikeButton extends CompositionWidget {</a:t>
            </a:r>
          </a:p>
          <a:p>
            <a:pPr algn="l"/>
            <a:r>
              <a:rPr sz="1200">
                <a:solidFill>
                  <a:srgbClr val="E6E9EF"/>
                </a:solidFill>
                <a:latin typeface="Courier New"/>
              </a:rPr>
              <a:t>  const LikeButton({super.key});</a:t>
            </a:r>
          </a:p>
          <a:p>
            <a:pPr algn="l"/>
            <a:r>
              <a:rPr sz="1200">
                <a:solidFill>
                  <a:srgbClr val="E6E9EF"/>
                </a:solidFill>
                <a:latin typeface="Courier New"/>
              </a:rPr>
              <a:t> </a:t>
            </a:r>
          </a:p>
          <a:p>
            <a:pPr algn="l"/>
            <a:r>
              <a:rPr sz="1200">
                <a:solidFill>
                  <a:srgbClr val="E6E9EF"/>
                </a:solidFill>
                <a:latin typeface="Courier New"/>
              </a:rPr>
              <a:t>  @override</a:t>
            </a:r>
          </a:p>
          <a:p>
            <a:pPr algn="l"/>
            <a:r>
              <a:rPr sz="1200">
                <a:solidFill>
                  <a:srgbClr val="E6E9EF"/>
                </a:solidFill>
                <a:latin typeface="Courier New"/>
              </a:rPr>
              <a:t>  Widget Function(BuildContext) setup() {</a:t>
            </a:r>
          </a:p>
          <a:p>
            <a:pPr algn="l"/>
            <a:r>
              <a:rPr sz="1200">
                <a:solidFill>
                  <a:srgbClr val="E6E9EF"/>
                </a:solidFill>
                <a:latin typeface="Courier New"/>
              </a:rPr>
              <a:t>    final liked = ref(false);</a:t>
            </a:r>
          </a:p>
          <a:p>
            <a:pPr algn="l"/>
            <a:r>
              <a:rPr sz="1200">
                <a:solidFill>
                  <a:srgbClr val="E6E9EF"/>
                </a:solidFill>
                <a:latin typeface="Courier New"/>
              </a:rPr>
              <a:t>    final count = computed(</a:t>
            </a:r>
          </a:p>
          <a:p>
            <a:pPr algn="l"/>
            <a:r>
              <a:rPr sz="1200">
                <a:solidFill>
                  <a:srgbClr val="E6E9EF"/>
                </a:solidFill>
                <a:latin typeface="Courier New"/>
              </a:rPr>
              <a:t>        () =&gt; 41 + (liked.value ? 1 : 0));</a:t>
            </a:r>
          </a:p>
          <a:p>
            <a:pPr algn="l"/>
            <a:r>
              <a:rPr sz="1200">
                <a:solidFill>
                  <a:srgbClr val="E6E9EF"/>
                </a:solidFill>
                <a:latin typeface="Courier New"/>
              </a:rPr>
              <a:t>    void toggle() =&gt; liked.value = !liked.value;</a:t>
            </a:r>
          </a:p>
          <a:p>
            <a:pPr algn="l"/>
            <a:r>
              <a:rPr sz="1200">
                <a:solidFill>
                  <a:srgbClr val="E6E9EF"/>
                </a:solidFill>
                <a:latin typeface="Courier New"/>
              </a:rPr>
              <a:t> </a:t>
            </a:r>
          </a:p>
          <a:p>
            <a:pPr algn="l"/>
            <a:r>
              <a:rPr sz="1200">
                <a:solidFill>
                  <a:srgbClr val="E6E9EF"/>
                </a:solidFill>
                <a:latin typeface="Courier New"/>
              </a:rPr>
              <a:t>    return (context) =&gt; Row(children: [</a:t>
            </a:r>
          </a:p>
          <a:p>
            <a:pPr algn="l"/>
            <a:r>
              <a:rPr sz="1200">
                <a:solidFill>
                  <a:srgbClr val="E6E9EF"/>
                </a:solidFill>
                <a:latin typeface="Courier New"/>
              </a:rPr>
              <a:t>      IconButton(</a:t>
            </a:r>
          </a:p>
          <a:p>
            <a:pPr algn="l"/>
            <a:r>
              <a:rPr sz="1200">
                <a:solidFill>
                  <a:srgbClr val="E6E9EF"/>
                </a:solidFill>
                <a:latin typeface="Courier New"/>
              </a:rPr>
              <a:t>        onPressed: toggle,</a:t>
            </a:r>
          </a:p>
          <a:p>
            <a:pPr algn="l"/>
            <a:r>
              <a:rPr sz="1200">
                <a:solidFill>
                  <a:srgbClr val="E6E9EF"/>
                </a:solidFill>
                <a:latin typeface="Courier New"/>
              </a:rPr>
              <a:t>        icon: Icon(liked.value</a:t>
            </a:r>
          </a:p>
          <a:p>
            <a:pPr algn="l"/>
            <a:r>
              <a:rPr sz="1200">
                <a:solidFill>
                  <a:srgbClr val="E6E9EF"/>
                </a:solidFill>
                <a:latin typeface="Courier New"/>
              </a:rPr>
              <a:t>            ? Icons.favorite</a:t>
            </a:r>
          </a:p>
          <a:p>
            <a:pPr algn="l"/>
            <a:r>
              <a:rPr sz="1200">
                <a:solidFill>
                  <a:srgbClr val="E6E9EF"/>
                </a:solidFill>
                <a:latin typeface="Courier New"/>
              </a:rPr>
              <a:t>            : Icons.favorite_border),</a:t>
            </a:r>
          </a:p>
          <a:p>
            <a:pPr algn="l"/>
            <a:r>
              <a:rPr sz="1200">
                <a:solidFill>
                  <a:srgbClr val="E6E9EF"/>
                </a:solidFill>
                <a:latin typeface="Courier New"/>
              </a:rPr>
              <a:t>      ),</a:t>
            </a:r>
          </a:p>
          <a:p>
            <a:pPr algn="l"/>
            <a:r>
              <a:rPr sz="1200">
                <a:solidFill>
                  <a:srgbClr val="E6E9EF"/>
                </a:solidFill>
                <a:latin typeface="Courier New"/>
              </a:rPr>
              <a:t>      Text('${count.value} gillningar'),</a:t>
            </a:r>
          </a:p>
          <a:p>
            <a:pPr algn="l"/>
            <a:r>
              <a:rPr sz="1200">
                <a:solidFill>
                  <a:srgbClr val="E6E9EF"/>
                </a:solidFill>
                <a:latin typeface="Courier New"/>
              </a:rPr>
              <a:t>    ]);</a:t>
            </a:r>
          </a:p>
          <a:p>
            <a:pPr algn="l"/>
            <a:r>
              <a:rPr sz="1200">
                <a:solidFill>
                  <a:srgbClr val="E6E9EF"/>
                </a:solidFill>
                <a:latin typeface="Courier New"/>
              </a:rPr>
              <a:t>  }</a:t>
            </a:r>
          </a:p>
          <a:p>
            <a:pPr algn="l"/>
            <a:r>
              <a:rPr sz="1200">
                <a:solidFill>
                  <a:srgbClr val="E6E9EF"/>
                </a:solidFill>
                <a:latin typeface="Courier New"/>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Så fungerar det</a:t>
            </a:r>
          </a:p>
        </p:txBody>
      </p:sp>
      <p:sp>
        <p:nvSpPr>
          <p:cNvPr id="3" name="Rounded Rectangle 2"/>
          <p:cNvSpPr/>
          <p:nvPr/>
        </p:nvSpPr>
        <p:spPr>
          <a:xfrm>
            <a:off x="768096" y="1691640"/>
            <a:ext cx="10655503" cy="394335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r>
              <a:rPr sz="1500">
                <a:solidFill>
                  <a:srgbClr val="E6E9EF"/>
                </a:solidFill>
                <a:latin typeface="Courier New"/>
              </a:rPr>
              <a:t>  Widgeten skapas</a:t>
            </a:r>
          </a:p>
          <a:p>
            <a:pPr algn="l"/>
            <a:r>
              <a:rPr sz="1500">
                <a:solidFill>
                  <a:srgbClr val="E6E9EF"/>
                </a:solidFill>
                <a:latin typeface="Courier New"/>
              </a:rPr>
              <a:t>        │</a:t>
            </a:r>
          </a:p>
          <a:p>
            <a:pPr algn="l"/>
            <a:r>
              <a:rPr sz="1500">
                <a:solidFill>
                  <a:srgbClr val="E6E9EF"/>
                </a:solidFill>
                <a:latin typeface="Courier New"/>
              </a:rPr>
              <a:t>        ▼</a:t>
            </a:r>
          </a:p>
          <a:p>
            <a:pPr algn="l"/>
            <a:r>
              <a:rPr sz="1500">
                <a:solidFill>
                  <a:srgbClr val="E6E9EF"/>
                </a:solidFill>
                <a:latin typeface="Courier New"/>
              </a:rPr>
              <a:t>  ┌─────────────────────────────┐</a:t>
            </a:r>
          </a:p>
          <a:p>
            <a:pPr algn="l"/>
            <a:r>
              <a:rPr sz="1500">
                <a:solidFill>
                  <a:srgbClr val="E6E9EF"/>
                </a:solidFill>
                <a:latin typeface="Courier New"/>
              </a:rPr>
              <a:t>  │ setup()   körs EN gång      │</a:t>
            </a:r>
          </a:p>
          <a:p>
            <a:pPr algn="l"/>
            <a:r>
              <a:rPr sz="1500">
                <a:solidFill>
                  <a:srgbClr val="E6E9EF"/>
                </a:solidFill>
                <a:latin typeface="Courier New"/>
              </a:rPr>
              <a:t>  │  • skapar ref och computed  │</a:t>
            </a:r>
          </a:p>
          <a:p>
            <a:pPr algn="l"/>
            <a:r>
              <a:rPr sz="1500">
                <a:solidFill>
                  <a:srgbClr val="E6E9EF"/>
                </a:solidFill>
                <a:latin typeface="Courier New"/>
              </a:rPr>
              <a:t>  │  • returnerar builder ──┐   │</a:t>
            </a:r>
          </a:p>
          <a:p>
            <a:pPr algn="l"/>
            <a:r>
              <a:rPr sz="1500">
                <a:solidFill>
                  <a:srgbClr val="E6E9EF"/>
                </a:solidFill>
                <a:latin typeface="Courier New"/>
              </a:rPr>
              <a:t>  └─────────────────────────┼───┘</a:t>
            </a:r>
          </a:p>
          <a:p>
            <a:pPr algn="l"/>
            <a:r>
              <a:rPr sz="1500">
                <a:solidFill>
                  <a:srgbClr val="E6E9EF"/>
                </a:solidFill>
                <a:latin typeface="Courier New"/>
              </a:rPr>
              <a:t>                            ▼</a:t>
            </a:r>
          </a:p>
          <a:p>
            <a:pPr algn="l"/>
            <a:r>
              <a:rPr sz="1500">
                <a:solidFill>
                  <a:srgbClr val="E6E9EF"/>
                </a:solidFill>
                <a:latin typeface="Courier New"/>
              </a:rPr>
              <a:t>  ┌─────────────────────────────┐</a:t>
            </a:r>
          </a:p>
          <a:p>
            <a:pPr algn="l"/>
            <a:r>
              <a:rPr sz="1500">
                <a:solidFill>
                  <a:srgbClr val="E6E9EF"/>
                </a:solidFill>
                <a:latin typeface="Courier New"/>
              </a:rPr>
              <a:t>  │ builder  (context) =&gt; ...   │◄──┐</a:t>
            </a:r>
          </a:p>
          <a:p>
            <a:pPr algn="l"/>
            <a:r>
              <a:rPr sz="1500">
                <a:solidFill>
                  <a:srgbClr val="E6E9EF"/>
                </a:solidFill>
                <a:latin typeface="Courier New"/>
              </a:rPr>
              <a:t>  │  • läser liked.value        │   │ körs igen av sig själv</a:t>
            </a:r>
          </a:p>
          <a:p>
            <a:pPr algn="l"/>
            <a:r>
              <a:rPr sz="1500">
                <a:solidFill>
                  <a:srgbClr val="E6E9EF"/>
                </a:solidFill>
                <a:latin typeface="Courier New"/>
              </a:rPr>
              <a:t>  └─────────────────────────────┘   │</a:t>
            </a:r>
          </a:p>
          <a:p>
            <a:pPr algn="l"/>
            <a:r>
              <a:rPr sz="1500">
                <a:solidFill>
                  <a:srgbClr val="E6E9EF"/>
                </a:solidFill>
                <a:latin typeface="Courier New"/>
              </a:rPr>
              <a:t>                                    │</a:t>
            </a:r>
          </a:p>
          <a:p>
            <a:pPr algn="l"/>
            <a:r>
              <a:rPr sz="1500">
                <a:solidFill>
                  <a:srgbClr val="E6E9EF"/>
                </a:solidFill>
                <a:latin typeface="Courier New"/>
              </a:rPr>
              <a:t>  liked.value = true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StatefulWidget eller CompositionWidget?</a:t>
            </a:r>
          </a:p>
        </p:txBody>
      </p:sp>
      <p:graphicFrame>
        <p:nvGraphicFramePr>
          <p:cNvPr id="3" name="Table 2"/>
          <p:cNvGraphicFramePr>
            <a:graphicFrameLocks noGrp="1"/>
          </p:cNvGraphicFramePr>
          <p:nvPr/>
        </p:nvGraphicFramePr>
        <p:xfrm>
          <a:off x="768096" y="1691640"/>
          <a:ext cx="10652758" cy="3712464"/>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977639">
                  <a:extLst>
                    <a:ext uri="{9D8B030D-6E8A-4147-A177-3AD203B41FA5}">
                      <a16:colId xmlns:a16="http://schemas.microsoft.com/office/drawing/2014/main" val="20002"/>
                    </a:ext>
                  </a:extLst>
                </a:gridCol>
              </a:tblGrid>
              <a:tr h="530352">
                <a:tc>
                  <a:txBody>
                    <a:bodyPr/>
                    <a:lstStyle/>
                    <a:p>
                      <a:endParaRPr/>
                    </a:p>
                  </a:txBody>
                  <a:tcPr marT="36576" marB="36576" anchor="ctr"/>
                </a:tc>
                <a:tc>
                  <a:txBody>
                    <a:bodyPr/>
                    <a:lstStyle/>
                    <a:p>
                      <a:r>
                        <a:rPr sz="1600" b="1"/>
                        <a:t>StatefulWidget</a:t>
                      </a:r>
                    </a:p>
                  </a:txBody>
                  <a:tcPr marT="36576" marB="36576" anchor="ctr"/>
                </a:tc>
                <a:tc>
                  <a:txBody>
                    <a:bodyPr/>
                    <a:lstStyle/>
                    <a:p>
                      <a:r>
                        <a:rPr sz="1600" b="1"/>
                        <a:t>CompositionWidget</a:t>
                      </a:r>
                    </a:p>
                  </a:txBody>
                  <a:tcPr marT="36576" marB="36576" anchor="ctr"/>
                </a:tc>
                <a:extLst>
                  <a:ext uri="{0D108BD9-81ED-4DB2-BD59-A6C34878D82A}">
                    <a16:rowId xmlns:a16="http://schemas.microsoft.com/office/drawing/2014/main" val="10000"/>
                  </a:ext>
                </a:extLst>
              </a:tr>
              <a:tr h="530352">
                <a:tc>
                  <a:txBody>
                    <a:bodyPr/>
                    <a:lstStyle/>
                    <a:p>
                      <a:r>
                        <a:rPr sz="1600"/>
                        <a:t>Antal klasser</a:t>
                      </a:r>
                    </a:p>
                  </a:txBody>
                  <a:tcPr marT="36576" marB="36576" anchor="ctr"/>
                </a:tc>
                <a:tc>
                  <a:txBody>
                    <a:bodyPr/>
                    <a:lstStyle/>
                    <a:p>
                      <a:r>
                        <a:rPr sz="1600"/>
                        <a:t>Två</a:t>
                      </a:r>
                    </a:p>
                  </a:txBody>
                  <a:tcPr marT="36576" marB="36576" anchor="ctr"/>
                </a:tc>
                <a:tc>
                  <a:txBody>
                    <a:bodyPr/>
                    <a:lstStyle/>
                    <a:p>
                      <a:r>
                        <a:rPr sz="1600"/>
                        <a:t>En</a:t>
                      </a:r>
                    </a:p>
                  </a:txBody>
                  <a:tcPr marT="36576" marB="36576" anchor="ctr"/>
                </a:tc>
                <a:extLst>
                  <a:ext uri="{0D108BD9-81ED-4DB2-BD59-A6C34878D82A}">
                    <a16:rowId xmlns:a16="http://schemas.microsoft.com/office/drawing/2014/main" val="10001"/>
                  </a:ext>
                </a:extLst>
              </a:tr>
              <a:tr h="530352">
                <a:tc>
                  <a:txBody>
                    <a:bodyPr/>
                    <a:lstStyle/>
                    <a:p>
                      <a:r>
                        <a:rPr sz="1600"/>
                        <a:t>Var finns state?</a:t>
                      </a:r>
                    </a:p>
                  </a:txBody>
                  <a:tcPr marT="36576" marB="36576" anchor="ctr"/>
                </a:tc>
                <a:tc>
                  <a:txBody>
                    <a:bodyPr/>
                    <a:lstStyle/>
                    <a:p>
                      <a:r>
                        <a:rPr sz="1600"/>
                        <a:t>Fält i State-klassen</a:t>
                      </a:r>
                    </a:p>
                  </a:txBody>
                  <a:tcPr marT="36576" marB="36576" anchor="ctr"/>
                </a:tc>
                <a:tc>
                  <a:txBody>
                    <a:bodyPr/>
                    <a:lstStyle/>
                    <a:p>
                      <a:r>
                        <a:rPr sz="1600"/>
                        <a:t>ref i setup()</a:t>
                      </a:r>
                    </a:p>
                  </a:txBody>
                  <a:tcPr marT="36576" marB="36576" anchor="ctr"/>
                </a:tc>
                <a:extLst>
                  <a:ext uri="{0D108BD9-81ED-4DB2-BD59-A6C34878D82A}">
                    <a16:rowId xmlns:a16="http://schemas.microsoft.com/office/drawing/2014/main" val="10002"/>
                  </a:ext>
                </a:extLst>
              </a:tr>
              <a:tr h="530352">
                <a:tc>
                  <a:txBody>
                    <a:bodyPr/>
                    <a:lstStyle/>
                    <a:p>
                      <a:r>
                        <a:rPr sz="1600"/>
                        <a:t>Skärmen uppdateras</a:t>
                      </a:r>
                    </a:p>
                  </a:txBody>
                  <a:tcPr marT="36576" marB="36576" anchor="ctr"/>
                </a:tc>
                <a:tc>
                  <a:txBody>
                    <a:bodyPr/>
                    <a:lstStyle/>
                    <a:p>
                      <a:r>
                        <a:rPr sz="1600"/>
                        <a:t>När du anropar setState()</a:t>
                      </a:r>
                    </a:p>
                  </a:txBody>
                  <a:tcPr marT="36576" marB="36576" anchor="ctr"/>
                </a:tc>
                <a:tc>
                  <a:txBody>
                    <a:bodyPr/>
                    <a:lstStyle/>
                    <a:p>
                      <a:r>
                        <a:rPr sz="1600"/>
                        <a:t>Av sig själv när en ref ändras</a:t>
                      </a:r>
                    </a:p>
                  </a:txBody>
                  <a:tcPr marT="36576" marB="36576" anchor="ctr"/>
                </a:tc>
                <a:extLst>
                  <a:ext uri="{0D108BD9-81ED-4DB2-BD59-A6C34878D82A}">
                    <a16:rowId xmlns:a16="http://schemas.microsoft.com/office/drawing/2014/main" val="10003"/>
                  </a:ext>
                </a:extLst>
              </a:tr>
              <a:tr h="530352">
                <a:tc>
                  <a:txBody>
                    <a:bodyPr/>
                    <a:lstStyle/>
                    <a:p>
                      <a:r>
                        <a:rPr sz="1600"/>
                        <a:t>Värden som räknas fram</a:t>
                      </a:r>
                    </a:p>
                  </a:txBody>
                  <a:tcPr marT="36576" marB="36576" anchor="ctr"/>
                </a:tc>
                <a:tc>
                  <a:txBody>
                    <a:bodyPr/>
                    <a:lstStyle/>
                    <a:p>
                      <a:r>
                        <a:rPr sz="1600"/>
                        <a:t>Räknas i build() varje gång</a:t>
                      </a:r>
                    </a:p>
                  </a:txBody>
                  <a:tcPr marT="36576" marB="36576" anchor="ctr"/>
                </a:tc>
                <a:tc>
                  <a:txBody>
                    <a:bodyPr/>
                    <a:lstStyle/>
                    <a:p>
                      <a:r>
                        <a:rPr sz="1600"/>
                        <a:t>computed, bara när det behövs</a:t>
                      </a:r>
                    </a:p>
                  </a:txBody>
                  <a:tcPr marT="36576" marB="36576" anchor="ctr"/>
                </a:tc>
                <a:extLst>
                  <a:ext uri="{0D108BD9-81ED-4DB2-BD59-A6C34878D82A}">
                    <a16:rowId xmlns:a16="http://schemas.microsoft.com/office/drawing/2014/main" val="10004"/>
                  </a:ext>
                </a:extLst>
              </a:tr>
              <a:tr h="530352">
                <a:tc>
                  <a:txBody>
                    <a:bodyPr/>
                    <a:lstStyle/>
                    <a:p>
                      <a:r>
                        <a:rPr sz="1600"/>
                        <a:t>initState / build</a:t>
                      </a:r>
                    </a:p>
                  </a:txBody>
                  <a:tcPr marT="36576" marB="36576" anchor="ctr"/>
                </a:tc>
                <a:tc>
                  <a:txBody>
                    <a:bodyPr/>
                    <a:lstStyle/>
                    <a:p>
                      <a:r>
                        <a:rPr sz="1600"/>
                        <a:t>initState() / build()</a:t>
                      </a:r>
                    </a:p>
                  </a:txBody>
                  <a:tcPr marT="36576" marB="36576" anchor="ctr"/>
                </a:tc>
                <a:tc>
                  <a:txBody>
                    <a:bodyPr/>
                    <a:lstStyle/>
                    <a:p>
                      <a:r>
                        <a:rPr sz="1600"/>
                        <a:t>koden i setup() / builder-funktionen</a:t>
                      </a:r>
                    </a:p>
                  </a:txBody>
                  <a:tcPr marT="36576" marB="36576" anchor="ctr"/>
                </a:tc>
                <a:extLst>
                  <a:ext uri="{0D108BD9-81ED-4DB2-BD59-A6C34878D82A}">
                    <a16:rowId xmlns:a16="http://schemas.microsoft.com/office/drawing/2014/main" val="10005"/>
                  </a:ext>
                </a:extLst>
              </a:tr>
              <a:tr h="530352">
                <a:tc>
                  <a:txBody>
                    <a:bodyPr/>
                    <a:lstStyle/>
                    <a:p>
                      <a:r>
                        <a:rPr sz="1600"/>
                        <a:t>dispose</a:t>
                      </a:r>
                    </a:p>
                  </a:txBody>
                  <a:tcPr marT="36576" marB="36576" anchor="ctr"/>
                </a:tc>
                <a:tc>
                  <a:txBody>
                    <a:bodyPr/>
                    <a:lstStyle/>
                    <a:p>
                      <a:r>
                        <a:rPr sz="1600"/>
                        <a:t>dispose()</a:t>
                      </a:r>
                    </a:p>
                  </a:txBody>
                  <a:tcPr marT="36576" marB="36576" anchor="ctr"/>
                </a:tc>
                <a:tc>
                  <a:txBody>
                    <a:bodyPr/>
                    <a:lstStyle/>
                    <a:p>
                      <a:r>
                        <a:rPr sz="1600"/>
                        <a:t>onUnmounted(), controllers städas själva</a:t>
                      </a:r>
                    </a:p>
                  </a:txBody>
                  <a:tcPr marT="36576" marB="36576"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Kan du Vue?</a:t>
            </a:r>
          </a:p>
        </p:txBody>
      </p:sp>
      <p:graphicFrame>
        <p:nvGraphicFramePr>
          <p:cNvPr id="3" name="Table 2"/>
          <p:cNvGraphicFramePr>
            <a:graphicFrameLocks noGrp="1"/>
          </p:cNvGraphicFramePr>
          <p:nvPr/>
        </p:nvGraphicFramePr>
        <p:xfrm>
          <a:off x="768096" y="1691640"/>
          <a:ext cx="10607040" cy="429768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29768">
                <a:tc>
                  <a:txBody>
                    <a:bodyPr/>
                    <a:lstStyle/>
                    <a:p>
                      <a:r>
                        <a:rPr sz="1400" b="1"/>
                        <a:t>Vue 3</a:t>
                      </a:r>
                    </a:p>
                  </a:txBody>
                  <a:tcPr marT="36576" marB="36576" anchor="ctr"/>
                </a:tc>
                <a:tc>
                  <a:txBody>
                    <a:bodyPr/>
                    <a:lstStyle/>
                    <a:p>
                      <a:r>
                        <a:rPr sz="1400" b="1"/>
                        <a:t>Flutter Compositions</a:t>
                      </a:r>
                    </a:p>
                  </a:txBody>
                  <a:tcPr marT="36576" marB="36576" anchor="ctr"/>
                </a:tc>
                <a:tc>
                  <a:txBody>
                    <a:bodyPr/>
                    <a:lstStyle/>
                    <a:p>
                      <a:r>
                        <a:rPr sz="1400" b="1"/>
                        <a:t>Kapitel</a:t>
                      </a:r>
                    </a:p>
                  </a:txBody>
                  <a:tcPr marT="36576" marB="36576" anchor="ctr"/>
                </a:tc>
                <a:extLst>
                  <a:ext uri="{0D108BD9-81ED-4DB2-BD59-A6C34878D82A}">
                    <a16:rowId xmlns:a16="http://schemas.microsoft.com/office/drawing/2014/main" val="10000"/>
                  </a:ext>
                </a:extLst>
              </a:tr>
              <a:tr h="429768">
                <a:tc>
                  <a:txBody>
                    <a:bodyPr/>
                    <a:lstStyle/>
                    <a:p>
                      <a:r>
                        <a:rPr sz="1400">
                          <a:latin typeface="Courier New"/>
                        </a:rPr>
                        <a:t>&lt;script setup&gt;</a:t>
                      </a:r>
                    </a:p>
                  </a:txBody>
                  <a:tcPr marT="36576" marB="36576" anchor="ctr"/>
                </a:tc>
                <a:tc>
                  <a:txBody>
                    <a:bodyPr/>
                    <a:lstStyle/>
                    <a:p>
                      <a:r>
                        <a:rPr sz="1400">
                          <a:latin typeface="Courier New"/>
                        </a:rPr>
                        <a:t>setup()</a:t>
                      </a:r>
                    </a:p>
                  </a:txBody>
                  <a:tcPr marT="36576" marB="36576" anchor="ctr"/>
                </a:tc>
                <a:tc>
                  <a:txBody>
                    <a:bodyPr/>
                    <a:lstStyle/>
                    <a:p>
                      <a:r>
                        <a:rPr sz="1400"/>
                        <a:t>1</a:t>
                      </a:r>
                    </a:p>
                  </a:txBody>
                  <a:tcPr marT="36576" marB="36576" anchor="ctr"/>
                </a:tc>
                <a:extLst>
                  <a:ext uri="{0D108BD9-81ED-4DB2-BD59-A6C34878D82A}">
                    <a16:rowId xmlns:a16="http://schemas.microsoft.com/office/drawing/2014/main" val="10001"/>
                  </a:ext>
                </a:extLst>
              </a:tr>
              <a:tr h="429768">
                <a:tc>
                  <a:txBody>
                    <a:bodyPr/>
                    <a:lstStyle/>
                    <a:p>
                      <a:r>
                        <a:rPr sz="1400">
                          <a:latin typeface="Courier New"/>
                        </a:rPr>
                        <a:t>&lt;template&gt;</a:t>
                      </a:r>
                    </a:p>
                  </a:txBody>
                  <a:tcPr marT="36576" marB="36576" anchor="ctr"/>
                </a:tc>
                <a:tc>
                  <a:txBody>
                    <a:bodyPr/>
                    <a:lstStyle/>
                    <a:p>
                      <a:r>
                        <a:rPr sz="1400">
                          <a:latin typeface="Courier New"/>
                        </a:rPr>
                        <a:t>builder-funktionen (context) =&gt; ...</a:t>
                      </a:r>
                    </a:p>
                  </a:txBody>
                  <a:tcPr marT="36576" marB="36576" anchor="ctr"/>
                </a:tc>
                <a:tc>
                  <a:txBody>
                    <a:bodyPr/>
                    <a:lstStyle/>
                    <a:p>
                      <a:r>
                        <a:rPr sz="1400"/>
                        <a:t>1</a:t>
                      </a:r>
                    </a:p>
                  </a:txBody>
                  <a:tcPr marT="36576" marB="36576" anchor="ctr"/>
                </a:tc>
                <a:extLst>
                  <a:ext uri="{0D108BD9-81ED-4DB2-BD59-A6C34878D82A}">
                    <a16:rowId xmlns:a16="http://schemas.microsoft.com/office/drawing/2014/main" val="10002"/>
                  </a:ext>
                </a:extLst>
              </a:tr>
              <a:tr h="429768">
                <a:tc>
                  <a:txBody>
                    <a:bodyPr/>
                    <a:lstStyle/>
                    <a:p>
                      <a:r>
                        <a:rPr sz="1400">
                          <a:latin typeface="Courier New"/>
                        </a:rPr>
                        <a:t>const n = ref(0)  /  {{ n }}</a:t>
                      </a:r>
                    </a:p>
                  </a:txBody>
                  <a:tcPr marT="36576" marB="36576" anchor="ctr"/>
                </a:tc>
                <a:tc>
                  <a:txBody>
                    <a:bodyPr/>
                    <a:lstStyle/>
                    <a:p>
                      <a:r>
                        <a:rPr sz="1400">
                          <a:latin typeface="Courier New"/>
                        </a:rPr>
                        <a:t>final n = ref(0);  /  Text('${n.value}')</a:t>
                      </a:r>
                    </a:p>
                  </a:txBody>
                  <a:tcPr marT="36576" marB="36576" anchor="ctr"/>
                </a:tc>
                <a:tc>
                  <a:txBody>
                    <a:bodyPr/>
                    <a:lstStyle/>
                    <a:p>
                      <a:r>
                        <a:rPr sz="1400"/>
                        <a:t>2</a:t>
                      </a:r>
                    </a:p>
                  </a:txBody>
                  <a:tcPr marT="36576" marB="36576" anchor="ctr"/>
                </a:tc>
                <a:extLst>
                  <a:ext uri="{0D108BD9-81ED-4DB2-BD59-A6C34878D82A}">
                    <a16:rowId xmlns:a16="http://schemas.microsoft.com/office/drawing/2014/main" val="10003"/>
                  </a:ext>
                </a:extLst>
              </a:tr>
              <a:tr h="429768">
                <a:tc>
                  <a:txBody>
                    <a:bodyPr/>
                    <a:lstStyle/>
                    <a:p>
                      <a:r>
                        <a:rPr sz="1400">
                          <a:latin typeface="Courier New"/>
                        </a:rPr>
                        <a:t>computed(() =&gt; ...)</a:t>
                      </a:r>
                    </a:p>
                  </a:txBody>
                  <a:tcPr marT="36576" marB="36576" anchor="ctr"/>
                </a:tc>
                <a:tc>
                  <a:txBody>
                    <a:bodyPr/>
                    <a:lstStyle/>
                    <a:p>
                      <a:r>
                        <a:rPr sz="1400">
                          <a:latin typeface="Courier New"/>
                        </a:rPr>
                        <a:t>computed(() =&gt; ...)</a:t>
                      </a:r>
                    </a:p>
                  </a:txBody>
                  <a:tcPr marT="36576" marB="36576" anchor="ctr"/>
                </a:tc>
                <a:tc>
                  <a:txBody>
                    <a:bodyPr/>
                    <a:lstStyle/>
                    <a:p>
                      <a:r>
                        <a:rPr sz="1400"/>
                        <a:t>2</a:t>
                      </a:r>
                    </a:p>
                  </a:txBody>
                  <a:tcPr marT="36576" marB="36576" anchor="ctr"/>
                </a:tc>
                <a:extLst>
                  <a:ext uri="{0D108BD9-81ED-4DB2-BD59-A6C34878D82A}">
                    <a16:rowId xmlns:a16="http://schemas.microsoft.com/office/drawing/2014/main" val="10004"/>
                  </a:ext>
                </a:extLst>
              </a:tr>
              <a:tr h="429768">
                <a:tc>
                  <a:txBody>
                    <a:bodyPr/>
                    <a:lstStyle/>
                    <a:p>
                      <a:r>
                        <a:rPr sz="1400">
                          <a:latin typeface="Courier New"/>
                        </a:rPr>
                        <a:t>watch / watchEffect</a:t>
                      </a:r>
                    </a:p>
                  </a:txBody>
                  <a:tcPr marT="36576" marB="36576" anchor="ctr"/>
                </a:tc>
                <a:tc>
                  <a:txBody>
                    <a:bodyPr/>
                    <a:lstStyle/>
                    <a:p>
                      <a:r>
                        <a:rPr sz="1400">
                          <a:latin typeface="Courier New"/>
                        </a:rPr>
                        <a:t>watch / watchEffect</a:t>
                      </a:r>
                    </a:p>
                  </a:txBody>
                  <a:tcPr marT="36576" marB="36576" anchor="ctr"/>
                </a:tc>
                <a:tc>
                  <a:txBody>
                    <a:bodyPr/>
                    <a:lstStyle/>
                    <a:p>
                      <a:r>
                        <a:rPr sz="1400"/>
                        <a:t>3</a:t>
                      </a:r>
                    </a:p>
                  </a:txBody>
                  <a:tcPr marT="36576" marB="36576" anchor="ctr"/>
                </a:tc>
                <a:extLst>
                  <a:ext uri="{0D108BD9-81ED-4DB2-BD59-A6C34878D82A}">
                    <a16:rowId xmlns:a16="http://schemas.microsoft.com/office/drawing/2014/main" val="10005"/>
                  </a:ext>
                </a:extLst>
              </a:tr>
              <a:tr h="429768">
                <a:tc>
                  <a:txBody>
                    <a:bodyPr/>
                    <a:lstStyle/>
                    <a:p>
                      <a:r>
                        <a:rPr sz="1400">
                          <a:latin typeface="Courier New"/>
                        </a:rPr>
                        <a:t>onMounted / onUnmounted</a:t>
                      </a:r>
                    </a:p>
                  </a:txBody>
                  <a:tcPr marT="36576" marB="36576" anchor="ctr"/>
                </a:tc>
                <a:tc>
                  <a:txBody>
                    <a:bodyPr/>
                    <a:lstStyle/>
                    <a:p>
                      <a:r>
                        <a:rPr sz="1400">
                          <a:latin typeface="Courier New"/>
                        </a:rPr>
                        <a:t>onMounted / onUnmounted</a:t>
                      </a:r>
                    </a:p>
                  </a:txBody>
                  <a:tcPr marT="36576" marB="36576" anchor="ctr"/>
                </a:tc>
                <a:tc>
                  <a:txBody>
                    <a:bodyPr/>
                    <a:lstStyle/>
                    <a:p>
                      <a:r>
                        <a:rPr sz="1400"/>
                        <a:t>3</a:t>
                      </a:r>
                    </a:p>
                  </a:txBody>
                  <a:tcPr marT="36576" marB="36576" anchor="ctr"/>
                </a:tc>
                <a:extLst>
                  <a:ext uri="{0D108BD9-81ED-4DB2-BD59-A6C34878D82A}">
                    <a16:rowId xmlns:a16="http://schemas.microsoft.com/office/drawing/2014/main" val="10006"/>
                  </a:ext>
                </a:extLst>
              </a:tr>
              <a:tr h="429768">
                <a:tc>
                  <a:txBody>
                    <a:bodyPr/>
                    <a:lstStyle/>
                    <a:p>
                      <a:r>
                        <a:rPr sz="1400">
                          <a:latin typeface="Courier New"/>
                        </a:rPr>
                        <a:t>defineProps</a:t>
                      </a:r>
                    </a:p>
                  </a:txBody>
                  <a:tcPr marT="36576" marB="36576" anchor="ctr"/>
                </a:tc>
                <a:tc>
                  <a:txBody>
                    <a:bodyPr/>
                    <a:lstStyle/>
                    <a:p>
                      <a:r>
                        <a:rPr sz="1400">
                          <a:latin typeface="Courier New"/>
                        </a:rPr>
                        <a:t>fält i klassen + widget()</a:t>
                      </a:r>
                    </a:p>
                  </a:txBody>
                  <a:tcPr marT="36576" marB="36576" anchor="ctr"/>
                </a:tc>
                <a:tc>
                  <a:txBody>
                    <a:bodyPr/>
                    <a:lstStyle/>
                    <a:p>
                      <a:r>
                        <a:rPr sz="1400"/>
                        <a:t>4</a:t>
                      </a:r>
                    </a:p>
                  </a:txBody>
                  <a:tcPr marT="36576" marB="36576" anchor="ctr"/>
                </a:tc>
                <a:extLst>
                  <a:ext uri="{0D108BD9-81ED-4DB2-BD59-A6C34878D82A}">
                    <a16:rowId xmlns:a16="http://schemas.microsoft.com/office/drawing/2014/main" val="10007"/>
                  </a:ext>
                </a:extLst>
              </a:tr>
              <a:tr h="429768">
                <a:tc>
                  <a:txBody>
                    <a:bodyPr/>
                    <a:lstStyle/>
                    <a:p>
                      <a:r>
                        <a:rPr sz="1400">
                          <a:latin typeface="Courier New"/>
                        </a:rPr>
                        <a:t>v-model</a:t>
                      </a:r>
                    </a:p>
                  </a:txBody>
                  <a:tcPr marT="36576" marB="36576" anchor="ctr"/>
                </a:tc>
                <a:tc>
                  <a:txBody>
                    <a:bodyPr/>
                    <a:lstStyle/>
                    <a:p>
                      <a:r>
                        <a:rPr sz="1400">
                          <a:latin typeface="Courier New"/>
                        </a:rPr>
                        <a:t>useTextEditingController()</a:t>
                      </a:r>
                    </a:p>
                  </a:txBody>
                  <a:tcPr marT="36576" marB="36576" anchor="ctr"/>
                </a:tc>
                <a:tc>
                  <a:txBody>
                    <a:bodyPr/>
                    <a:lstStyle/>
                    <a:p>
                      <a:r>
                        <a:rPr sz="1400"/>
                        <a:t>4</a:t>
                      </a:r>
                    </a:p>
                  </a:txBody>
                  <a:tcPr marT="36576" marB="36576" anchor="ctr"/>
                </a:tc>
                <a:extLst>
                  <a:ext uri="{0D108BD9-81ED-4DB2-BD59-A6C34878D82A}">
                    <a16:rowId xmlns:a16="http://schemas.microsoft.com/office/drawing/2014/main" val="10008"/>
                  </a:ext>
                </a:extLst>
              </a:tr>
              <a:tr h="429768">
                <a:tc>
                  <a:txBody>
                    <a:bodyPr/>
                    <a:lstStyle/>
                    <a:p>
                      <a:r>
                        <a:rPr sz="1400">
                          <a:latin typeface="Courier New"/>
                        </a:rPr>
                        <a:t>provide / inject</a:t>
                      </a:r>
                    </a:p>
                  </a:txBody>
                  <a:tcPr marT="36576" marB="36576" anchor="ctr"/>
                </a:tc>
                <a:tc>
                  <a:txBody>
                    <a:bodyPr/>
                    <a:lstStyle/>
                    <a:p>
                      <a:r>
                        <a:rPr sz="1400">
                          <a:latin typeface="Courier New"/>
                        </a:rPr>
                        <a:t>provide / inject med InjectionKey</a:t>
                      </a:r>
                    </a:p>
                  </a:txBody>
                  <a:tcPr marT="36576" marB="36576" anchor="ctr"/>
                </a:tc>
                <a:tc>
                  <a:txBody>
                    <a:bodyPr/>
                    <a:lstStyle/>
                    <a:p>
                      <a:r>
                        <a:rPr sz="1400"/>
                        <a:t>6</a:t>
                      </a:r>
                    </a:p>
                  </a:txBody>
                  <a:tcPr marT="36576" marB="36576" anchor="ctr"/>
                </a:tc>
                <a:extLst>
                  <a:ext uri="{0D108BD9-81ED-4DB2-BD59-A6C34878D82A}">
                    <a16:rowId xmlns:a16="http://schemas.microsoft.com/office/drawing/2014/main" val="10009"/>
                  </a:ext>
                </a:extLst>
              </a:tr>
            </a:tbl>
          </a:graphicData>
        </a:graphic>
      </p:graphicFrame>
      <p:sp>
        <p:nvSpPr>
          <p:cNvPr id="4" name="TextBox 3"/>
          <p:cNvSpPr txBox="1"/>
          <p:nvPr/>
        </p:nvSpPr>
        <p:spPr>
          <a:xfrm>
            <a:off x="768096" y="6217919"/>
            <a:ext cx="10655503" cy="731520"/>
          </a:xfrm>
          <a:prstGeom prst="rect">
            <a:avLst/>
          </a:prstGeom>
          <a:noFill/>
        </p:spPr>
        <p:txBody>
          <a:bodyPr wrap="square" lIns="0" tIns="0" rIns="0" bIns="0" anchor="t">
            <a:spAutoFit/>
          </a:bodyPr>
          <a:lstStyle/>
          <a:p>
            <a:pPr algn="l">
              <a:spcAft>
                <a:spcPts val="800"/>
              </a:spcAft>
            </a:pPr>
            <a:r>
              <a:rPr sz="1600" b="0">
                <a:solidFill>
                  <a:srgbClr val="595959"/>
                </a:solidFill>
              </a:rPr>
              <a:t>⚠️ Största skillnaden: i Dart skriver du alltid .value – även i UI:t.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Regler att komma ihåg</a:t>
            </a:r>
          </a:p>
        </p:txBody>
      </p:sp>
      <p:graphicFrame>
        <p:nvGraphicFramePr>
          <p:cNvPr id="3" name="Table 2"/>
          <p:cNvGraphicFramePr>
            <a:graphicFrameLocks noGrp="1"/>
          </p:cNvGraphicFramePr>
          <p:nvPr/>
        </p:nvGraphicFramePr>
        <p:xfrm>
          <a:off x="768096" y="1691640"/>
          <a:ext cx="10652760" cy="3401568"/>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5074920">
                  <a:extLst>
                    <a:ext uri="{9D8B030D-6E8A-4147-A177-3AD203B41FA5}">
                      <a16:colId xmlns:a16="http://schemas.microsoft.com/office/drawing/2014/main" val="20002"/>
                    </a:ext>
                  </a:extLst>
                </a:gridCol>
              </a:tblGrid>
              <a:tr h="566928">
                <a:tc>
                  <a:txBody>
                    <a:bodyPr/>
                    <a:lstStyle/>
                    <a:p>
                      <a:r>
                        <a:rPr sz="1500" b="1"/>
                        <a:t>#</a:t>
                      </a:r>
                    </a:p>
                  </a:txBody>
                  <a:tcPr marT="36576" marB="36576" anchor="ctr"/>
                </a:tc>
                <a:tc>
                  <a:txBody>
                    <a:bodyPr/>
                    <a:lstStyle/>
                    <a:p>
                      <a:r>
                        <a:rPr sz="1500" b="1"/>
                        <a:t>Regel</a:t>
                      </a:r>
                    </a:p>
                  </a:txBody>
                  <a:tcPr marT="36576" marB="36576" anchor="ctr"/>
                </a:tc>
                <a:tc>
                  <a:txBody>
                    <a:bodyPr/>
                    <a:lstStyle/>
                    <a:p>
                      <a:r>
                        <a:rPr sz="1500" b="1"/>
                        <a:t>Varför</a:t>
                      </a:r>
                    </a:p>
                  </a:txBody>
                  <a:tcPr marT="36576" marB="36576" anchor="ctr"/>
                </a:tc>
                <a:extLst>
                  <a:ext uri="{0D108BD9-81ED-4DB2-BD59-A6C34878D82A}">
                    <a16:rowId xmlns:a16="http://schemas.microsoft.com/office/drawing/2014/main" val="10000"/>
                  </a:ext>
                </a:extLst>
              </a:tr>
              <a:tr h="566928">
                <a:tc>
                  <a:txBody>
                    <a:bodyPr/>
                    <a:lstStyle/>
                    <a:p>
                      <a:r>
                        <a:rPr sz="1500"/>
                        <a:t>1</a:t>
                      </a:r>
                    </a:p>
                  </a:txBody>
                  <a:tcPr marT="36576" marB="36576" anchor="ctr"/>
                </a:tc>
                <a:tc>
                  <a:txBody>
                    <a:bodyPr/>
                    <a:lstStyle/>
                    <a:p>
                      <a:r>
                        <a:rPr sz="1500"/>
                        <a:t>setup() körs en gång och är aldrig async</a:t>
                      </a:r>
                    </a:p>
                  </a:txBody>
                  <a:tcPr marT="36576" marB="36576" anchor="ctr"/>
                </a:tc>
                <a:tc>
                  <a:txBody>
                    <a:bodyPr/>
                    <a:lstStyle/>
                    <a:p>
                      <a:r>
                        <a:rPr sz="1500"/>
                        <a:t>Den måste returnera builder-funktionen direkt</a:t>
                      </a:r>
                    </a:p>
                  </a:txBody>
                  <a:tcPr marT="36576" marB="36576" anchor="ctr"/>
                </a:tc>
                <a:extLst>
                  <a:ext uri="{0D108BD9-81ED-4DB2-BD59-A6C34878D82A}">
                    <a16:rowId xmlns:a16="http://schemas.microsoft.com/office/drawing/2014/main" val="10001"/>
                  </a:ext>
                </a:extLst>
              </a:tr>
              <a:tr h="566928">
                <a:tc>
                  <a:txBody>
                    <a:bodyPr/>
                    <a:lstStyle/>
                    <a:p>
                      <a:r>
                        <a:rPr sz="1500"/>
                        <a:t>2</a:t>
                      </a:r>
                    </a:p>
                  </a:txBody>
                  <a:tcPr marT="36576" marB="36576" anchor="ctr"/>
                </a:tc>
                <a:tc>
                  <a:txBody>
                    <a:bodyPr/>
                    <a:lstStyle/>
                    <a:p>
                      <a:r>
                        <a:rPr sz="1500"/>
                        <a:t>Alltid .value. Skapa ref i setup(), aldrig i builder</a:t>
                      </a:r>
                    </a:p>
                  </a:txBody>
                  <a:tcPr marT="36576" marB="36576" anchor="ctr"/>
                </a:tc>
                <a:tc>
                  <a:txBody>
                    <a:bodyPr/>
                    <a:lstStyle/>
                    <a:p>
                      <a:r>
                        <a:rPr sz="1500"/>
                        <a:t>Builder körs många gånger – en ref där börjar om</a:t>
                      </a:r>
                    </a:p>
                  </a:txBody>
                  <a:tcPr marT="36576" marB="36576" anchor="ctr"/>
                </a:tc>
                <a:extLst>
                  <a:ext uri="{0D108BD9-81ED-4DB2-BD59-A6C34878D82A}">
                    <a16:rowId xmlns:a16="http://schemas.microsoft.com/office/drawing/2014/main" val="10002"/>
                  </a:ext>
                </a:extLst>
              </a:tr>
              <a:tr h="566928">
                <a:tc>
                  <a:txBody>
                    <a:bodyPr/>
                    <a:lstStyle/>
                    <a:p>
                      <a:r>
                        <a:rPr sz="1500"/>
                        <a:t>3</a:t>
                      </a:r>
                    </a:p>
                  </a:txBody>
                  <a:tcPr marT="36576" marB="36576" anchor="ctr"/>
                </a:tc>
                <a:tc>
                  <a:txBody>
                    <a:bodyPr/>
                    <a:lstStyle/>
                    <a:p>
                      <a:r>
                        <a:rPr sz="1500"/>
                        <a:t>Ersätt listor, ändra dem inte</a:t>
                      </a:r>
                    </a:p>
                  </a:txBody>
                  <a:tcPr marT="36576" marB="36576" anchor="ctr"/>
                </a:tc>
                <a:tc>
                  <a:txBody>
                    <a:bodyPr/>
                    <a:lstStyle/>
                    <a:p>
                      <a:r>
                        <a:rPr sz="1500"/>
                        <a:t>posts.value.add(x) märks inte</a:t>
                      </a:r>
                    </a:p>
                  </a:txBody>
                  <a:tcPr marT="36576" marB="36576" anchor="ctr"/>
                </a:tc>
                <a:extLst>
                  <a:ext uri="{0D108BD9-81ED-4DB2-BD59-A6C34878D82A}">
                    <a16:rowId xmlns:a16="http://schemas.microsoft.com/office/drawing/2014/main" val="10003"/>
                  </a:ext>
                </a:extLst>
              </a:tr>
              <a:tr h="566928">
                <a:tc>
                  <a:txBody>
                    <a:bodyPr/>
                    <a:lstStyle/>
                    <a:p>
                      <a:r>
                        <a:rPr sz="1500"/>
                        <a:t>4</a:t>
                      </a:r>
                    </a:p>
                  </a:txBody>
                  <a:tcPr marT="36576" marB="36576" anchor="ctr"/>
                </a:tc>
                <a:tc>
                  <a:txBody>
                    <a:bodyPr/>
                    <a:lstStyle/>
                    <a:p>
                      <a:r>
                        <a:rPr sz="1500"/>
                        <a:t>ref, computed, watch, onMounted, use…, inject direkt i setup()</a:t>
                      </a:r>
                    </a:p>
                  </a:txBody>
                  <a:tcPr marT="36576" marB="36576" anchor="ctr"/>
                </a:tc>
                <a:tc>
                  <a:txBody>
                    <a:bodyPr/>
                    <a:lstStyle/>
                    <a:p>
                      <a:r>
                        <a:rPr sz="1500"/>
                        <a:t>Inte i if, knappar eller inuti onMounted</a:t>
                      </a:r>
                    </a:p>
                  </a:txBody>
                  <a:tcPr marT="36576" marB="36576" anchor="ctr"/>
                </a:tc>
                <a:extLst>
                  <a:ext uri="{0D108BD9-81ED-4DB2-BD59-A6C34878D82A}">
                    <a16:rowId xmlns:a16="http://schemas.microsoft.com/office/drawing/2014/main" val="10004"/>
                  </a:ext>
                </a:extLst>
              </a:tr>
              <a:tr h="566928">
                <a:tc>
                  <a:txBody>
                    <a:bodyPr/>
                    <a:lstStyle/>
                    <a:p>
                      <a:r>
                        <a:rPr sz="1500"/>
                        <a:t>5</a:t>
                      </a:r>
                    </a:p>
                  </a:txBody>
                  <a:tcPr marT="36576" marB="36576" anchor="ctr"/>
                </a:tc>
                <a:tc>
                  <a:txBody>
                    <a:bodyPr/>
                    <a:lstStyle/>
                    <a:p>
                      <a:r>
                        <a:rPr sz="1500"/>
                        <a:t>Props via widget(), temat via useTheme()</a:t>
                      </a:r>
                    </a:p>
                  </a:txBody>
                  <a:tcPr marT="36576" marB="36576" anchor="ctr"/>
                </a:tc>
                <a:tc>
                  <a:txBody>
                    <a:bodyPr/>
                    <a:lstStyle/>
                    <a:p>
                      <a:r>
                        <a:rPr sz="1500"/>
                        <a:t>Annars ser du bara första värdet</a:t>
                      </a:r>
                    </a:p>
                  </a:txBody>
                  <a:tcPr marT="36576" marB="36576"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introduktion</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1.1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Kör LikeButton i en egen app.</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1.2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En FollowButton med en computed etikett: ”Följ” / ”Följer”.</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1.3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Lägg debugPrint i builder-funktionen. När körs den igen?</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1.4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Hitta tre fel: en ref i builder, en saknad .value och list.add.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 och computed</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ref: läs och ändra med .value</a:t>
            </a:r>
          </a:p>
          <a:p>
            <a:pPr marL="365760" indent="-274320">
              <a:spcAft>
                <a:spcPts val="800"/>
              </a:spcAft>
              <a:buChar char="•"/>
            </a:pPr>
            <a:r>
              <a:rPr sz="2000"/>
              <a:t>Skriv typen när startvärdet är null</a:t>
            </a:r>
          </a:p>
          <a:p>
            <a:pPr marL="365760" indent="-274320">
              <a:spcAft>
                <a:spcPts val="800"/>
              </a:spcAft>
              <a:buChar char="•"/>
            </a:pPr>
            <a:r>
              <a:rPr sz="2000"/>
              <a:t>Samma värde igen → inget händer</a:t>
            </a:r>
          </a:p>
          <a:p>
            <a:pPr marL="365760" indent="-274320">
              <a:spcAft>
                <a:spcPts val="800"/>
              </a:spcAft>
              <a:buChar char="•"/>
            </a:pPr>
            <a:r>
              <a:rPr sz="2000"/>
              <a:t>computed räknas om när det den läser ändras</a:t>
            </a:r>
          </a:p>
          <a:p>
            <a:pPr marL="365760" indent="-274320">
              <a:spcAft>
                <a:spcPts val="800"/>
              </a:spcAft>
              <a:buChar char="•"/>
            </a:pPr>
            <a:r>
              <a:rPr sz="2000"/>
              <a:t>computed sparar resultatet och går inte att ändra</a:t>
            </a:r>
          </a:p>
          <a:p>
            <a:pPr marL="365760" indent="-274320">
              <a:spcAft>
                <a:spcPts val="800"/>
              </a:spcAft>
              <a:buChar char="•"/>
            </a:pPr>
            <a:r>
              <a:rPr sz="2000"/>
              <a:t>Tumregel: ”X räknas fram av Y” → computed</a:t>
            </a:r>
          </a:p>
        </p:txBody>
      </p:sp>
      <p:sp>
        <p:nvSpPr>
          <p:cNvPr id="4" name="Rounded Rectangle 3"/>
          <p:cNvSpPr/>
          <p:nvPr/>
        </p:nvSpPr>
        <p:spPr>
          <a:xfrm>
            <a:off x="5577840" y="1737360"/>
            <a:ext cx="6120079" cy="3888739"/>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Dart</a:t>
            </a:r>
          </a:p>
          <a:p>
            <a:pPr algn="l"/>
            <a:r>
              <a:rPr sz="1400">
                <a:solidFill>
                  <a:srgbClr val="E6E9EF"/>
                </a:solidFill>
                <a:latin typeface="Courier New"/>
              </a:rPr>
              <a:t>final count = ref(0);</a:t>
            </a:r>
          </a:p>
          <a:p>
            <a:pPr algn="l"/>
            <a:r>
              <a:rPr sz="1400">
                <a:solidFill>
                  <a:srgbClr val="E6E9EF"/>
                </a:solidFill>
                <a:latin typeface="Courier New"/>
              </a:rPr>
              <a:t>final selected = ref&lt;String?&gt;(null);</a:t>
            </a:r>
          </a:p>
          <a:p>
            <a:pPr algn="l"/>
            <a:r>
              <a:rPr sz="1400">
                <a:solidFill>
                  <a:srgbClr val="E6E9EF"/>
                </a:solidFill>
                <a:latin typeface="Courier New"/>
              </a:rPr>
              <a:t>count.value++;</a:t>
            </a:r>
          </a:p>
          <a:p>
            <a:pPr algn="l"/>
            <a:r>
              <a:rPr sz="1400">
                <a:solidFill>
                  <a:srgbClr val="E6E9EF"/>
                </a:solidFill>
                <a:latin typeface="Courier New"/>
              </a:rPr>
              <a:t> </a:t>
            </a:r>
          </a:p>
          <a:p>
            <a:pPr algn="l"/>
            <a:r>
              <a:rPr sz="1400">
                <a:solidFill>
                  <a:srgbClr val="E6E9EF"/>
                </a:solidFill>
                <a:latin typeface="Courier New"/>
              </a:rPr>
              <a:t>final first = ref('Anna');</a:t>
            </a:r>
          </a:p>
          <a:p>
            <a:pPr algn="l"/>
            <a:r>
              <a:rPr sz="1400">
                <a:solidFill>
                  <a:srgbClr val="E6E9EF"/>
                </a:solidFill>
                <a:latin typeface="Courier New"/>
              </a:rPr>
              <a:t>final last = ref('Andersson');</a:t>
            </a:r>
          </a:p>
          <a:p>
            <a:pPr algn="l"/>
            <a:r>
              <a:rPr sz="1400">
                <a:solidFill>
                  <a:srgbClr val="E6E9EF"/>
                </a:solidFill>
                <a:latin typeface="Courier New"/>
              </a:rPr>
              <a:t>final full = computed(</a:t>
            </a:r>
          </a:p>
          <a:p>
            <a:pPr algn="l"/>
            <a:r>
              <a:rPr sz="1400">
                <a:solidFill>
                  <a:srgbClr val="E6E9EF"/>
                </a:solidFill>
                <a:latin typeface="Courier New"/>
              </a:rPr>
              <a:t>    () =&gt; '${first.value} ${last.value}');</a:t>
            </a:r>
          </a:p>
          <a:p>
            <a:pPr algn="l"/>
            <a:r>
              <a:rPr sz="1400">
                <a:solidFill>
                  <a:srgbClr val="E6E9EF"/>
                </a:solidFill>
                <a:latin typeface="Courier New"/>
              </a:rPr>
              <a:t> </a:t>
            </a:r>
          </a:p>
          <a:p>
            <a:pPr algn="l"/>
            <a:r>
              <a:rPr sz="1400">
                <a:solidFill>
                  <a:srgbClr val="E6E9EF"/>
                </a:solidFill>
                <a:latin typeface="Courier New"/>
              </a:rPr>
              <a:t>first.value = 'Bertil';</a:t>
            </a:r>
          </a:p>
          <a:p>
            <a:pPr algn="l"/>
            <a:r>
              <a:rPr sz="1400">
                <a:solidFill>
                  <a:srgbClr val="E6E9EF"/>
                </a:solidFill>
                <a:latin typeface="Courier New"/>
              </a:rPr>
              <a:t>print(full.value); // Bertil Andersson</a:t>
            </a:r>
          </a:p>
          <a:p>
            <a:pPr algn="l"/>
            <a:r>
              <a:rPr sz="1400">
                <a:solidFill>
                  <a:srgbClr val="E6E9EF"/>
                </a:solidFill>
                <a:latin typeface="Courier New"/>
              </a:rPr>
              <a:t> </a:t>
            </a:r>
          </a:p>
          <a:p>
            <a:pPr algn="l"/>
            <a:r>
              <a:rPr sz="1400">
                <a:solidFill>
                  <a:srgbClr val="8B95A7"/>
                </a:solidFill>
                <a:latin typeface="Courier New"/>
              </a:rPr>
              <a:t>// ⚠️ if (count == 5) är aldrig sant</a:t>
            </a:r>
          </a:p>
          <a:p>
            <a:pPr algn="l"/>
            <a:r>
              <a:rPr sz="1400">
                <a:solidFill>
                  <a:srgbClr val="E6E9EF"/>
                </a:solidFill>
                <a:latin typeface="Courier New"/>
              </a:rPr>
              <a:t>if (count.value == 5) { ...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Listor: ersätt, ändra inte</a:t>
            </a:r>
          </a:p>
        </p:txBody>
      </p:sp>
      <p:sp>
        <p:nvSpPr>
          <p:cNvPr id="3" name="TextBox 2"/>
          <p:cNvSpPr txBox="1"/>
          <p:nvPr/>
        </p:nvSpPr>
        <p:spPr>
          <a:xfrm>
            <a:off x="768096" y="1691640"/>
            <a:ext cx="10655503" cy="548640"/>
          </a:xfrm>
          <a:prstGeom prst="rect">
            <a:avLst/>
          </a:prstGeom>
          <a:noFill/>
        </p:spPr>
        <p:txBody>
          <a:bodyPr wrap="square" lIns="0" tIns="0" rIns="0" bIns="0" anchor="t">
            <a:spAutoFit/>
          </a:bodyPr>
          <a:lstStyle/>
          <a:p>
            <a:pPr algn="l">
              <a:spcAft>
                <a:spcPts val="800"/>
              </a:spcAft>
            </a:pPr>
            <a:r>
              <a:rPr sz="1800" b="0"/>
              <a:t>En ref märker bara när du sätter ett nytt värde med =. posts.value.add(x) uppdaterar inte skärmen.</a:t>
            </a:r>
          </a:p>
        </p:txBody>
      </p:sp>
      <p:graphicFrame>
        <p:nvGraphicFramePr>
          <p:cNvPr id="4" name="Table 3"/>
          <p:cNvGraphicFramePr>
            <a:graphicFrameLocks noGrp="1"/>
          </p:cNvGraphicFramePr>
          <p:nvPr/>
        </p:nvGraphicFramePr>
        <p:xfrm>
          <a:off x="768096" y="2286000"/>
          <a:ext cx="10607040" cy="27432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548640">
                <a:tc>
                  <a:txBody>
                    <a:bodyPr/>
                    <a:lstStyle/>
                    <a:p>
                      <a:r>
                        <a:rPr sz="1600" b="1"/>
                        <a:t>Du vill …</a:t>
                      </a:r>
                    </a:p>
                  </a:txBody>
                  <a:tcPr marT="36576" marB="36576" anchor="ctr"/>
                </a:tc>
                <a:tc>
                  <a:txBody>
                    <a:bodyPr/>
                    <a:lstStyle/>
                    <a:p>
                      <a:r>
                        <a:rPr sz="1600" b="1"/>
                        <a:t>Skriv</a:t>
                      </a:r>
                    </a:p>
                  </a:txBody>
                  <a:tcPr marT="36576" marB="36576" anchor="ctr"/>
                </a:tc>
                <a:extLst>
                  <a:ext uri="{0D108BD9-81ED-4DB2-BD59-A6C34878D82A}">
                    <a16:rowId xmlns:a16="http://schemas.microsoft.com/office/drawing/2014/main" val="10000"/>
                  </a:ext>
                </a:extLst>
              </a:tr>
              <a:tr h="548640">
                <a:tc>
                  <a:txBody>
                    <a:bodyPr/>
                    <a:lstStyle/>
                    <a:p>
                      <a:r>
                        <a:rPr sz="1600"/>
                        <a:t>Lägga till först</a:t>
                      </a:r>
                    </a:p>
                  </a:txBody>
                  <a:tcPr marT="36576" marB="36576" anchor="ctr"/>
                </a:tc>
                <a:tc>
                  <a:txBody>
                    <a:bodyPr/>
                    <a:lstStyle/>
                    <a:p>
                      <a:r>
                        <a:rPr sz="1600">
                          <a:latin typeface="Courier New"/>
                        </a:rPr>
                        <a:t>posts.value = [nytt, ...posts.value];</a:t>
                      </a:r>
                    </a:p>
                  </a:txBody>
                  <a:tcPr marT="36576" marB="36576" anchor="ctr"/>
                </a:tc>
                <a:extLst>
                  <a:ext uri="{0D108BD9-81ED-4DB2-BD59-A6C34878D82A}">
                    <a16:rowId xmlns:a16="http://schemas.microsoft.com/office/drawing/2014/main" val="10001"/>
                  </a:ext>
                </a:extLst>
              </a:tr>
              <a:tr h="548640">
                <a:tc>
                  <a:txBody>
                    <a:bodyPr/>
                    <a:lstStyle/>
                    <a:p>
                      <a:r>
                        <a:rPr sz="1600"/>
                        <a:t>Lägga till sist</a:t>
                      </a:r>
                    </a:p>
                  </a:txBody>
                  <a:tcPr marT="36576" marB="36576" anchor="ctr"/>
                </a:tc>
                <a:tc>
                  <a:txBody>
                    <a:bodyPr/>
                    <a:lstStyle/>
                    <a:p>
                      <a:r>
                        <a:rPr sz="1600">
                          <a:latin typeface="Courier New"/>
                        </a:rPr>
                        <a:t>posts.value = [...posts.value, nytt];</a:t>
                      </a:r>
                    </a:p>
                  </a:txBody>
                  <a:tcPr marT="36576" marB="36576" anchor="ctr"/>
                </a:tc>
                <a:extLst>
                  <a:ext uri="{0D108BD9-81ED-4DB2-BD59-A6C34878D82A}">
                    <a16:rowId xmlns:a16="http://schemas.microsoft.com/office/drawing/2014/main" val="10002"/>
                  </a:ext>
                </a:extLst>
              </a:tr>
              <a:tr h="548640">
                <a:tc>
                  <a:txBody>
                    <a:bodyPr/>
                    <a:lstStyle/>
                    <a:p>
                      <a:r>
                        <a:rPr sz="1600"/>
                        <a:t>Ta bort</a:t>
                      </a:r>
                    </a:p>
                  </a:txBody>
                  <a:tcPr marT="36576" marB="36576" anchor="ctr"/>
                </a:tc>
                <a:tc>
                  <a:txBody>
                    <a:bodyPr/>
                    <a:lstStyle/>
                    <a:p>
                      <a:r>
                        <a:rPr sz="1600">
                          <a:latin typeface="Courier New"/>
                        </a:rPr>
                        <a:t>posts.value = posts.value.where((p) =&gt; p.id != id).toList();</a:t>
                      </a:r>
                    </a:p>
                  </a:txBody>
                  <a:tcPr marT="36576" marB="36576" anchor="ctr"/>
                </a:tc>
                <a:extLst>
                  <a:ext uri="{0D108BD9-81ED-4DB2-BD59-A6C34878D82A}">
                    <a16:rowId xmlns:a16="http://schemas.microsoft.com/office/drawing/2014/main" val="10003"/>
                  </a:ext>
                </a:extLst>
              </a:tr>
              <a:tr h="548640">
                <a:tc>
                  <a:txBody>
                    <a:bodyPr/>
                    <a:lstStyle/>
                    <a:p>
                      <a:r>
                        <a:rPr sz="1600"/>
                        <a:t>Sortera</a:t>
                      </a:r>
                    </a:p>
                  </a:txBody>
                  <a:tcPr marT="36576" marB="36576" anchor="ctr"/>
                </a:tc>
                <a:tc>
                  <a:txBody>
                    <a:bodyPr/>
                    <a:lstStyle/>
                    <a:p>
                      <a:r>
                        <a:rPr sz="1600">
                          <a:latin typeface="Courier New"/>
                        </a:rPr>
                        <a:t>posts.value = [...posts.value]..sort(...);</a:t>
                      </a:r>
                    </a:p>
                  </a:txBody>
                  <a:tcPr marT="36576" marB="36576" anchor="ctr"/>
                </a:tc>
                <a:extLst>
                  <a:ext uri="{0D108BD9-81ED-4DB2-BD59-A6C34878D82A}">
                    <a16:rowId xmlns:a16="http://schemas.microsoft.com/office/drawing/2014/main" val="10004"/>
                  </a:ext>
                </a:extLst>
              </a:tr>
            </a:tbl>
          </a:graphicData>
        </a:graphic>
      </p:graphicFrame>
      <p:sp>
        <p:nvSpPr>
          <p:cNvPr id="5" name="TextBox 4"/>
          <p:cNvSpPr txBox="1"/>
          <p:nvPr/>
        </p:nvSpPr>
        <p:spPr>
          <a:xfrm>
            <a:off x="768096" y="5257800"/>
            <a:ext cx="10655503" cy="731520"/>
          </a:xfrm>
          <a:prstGeom prst="rect">
            <a:avLst/>
          </a:prstGeom>
          <a:noFill/>
        </p:spPr>
        <p:txBody>
          <a:bodyPr wrap="square" lIns="0" tIns="0" rIns="0" bIns="0" anchor="t">
            <a:spAutoFit/>
          </a:bodyPr>
          <a:lstStyle/>
          <a:p>
            <a:pPr algn="l">
              <a:spcAft>
                <a:spcPts val="800"/>
              </a:spcAft>
            </a:pPr>
            <a:r>
              <a:rPr sz="1600" b="0">
                <a:solidFill>
                  <a:srgbClr val="595959"/>
                </a:solidFill>
              </a:rPr>
              <a:t>Räkna i computed, inte i builder-funktionen: filtrering och sökning hör hemma i setup().</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ref och computed</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2.1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En computed totalLikes som summerar alla inläggs likes.</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2.2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Sortering ”Mest gillade först” (kopiera listan först).</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2.3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Testa removeAt jämfört med att ersätta listan. Vad händer?</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2.4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Följ/sluta följ som ändrar vad filtret ”Följer” visar.</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watch och watchEffect</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watch: bevaka ett värde, få nytt och gammalt</a:t>
            </a:r>
          </a:p>
          <a:p>
            <a:pPr marL="365760" indent="-274320">
              <a:spcAft>
                <a:spcPts val="800"/>
              </a:spcAft>
              <a:buChar char="•"/>
            </a:pPr>
            <a:r>
              <a:rPr sz="2000"/>
              <a:t>Körs bara när värdet ändras (immediate: true = direkt också)</a:t>
            </a:r>
          </a:p>
          <a:p>
            <a:pPr marL="365760" indent="-274320">
              <a:spcAft>
                <a:spcPts val="800"/>
              </a:spcAft>
              <a:buChar char="•"/>
            </a:pPr>
            <a:r>
              <a:rPr sz="2000"/>
              <a:t>Flera värden: returnera en record (a, b)</a:t>
            </a:r>
          </a:p>
          <a:p>
            <a:pPr marL="365760" indent="-274320">
              <a:spcAft>
                <a:spcPts val="800"/>
              </a:spcAft>
              <a:buChar char="•"/>
            </a:pPr>
            <a:r>
              <a:rPr sz="2000"/>
              <a:t>watchEffect körs direkt och bevakar allt den läser</a:t>
            </a:r>
          </a:p>
          <a:p>
            <a:pPr marL="365760" indent="-274320">
              <a:spcAft>
                <a:spcPts val="800"/>
              </a:spcAft>
              <a:buChar char="•"/>
            </a:pPr>
            <a:r>
              <a:rPr sz="2000"/>
              <a:t>Båda körs direkt vid varje ändring</a:t>
            </a:r>
          </a:p>
        </p:txBody>
      </p:sp>
      <p:sp>
        <p:nvSpPr>
          <p:cNvPr id="4" name="Rounded Rectangle 3"/>
          <p:cNvSpPr/>
          <p:nvPr/>
        </p:nvSpPr>
        <p:spPr>
          <a:xfrm>
            <a:off x="5577840" y="1737360"/>
            <a:ext cx="6120079" cy="34442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Dart</a:t>
            </a:r>
          </a:p>
          <a:p>
            <a:pPr algn="l"/>
            <a:r>
              <a:rPr sz="1400">
                <a:solidFill>
                  <a:srgbClr val="E6E9EF"/>
                </a:solidFill>
                <a:latin typeface="Courier New"/>
              </a:rPr>
              <a:t>final likes = ref(0);</a:t>
            </a:r>
          </a:p>
          <a:p>
            <a:pPr algn="l"/>
            <a:r>
              <a:rPr sz="1400">
                <a:solidFill>
                  <a:srgbClr val="E6E9EF"/>
                </a:solidFill>
                <a:latin typeface="Courier New"/>
              </a:rPr>
              <a:t> </a:t>
            </a:r>
          </a:p>
          <a:p>
            <a:pPr algn="l"/>
            <a:r>
              <a:rPr sz="1400">
                <a:solidFill>
                  <a:srgbClr val="E6E9EF"/>
                </a:solidFill>
                <a:latin typeface="Courier New"/>
              </a:rPr>
              <a:t>watch(() =&gt; likes.value, (nytt, gammalt) {</a:t>
            </a:r>
          </a:p>
          <a:p>
            <a:pPr algn="l"/>
            <a:r>
              <a:rPr sz="1400">
                <a:solidFill>
                  <a:srgbClr val="E6E9EF"/>
                </a:solidFill>
                <a:latin typeface="Courier New"/>
              </a:rPr>
              <a:t>  debugPrint('$gammalt → $nytt');</a:t>
            </a:r>
          </a:p>
          <a:p>
            <a:pPr algn="l"/>
            <a:r>
              <a:rPr sz="1400">
                <a:solidFill>
                  <a:srgbClr val="E6E9EF"/>
                </a:solidFill>
                <a:latin typeface="Courier New"/>
              </a:rPr>
              <a:t>});</a:t>
            </a:r>
          </a:p>
          <a:p>
            <a:pPr algn="l"/>
            <a:r>
              <a:rPr sz="1400">
                <a:solidFill>
                  <a:srgbClr val="E6E9EF"/>
                </a:solidFill>
                <a:latin typeface="Courier New"/>
              </a:rPr>
              <a:t> </a:t>
            </a:r>
          </a:p>
          <a:p>
            <a:pPr algn="l"/>
            <a:r>
              <a:rPr sz="1400">
                <a:solidFill>
                  <a:srgbClr val="E6E9EF"/>
                </a:solidFill>
                <a:latin typeface="Courier New"/>
              </a:rPr>
              <a:t>watch(() =&gt; (filter.value, search.value),</a:t>
            </a:r>
          </a:p>
          <a:p>
            <a:pPr algn="l"/>
            <a:r>
              <a:rPr sz="1400">
                <a:solidFill>
                  <a:srgbClr val="E6E9EF"/>
                </a:solidFill>
                <a:latin typeface="Courier New"/>
              </a:rPr>
              <a:t>    (nytt, _) =&gt; debugPrint('${nytt.$1}'));</a:t>
            </a:r>
          </a:p>
          <a:p>
            <a:pPr algn="l"/>
            <a:r>
              <a:rPr sz="1400">
                <a:solidFill>
                  <a:srgbClr val="E6E9EF"/>
                </a:solidFill>
                <a:latin typeface="Courier New"/>
              </a:rPr>
              <a:t> </a:t>
            </a:r>
          </a:p>
          <a:p>
            <a:pPr algn="l"/>
            <a:r>
              <a:rPr sz="1400">
                <a:solidFill>
                  <a:srgbClr val="E6E9EF"/>
                </a:solidFill>
                <a:latin typeface="Courier New"/>
              </a:rPr>
              <a:t>watchEffect(() {</a:t>
            </a:r>
          </a:p>
          <a:p>
            <a:pPr algn="l"/>
            <a:r>
              <a:rPr sz="1400">
                <a:solidFill>
                  <a:srgbClr val="E6E9EF"/>
                </a:solidFill>
                <a:latin typeface="Courier New"/>
              </a:rPr>
              <a:t>  debugPrint('likes är nu ${likes.value}');</a:t>
            </a:r>
          </a:p>
          <a:p>
            <a:pPr algn="l"/>
            <a:r>
              <a:rPr sz="1400">
                <a:solidFill>
                  <a:srgbClr val="E6E9EF"/>
                </a:solidFill>
                <a:latin typeface="Courier New"/>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onMounted och onUnmounted</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onMounted: när widgeten har visats</a:t>
            </a:r>
          </a:p>
          <a:p>
            <a:pPr marL="365760" indent="-274320">
              <a:spcAft>
                <a:spcPts val="800"/>
              </a:spcAft>
              <a:buChar char="•"/>
            </a:pPr>
            <a:r>
              <a:rPr sz="2000"/>
              <a:t>onUnmounted: när den tas bort – städa här</a:t>
            </a:r>
          </a:p>
          <a:p>
            <a:pPr marL="365760" indent="-274320">
              <a:spcAft>
                <a:spcPts val="800"/>
              </a:spcAft>
              <a:buChar char="•"/>
            </a:pPr>
            <a:r>
              <a:rPr sz="2000"/>
              <a:t>En Timer stoppas inte av sig själv</a:t>
            </a:r>
          </a:p>
          <a:p>
            <a:pPr marL="365760" indent="-274320">
              <a:spcAft>
                <a:spcPts val="800"/>
              </a:spcAft>
              <a:buChar char="•"/>
            </a:pPr>
            <a:r>
              <a:rPr sz="2000"/>
              <a:t>Registrera båda direkt i setup()</a:t>
            </a:r>
          </a:p>
          <a:p>
            <a:pPr marL="365760" indent="-274320">
              <a:spcAft>
                <a:spcPts val="800"/>
              </a:spcAft>
              <a:buChar char="•"/>
            </a:pPr>
            <a:r>
              <a:rPr sz="2000"/>
              <a:t>Aldrig onUnmounted inuti onMounted!</a:t>
            </a:r>
          </a:p>
          <a:p>
            <a:pPr marL="365760" indent="-274320">
              <a:spcAft>
                <a:spcPts val="800"/>
              </a:spcAft>
              <a:buChar char="•"/>
            </a:pPr>
            <a:r>
              <a:rPr sz="2000"/>
              <a:t>onMounted får vara async</a:t>
            </a:r>
          </a:p>
        </p:txBody>
      </p:sp>
      <p:sp>
        <p:nvSpPr>
          <p:cNvPr id="4" name="Rounded Rectangle 3"/>
          <p:cNvSpPr/>
          <p:nvPr/>
        </p:nvSpPr>
        <p:spPr>
          <a:xfrm>
            <a:off x="5577840" y="1737360"/>
            <a:ext cx="6120079" cy="411099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ReadingTimer</a:t>
            </a:r>
          </a:p>
          <a:p>
            <a:pPr algn="l"/>
            <a:r>
              <a:rPr sz="1400">
                <a:solidFill>
                  <a:srgbClr val="E6E9EF"/>
                </a:solidFill>
                <a:latin typeface="Courier New"/>
              </a:rPr>
              <a:t>final seconds = ref(0);</a:t>
            </a:r>
          </a:p>
          <a:p>
            <a:pPr algn="l"/>
            <a:r>
              <a:rPr sz="1400">
                <a:solidFill>
                  <a:srgbClr val="E6E9EF"/>
                </a:solidFill>
                <a:latin typeface="Courier New"/>
              </a:rPr>
              <a:t>Timer? timer;</a:t>
            </a:r>
          </a:p>
          <a:p>
            <a:pPr algn="l"/>
            <a:r>
              <a:rPr sz="1400">
                <a:solidFill>
                  <a:srgbClr val="E6E9EF"/>
                </a:solidFill>
                <a:latin typeface="Courier New"/>
              </a:rPr>
              <a:t> </a:t>
            </a:r>
          </a:p>
          <a:p>
            <a:pPr algn="l"/>
            <a:r>
              <a:rPr sz="1400">
                <a:solidFill>
                  <a:srgbClr val="E6E9EF"/>
                </a:solidFill>
                <a:latin typeface="Courier New"/>
              </a:rPr>
              <a:t>onMounted(() {</a:t>
            </a:r>
          </a:p>
          <a:p>
            <a:pPr algn="l"/>
            <a:r>
              <a:rPr sz="1400">
                <a:solidFill>
                  <a:srgbClr val="E6E9EF"/>
                </a:solidFill>
                <a:latin typeface="Courier New"/>
              </a:rPr>
              <a:t>  timer = Timer.periodic(</a:t>
            </a:r>
          </a:p>
          <a:p>
            <a:pPr algn="l"/>
            <a:r>
              <a:rPr sz="1400">
                <a:solidFill>
                  <a:srgbClr val="E6E9EF"/>
                </a:solidFill>
                <a:latin typeface="Courier New"/>
              </a:rPr>
              <a:t>    const Duration(seconds: 1),</a:t>
            </a:r>
          </a:p>
          <a:p>
            <a:pPr algn="l"/>
            <a:r>
              <a:rPr sz="1400">
                <a:solidFill>
                  <a:srgbClr val="E6E9EF"/>
                </a:solidFill>
                <a:latin typeface="Courier New"/>
              </a:rPr>
              <a:t>    (_) =&gt; seconds.value++,</a:t>
            </a:r>
          </a:p>
          <a:p>
            <a:pPr algn="l"/>
            <a:r>
              <a:rPr sz="1400">
                <a:solidFill>
                  <a:srgbClr val="E6E9EF"/>
                </a:solidFill>
                <a:latin typeface="Courier New"/>
              </a:rPr>
              <a:t>  );</a:t>
            </a:r>
          </a:p>
          <a:p>
            <a:pPr algn="l"/>
            <a:r>
              <a:rPr sz="1400">
                <a:solidFill>
                  <a:srgbClr val="E6E9EF"/>
                </a:solidFill>
                <a:latin typeface="Courier New"/>
              </a:rPr>
              <a:t>});</a:t>
            </a:r>
          </a:p>
          <a:p>
            <a:pPr algn="l"/>
            <a:r>
              <a:rPr sz="1400">
                <a:solidFill>
                  <a:srgbClr val="E6E9EF"/>
                </a:solidFill>
                <a:latin typeface="Courier New"/>
              </a:rPr>
              <a:t> </a:t>
            </a:r>
          </a:p>
          <a:p>
            <a:pPr algn="l"/>
            <a:r>
              <a:rPr sz="1400">
                <a:solidFill>
                  <a:srgbClr val="E6E9EF"/>
                </a:solidFill>
                <a:latin typeface="Courier New"/>
              </a:rPr>
              <a:t>onUnmounted(() =&gt; timer?.cancel());</a:t>
            </a:r>
          </a:p>
          <a:p>
            <a:pPr algn="l"/>
            <a:r>
              <a:rPr sz="1400">
                <a:solidFill>
                  <a:srgbClr val="E6E9EF"/>
                </a:solidFill>
                <a:latin typeface="Courier New"/>
              </a:rPr>
              <a:t> </a:t>
            </a:r>
          </a:p>
          <a:p>
            <a:pPr algn="l"/>
            <a:r>
              <a:rPr sz="1400">
                <a:solidFill>
                  <a:srgbClr val="E6E9EF"/>
                </a:solidFill>
                <a:latin typeface="Courier New"/>
              </a:rPr>
              <a:t>final label = computed(</a:t>
            </a:r>
          </a:p>
          <a:p>
            <a:pPr algn="l"/>
            <a:r>
              <a:rPr sz="1400">
                <a:solidFill>
                  <a:srgbClr val="E6E9EF"/>
                </a:solidFill>
                <a:latin typeface="Courier New"/>
              </a:rPr>
              <a:t>    () =&gt; 'Du har läst i ${seconds.value} s');</a:t>
            </a:r>
          </a:p>
          <a:p>
            <a:pPr algn="l"/>
            <a:r>
              <a:rPr sz="1400">
                <a:solidFill>
                  <a:srgbClr val="E6E9EF"/>
                </a:solidFill>
                <a:latin typeface="Courier New"/>
              </a:rPr>
              <a:t>return (context) =&gt; Text(label.value);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När använder jag vad?</a:t>
            </a:r>
          </a:p>
        </p:txBody>
      </p:sp>
      <p:graphicFrame>
        <p:nvGraphicFramePr>
          <p:cNvPr id="3" name="Table 2"/>
          <p:cNvGraphicFramePr>
            <a:graphicFrameLocks noGrp="1"/>
          </p:cNvGraphicFramePr>
          <p:nvPr/>
        </p:nvGraphicFramePr>
        <p:xfrm>
          <a:off x="768096" y="1691640"/>
          <a:ext cx="10607040" cy="3291840"/>
        </p:xfrm>
        <a:graphic>
          <a:graphicData uri="http://schemas.openxmlformats.org/drawingml/2006/table">
            <a:tbl>
              <a:tblPr firstRow="1" bandRow="1">
                <a:tableStyleId>{5C22544A-7EE6-4342-B048-85BDC9FD1C3A}</a:tableStyleId>
              </a:tblPr>
              <a:tblGrid>
                <a:gridCol w="71323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548640">
                <a:tc>
                  <a:txBody>
                    <a:bodyPr/>
                    <a:lstStyle/>
                    <a:p>
                      <a:r>
                        <a:rPr sz="1700" b="1"/>
                        <a:t>Du vill …</a:t>
                      </a:r>
                    </a:p>
                  </a:txBody>
                  <a:tcPr marT="36576" marB="36576" anchor="ctr"/>
                </a:tc>
                <a:tc>
                  <a:txBody>
                    <a:bodyPr/>
                    <a:lstStyle/>
                    <a:p>
                      <a:r>
                        <a:rPr sz="1700" b="1"/>
                        <a:t>Använd</a:t>
                      </a:r>
                    </a:p>
                  </a:txBody>
                  <a:tcPr marT="36576" marB="36576" anchor="ctr"/>
                </a:tc>
                <a:extLst>
                  <a:ext uri="{0D108BD9-81ED-4DB2-BD59-A6C34878D82A}">
                    <a16:rowId xmlns:a16="http://schemas.microsoft.com/office/drawing/2014/main" val="10000"/>
                  </a:ext>
                </a:extLst>
              </a:tr>
              <a:tr h="548640">
                <a:tc>
                  <a:txBody>
                    <a:bodyPr/>
                    <a:lstStyle/>
                    <a:p>
                      <a:r>
                        <a:rPr sz="1700"/>
                        <a:t>Räkna fram ett värde av andra värden</a:t>
                      </a:r>
                    </a:p>
                  </a:txBody>
                  <a:tcPr marT="36576" marB="36576" anchor="ctr"/>
                </a:tc>
                <a:tc>
                  <a:txBody>
                    <a:bodyPr/>
                    <a:lstStyle/>
                    <a:p>
                      <a:r>
                        <a:rPr sz="1700">
                          <a:latin typeface="Courier New"/>
                        </a:rPr>
                        <a:t>computed</a:t>
                      </a:r>
                    </a:p>
                  </a:txBody>
                  <a:tcPr marT="36576" marB="36576" anchor="ctr"/>
                </a:tc>
                <a:extLst>
                  <a:ext uri="{0D108BD9-81ED-4DB2-BD59-A6C34878D82A}">
                    <a16:rowId xmlns:a16="http://schemas.microsoft.com/office/drawing/2014/main" val="10001"/>
                  </a:ext>
                </a:extLst>
              </a:tr>
              <a:tr h="548640">
                <a:tc>
                  <a:txBody>
                    <a:bodyPr/>
                    <a:lstStyle/>
                    <a:p>
                      <a:r>
                        <a:rPr sz="1700"/>
                        <a:t>Göra något när ett visst värde ändras</a:t>
                      </a:r>
                    </a:p>
                  </a:txBody>
                  <a:tcPr marT="36576" marB="36576" anchor="ctr"/>
                </a:tc>
                <a:tc>
                  <a:txBody>
                    <a:bodyPr/>
                    <a:lstStyle/>
                    <a:p>
                      <a:r>
                        <a:rPr sz="1700">
                          <a:latin typeface="Courier New"/>
                        </a:rPr>
                        <a:t>watch</a:t>
                      </a:r>
                    </a:p>
                  </a:txBody>
                  <a:tcPr marT="36576" marB="36576" anchor="ctr"/>
                </a:tc>
                <a:extLst>
                  <a:ext uri="{0D108BD9-81ED-4DB2-BD59-A6C34878D82A}">
                    <a16:rowId xmlns:a16="http://schemas.microsoft.com/office/drawing/2014/main" val="10002"/>
                  </a:ext>
                </a:extLst>
              </a:tr>
              <a:tr h="548640">
                <a:tc>
                  <a:txBody>
                    <a:bodyPr/>
                    <a:lstStyle/>
                    <a:p>
                      <a:r>
                        <a:rPr sz="1700"/>
                        <a:t>Göra något med allt du läser, direkt och vid ändring</a:t>
                      </a:r>
                    </a:p>
                  </a:txBody>
                  <a:tcPr marT="36576" marB="36576" anchor="ctr"/>
                </a:tc>
                <a:tc>
                  <a:txBody>
                    <a:bodyPr/>
                    <a:lstStyle/>
                    <a:p>
                      <a:r>
                        <a:rPr sz="1700">
                          <a:latin typeface="Courier New"/>
                        </a:rPr>
                        <a:t>watchEffect</a:t>
                      </a:r>
                    </a:p>
                  </a:txBody>
                  <a:tcPr marT="36576" marB="36576" anchor="ctr"/>
                </a:tc>
                <a:extLst>
                  <a:ext uri="{0D108BD9-81ED-4DB2-BD59-A6C34878D82A}">
                    <a16:rowId xmlns:a16="http://schemas.microsoft.com/office/drawing/2014/main" val="10003"/>
                  </a:ext>
                </a:extLst>
              </a:tr>
              <a:tr h="548640">
                <a:tc>
                  <a:txBody>
                    <a:bodyPr/>
                    <a:lstStyle/>
                    <a:p>
                      <a:r>
                        <a:rPr sz="1700"/>
                        <a:t>Starta något när widgeten visas (timer, hämtning)</a:t>
                      </a:r>
                    </a:p>
                  </a:txBody>
                  <a:tcPr marT="36576" marB="36576" anchor="ctr"/>
                </a:tc>
                <a:tc>
                  <a:txBody>
                    <a:bodyPr/>
                    <a:lstStyle/>
                    <a:p>
                      <a:r>
                        <a:rPr sz="1700">
                          <a:latin typeface="Courier New"/>
                        </a:rPr>
                        <a:t>onMounted</a:t>
                      </a:r>
                    </a:p>
                  </a:txBody>
                  <a:tcPr marT="36576" marB="36576" anchor="ctr"/>
                </a:tc>
                <a:extLst>
                  <a:ext uri="{0D108BD9-81ED-4DB2-BD59-A6C34878D82A}">
                    <a16:rowId xmlns:a16="http://schemas.microsoft.com/office/drawing/2014/main" val="10004"/>
                  </a:ext>
                </a:extLst>
              </a:tr>
              <a:tr h="548640">
                <a:tc>
                  <a:txBody>
                    <a:bodyPr/>
                    <a:lstStyle/>
                    <a:p>
                      <a:r>
                        <a:rPr sz="1700"/>
                        <a:t>Städa när widgeten försvinner</a:t>
                      </a:r>
                    </a:p>
                  </a:txBody>
                  <a:tcPr marT="36576" marB="36576" anchor="ctr"/>
                </a:tc>
                <a:tc>
                  <a:txBody>
                    <a:bodyPr/>
                    <a:lstStyle/>
                    <a:p>
                      <a:r>
                        <a:rPr sz="1700">
                          <a:latin typeface="Courier New"/>
                        </a:rPr>
                        <a:t>onUnmounted</a:t>
                      </a:r>
                    </a:p>
                  </a:txBody>
                  <a:tcPr marT="36576" marB="36576"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watch och livscykel</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3.1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En watch som skriver ”ökade” eller ”minskade”.</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3.2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Jämför watch och watchEffect vid start. Vad är oldValue med immediate?</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3.3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ReadingTimer: varför börjar den om på 0 när den visas igen?</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3.4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Ta bort onUnmounted. Vad händer med timern?</a:t>
            </a:r>
          </a:p>
        </p:txBody>
      </p:sp>
      <p:sp>
        <p:nvSpPr>
          <p:cNvPr id="12" name="TextBox 11"/>
          <p:cNvSpPr txBox="1"/>
          <p:nvPr/>
        </p:nvSpPr>
        <p:spPr>
          <a:xfrm>
            <a:off x="768096" y="480060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3.5</a:t>
            </a:r>
          </a:p>
        </p:txBody>
      </p:sp>
      <p:sp>
        <p:nvSpPr>
          <p:cNvPr id="13" name="TextBox 12"/>
          <p:cNvSpPr txBox="1"/>
          <p:nvPr/>
        </p:nvSpPr>
        <p:spPr>
          <a:xfrm>
            <a:off x="1636776" y="4800600"/>
            <a:ext cx="9786823" cy="777240"/>
          </a:xfrm>
          <a:prstGeom prst="rect">
            <a:avLst/>
          </a:prstGeom>
          <a:noFill/>
        </p:spPr>
        <p:txBody>
          <a:bodyPr wrap="square" lIns="0" tIns="0" rIns="0" bIns="0" anchor="t">
            <a:spAutoFit/>
          </a:bodyPr>
          <a:lstStyle/>
          <a:p>
            <a:pPr algn="l">
              <a:spcAft>
                <a:spcPts val="800"/>
              </a:spcAft>
            </a:pPr>
            <a:r>
              <a:rPr sz="1700" b="0"/>
              <a:t>Välj rätt verktyg för fyra situationer.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med widget()</a:t>
            </a:r>
          </a:p>
        </p:txBody>
      </p:sp>
      <p:sp>
        <p:nvSpPr>
          <p:cNvPr id="3" name="TextBox 2"/>
          <p:cNvSpPr txBox="1"/>
          <p:nvPr/>
        </p:nvSpPr>
        <p:spPr>
          <a:xfrm>
            <a:off x="768096" y="1691640"/>
            <a:ext cx="4078224" cy="4572000"/>
          </a:xfrm>
          <a:prstGeom prst="rect">
            <a:avLst/>
          </a:prstGeom>
          <a:noFill/>
        </p:spPr>
        <p:txBody>
          <a:bodyPr wrap="square" lIns="0" tIns="0" rIns="0" bIns="0">
            <a:spAutoFit/>
          </a:bodyPr>
          <a:lstStyle/>
          <a:p>
            <a:pPr marL="365760" indent="-274320">
              <a:spcAft>
                <a:spcPts val="800"/>
              </a:spcAft>
              <a:buChar char="•"/>
            </a:pPr>
            <a:r>
              <a:rPr sz="2000"/>
              <a:t>setup() körs en gång – fält läses bara en gång</a:t>
            </a:r>
          </a:p>
          <a:p>
            <a:pPr marL="365760" indent="-274320">
              <a:spcAft>
                <a:spcPts val="800"/>
              </a:spcAft>
              <a:buChar char="•"/>
            </a:pPr>
            <a:r>
              <a:rPr sz="2000"/>
              <a:t>widget() ger alltid den senaste versionen</a:t>
            </a:r>
          </a:p>
          <a:p>
            <a:pPr marL="365760" indent="-274320">
              <a:spcAft>
                <a:spcPts val="800"/>
              </a:spcAft>
              <a:buChar char="•"/>
            </a:pPr>
            <a:r>
              <a:rPr sz="2000"/>
              <a:t>Läs props med props.value</a:t>
            </a:r>
          </a:p>
          <a:p>
            <a:pPr marL="365760" indent="-274320">
              <a:spcAft>
                <a:spcPts val="800"/>
              </a:spcAft>
              <a:buChar char="•"/>
            </a:pPr>
            <a:r>
              <a:rPr sz="2000"/>
              <a:t>Plocka ut flera: final PostCard(:title) = props.value</a:t>
            </a:r>
          </a:p>
          <a:p>
            <a:pPr marL="365760" indent="-274320">
              <a:spcAft>
                <a:spcPts val="800"/>
              </a:spcAft>
              <a:buChar char="•"/>
            </a:pPr>
            <a:r>
              <a:rPr sz="2000"/>
              <a:t>Callback-prop (onTap) = som emit i Vue</a:t>
            </a:r>
          </a:p>
          <a:p>
            <a:pPr marL="365760" indent="-274320">
              <a:spcAft>
                <a:spcPts val="800"/>
              </a:spcAft>
              <a:buChar char="•"/>
            </a:pPr>
            <a:r>
              <a:rPr sz="2000"/>
              <a:t>Tema: useTheme(), inte Theme.of(context)</a:t>
            </a:r>
          </a:p>
        </p:txBody>
      </p:sp>
      <p:sp>
        <p:nvSpPr>
          <p:cNvPr id="4" name="Rounded Rectangle 3"/>
          <p:cNvSpPr/>
          <p:nvPr/>
        </p:nvSpPr>
        <p:spPr>
          <a:xfrm>
            <a:off x="5120640" y="1737360"/>
            <a:ext cx="6577279" cy="43967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PostCard</a:t>
            </a:r>
          </a:p>
          <a:p>
            <a:pPr algn="l"/>
            <a:r>
              <a:rPr sz="1200">
                <a:solidFill>
                  <a:srgbClr val="E6E9EF"/>
                </a:solidFill>
                <a:latin typeface="Courier New"/>
              </a:rPr>
              <a:t>class PostCard extends CompositionWidget {</a:t>
            </a:r>
          </a:p>
          <a:p>
            <a:pPr algn="l"/>
            <a:r>
              <a:rPr sz="1200">
                <a:solidFill>
                  <a:srgbClr val="E6E9EF"/>
                </a:solidFill>
                <a:latin typeface="Courier New"/>
              </a:rPr>
              <a:t>  const PostCard({super.key, required this.title,</a:t>
            </a:r>
          </a:p>
          <a:p>
            <a:pPr algn="l"/>
            <a:r>
              <a:rPr sz="1200">
                <a:solidFill>
                  <a:srgbClr val="E6E9EF"/>
                </a:solidFill>
                <a:latin typeface="Courier New"/>
              </a:rPr>
              <a:t>      required this.likeCount, this.onTap});</a:t>
            </a:r>
          </a:p>
          <a:p>
            <a:pPr algn="l"/>
            <a:r>
              <a:rPr sz="1200">
                <a:solidFill>
                  <a:srgbClr val="E6E9EF"/>
                </a:solidFill>
                <a:latin typeface="Courier New"/>
              </a:rPr>
              <a:t>  final String title;</a:t>
            </a:r>
          </a:p>
          <a:p>
            <a:pPr algn="l"/>
            <a:r>
              <a:rPr sz="1200">
                <a:solidFill>
                  <a:srgbClr val="E6E9EF"/>
                </a:solidFill>
                <a:latin typeface="Courier New"/>
              </a:rPr>
              <a:t>  final int likeCount;</a:t>
            </a:r>
          </a:p>
          <a:p>
            <a:pPr algn="l"/>
            <a:r>
              <a:rPr sz="1200">
                <a:solidFill>
                  <a:srgbClr val="E6E9EF"/>
                </a:solidFill>
                <a:latin typeface="Courier New"/>
              </a:rPr>
              <a:t>  final VoidCallback? onTap;</a:t>
            </a:r>
          </a:p>
          <a:p>
            <a:pPr algn="l"/>
            <a:r>
              <a:rPr sz="1200">
                <a:solidFill>
                  <a:srgbClr val="E6E9EF"/>
                </a:solidFill>
                <a:latin typeface="Courier New"/>
              </a:rPr>
              <a:t> </a:t>
            </a:r>
          </a:p>
          <a:p>
            <a:pPr algn="l"/>
            <a:r>
              <a:rPr sz="1200">
                <a:solidFill>
                  <a:srgbClr val="E6E9EF"/>
                </a:solidFill>
                <a:latin typeface="Courier New"/>
              </a:rPr>
              <a:t>  @override</a:t>
            </a:r>
          </a:p>
          <a:p>
            <a:pPr algn="l"/>
            <a:r>
              <a:rPr sz="1200">
                <a:solidFill>
                  <a:srgbClr val="E6E9EF"/>
                </a:solidFill>
                <a:latin typeface="Courier New"/>
              </a:rPr>
              <a:t>  Widget Function(BuildContext) setup() {</a:t>
            </a:r>
          </a:p>
          <a:p>
            <a:pPr algn="l"/>
            <a:r>
              <a:rPr sz="1200">
                <a:solidFill>
                  <a:srgbClr val="E6E9EF"/>
                </a:solidFill>
                <a:latin typeface="Courier New"/>
              </a:rPr>
              <a:t>    final props = widget();</a:t>
            </a:r>
          </a:p>
          <a:p>
            <a:pPr algn="l"/>
            <a:r>
              <a:rPr sz="1200">
                <a:solidFill>
                  <a:srgbClr val="E6E9EF"/>
                </a:solidFill>
                <a:latin typeface="Courier New"/>
              </a:rPr>
              <a:t>    final label = computed(() =&gt;</a:t>
            </a:r>
          </a:p>
          <a:p>
            <a:pPr algn="l"/>
            <a:r>
              <a:rPr sz="1200">
                <a:solidFill>
                  <a:srgbClr val="E6E9EF"/>
                </a:solidFill>
                <a:latin typeface="Courier New"/>
              </a:rPr>
              <a:t>        '${props.value.likeCount} gillningar');</a:t>
            </a:r>
          </a:p>
          <a:p>
            <a:pPr algn="l"/>
            <a:r>
              <a:rPr sz="1200">
                <a:solidFill>
                  <a:srgbClr val="E6E9EF"/>
                </a:solidFill>
                <a:latin typeface="Courier New"/>
              </a:rPr>
              <a:t>    return (context) {</a:t>
            </a:r>
          </a:p>
          <a:p>
            <a:pPr algn="l"/>
            <a:r>
              <a:rPr sz="1200">
                <a:solidFill>
                  <a:srgbClr val="E6E9EF"/>
                </a:solidFill>
                <a:latin typeface="Courier New"/>
              </a:rPr>
              <a:t>      final PostCard(:title, :onTap) = props.value;</a:t>
            </a:r>
          </a:p>
          <a:p>
            <a:pPr algn="l"/>
            <a:r>
              <a:rPr sz="1200">
                <a:solidFill>
                  <a:srgbClr val="E6E9EF"/>
                </a:solidFill>
                <a:latin typeface="Courier New"/>
              </a:rPr>
              <a:t>      return ListTile(title: Text(title),</a:t>
            </a:r>
          </a:p>
          <a:p>
            <a:pPr algn="l"/>
            <a:r>
              <a:rPr sz="1200">
                <a:solidFill>
                  <a:srgbClr val="E6E9EF"/>
                </a:solidFill>
                <a:latin typeface="Courier New"/>
              </a:rPr>
              <a:t>          subtitle: Text(label.value), onTap: onTap);</a:t>
            </a:r>
          </a:p>
          <a:p>
            <a:pPr algn="l"/>
            <a:r>
              <a:rPr sz="1200">
                <a:solidFill>
                  <a:srgbClr val="E6E9EF"/>
                </a:solidFill>
                <a:latin typeface="Courier New"/>
              </a:rPr>
              <a:t>    };</a:t>
            </a:r>
          </a:p>
          <a:p>
            <a:pPr algn="l"/>
            <a:r>
              <a:rPr sz="1200">
                <a:solidFill>
                  <a:srgbClr val="E6E9EF"/>
                </a:solidFill>
                <a:latin typeface="Courier New"/>
              </a:rPr>
              <a:t>  }</a:t>
            </a:r>
          </a:p>
          <a:p>
            <a:pPr algn="l"/>
            <a:r>
              <a:rPr sz="1200">
                <a:solidFill>
                  <a:srgbClr val="E6E9EF"/>
                </a:solidFill>
                <a:latin typeface="Courier New"/>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Textfält med useTextEditingController</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Ger (controller, text, value)</a:t>
            </a:r>
          </a:p>
          <a:p>
            <a:pPr marL="365760" indent="-274320">
              <a:spcAft>
                <a:spcPts val="800"/>
              </a:spcAft>
              <a:buChar char="•"/>
            </a:pPr>
            <a:r>
              <a:rPr sz="2000"/>
              <a:t>text är en ref som följer textfältet</a:t>
            </a:r>
          </a:p>
          <a:p>
            <a:pPr marL="365760" indent="-274320">
              <a:spcAft>
                <a:spcPts val="800"/>
              </a:spcAft>
              <a:buChar char="•"/>
            </a:pPr>
            <a:r>
              <a:rPr sz="2000"/>
              <a:t>text.value = '' tömmer fältet</a:t>
            </a:r>
          </a:p>
          <a:p>
            <a:pPr marL="365760" indent="-274320">
              <a:spcAft>
                <a:spcPts val="800"/>
              </a:spcAft>
              <a:buChar char="•"/>
            </a:pPr>
            <a:r>
              <a:rPr sz="2000"/>
              <a:t>Städar sig själv – ingen dispose</a:t>
            </a:r>
          </a:p>
          <a:p>
            <a:pPr marL="365760" indent="-274320">
              <a:spcAft>
                <a:spcPts val="800"/>
              </a:spcAft>
              <a:buChar char="•"/>
            </a:pPr>
            <a:r>
              <a:rPr sz="2000"/>
              <a:t>Andra controllers: skicka .raw till widgeten</a:t>
            </a:r>
          </a:p>
        </p:txBody>
      </p:sp>
      <p:sp>
        <p:nvSpPr>
          <p:cNvPr id="4" name="Rounded Rectangle 3"/>
          <p:cNvSpPr/>
          <p:nvPr/>
        </p:nvSpPr>
        <p:spPr>
          <a:xfrm>
            <a:off x="5577840" y="1737360"/>
            <a:ext cx="6120079" cy="40792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CommentBox</a:t>
            </a:r>
          </a:p>
          <a:p>
            <a:pPr algn="l"/>
            <a:r>
              <a:rPr sz="1300">
                <a:solidFill>
                  <a:srgbClr val="E6E9EF"/>
                </a:solidFill>
                <a:latin typeface="Courier New"/>
              </a:rPr>
              <a:t>final (controller, text, _) =</a:t>
            </a:r>
          </a:p>
          <a:p>
            <a:pPr algn="l"/>
            <a:r>
              <a:rPr sz="1300">
                <a:solidFill>
                  <a:srgbClr val="E6E9EF"/>
                </a:solidFill>
                <a:latin typeface="Courier New"/>
              </a:rPr>
              <a:t>    useTextEditingController();</a:t>
            </a:r>
          </a:p>
          <a:p>
            <a:pPr algn="l"/>
            <a:r>
              <a:rPr sz="1300">
                <a:solidFill>
                  <a:srgbClr val="E6E9EF"/>
                </a:solidFill>
                <a:latin typeface="Courier New"/>
              </a:rPr>
              <a:t> </a:t>
            </a:r>
          </a:p>
          <a:p>
            <a:pPr algn="l"/>
            <a:r>
              <a:rPr sz="1300">
                <a:solidFill>
                  <a:srgbClr val="E6E9EF"/>
                </a:solidFill>
                <a:latin typeface="Courier New"/>
              </a:rPr>
              <a:t>final remaining = computed(</a:t>
            </a:r>
          </a:p>
          <a:p>
            <a:pPr algn="l"/>
            <a:r>
              <a:rPr sz="1300">
                <a:solidFill>
                  <a:srgbClr val="E6E9EF"/>
                </a:solidFill>
                <a:latin typeface="Courier New"/>
              </a:rPr>
              <a:t>    () =&gt; 280 - text.value.length);</a:t>
            </a:r>
          </a:p>
          <a:p>
            <a:pPr algn="l"/>
            <a:r>
              <a:rPr sz="1300">
                <a:solidFill>
                  <a:srgbClr val="E6E9EF"/>
                </a:solidFill>
                <a:latin typeface="Courier New"/>
              </a:rPr>
              <a:t>final canSend = computed(() =&gt;</a:t>
            </a:r>
          </a:p>
          <a:p>
            <a:pPr algn="l"/>
            <a:r>
              <a:rPr sz="1300">
                <a:solidFill>
                  <a:srgbClr val="E6E9EF"/>
                </a:solidFill>
                <a:latin typeface="Courier New"/>
              </a:rPr>
              <a:t>    text.value.trim().isNotEmpty &amp;&amp;</a:t>
            </a:r>
          </a:p>
          <a:p>
            <a:pPr algn="l"/>
            <a:r>
              <a:rPr sz="1300">
                <a:solidFill>
                  <a:srgbClr val="E6E9EF"/>
                </a:solidFill>
                <a:latin typeface="Courier New"/>
              </a:rPr>
              <a:t>    remaining.value &gt;= 0);</a:t>
            </a:r>
          </a:p>
          <a:p>
            <a:pPr algn="l"/>
            <a:r>
              <a:rPr sz="1300">
                <a:solidFill>
                  <a:srgbClr val="E6E9EF"/>
                </a:solidFill>
                <a:latin typeface="Courier New"/>
              </a:rPr>
              <a:t> </a:t>
            </a:r>
          </a:p>
          <a:p>
            <a:pPr algn="l"/>
            <a:r>
              <a:rPr sz="1300">
                <a:solidFill>
                  <a:srgbClr val="E6E9EF"/>
                </a:solidFill>
                <a:latin typeface="Courier New"/>
              </a:rPr>
              <a:t>return (context) =&gt; Row(children: [</a:t>
            </a:r>
          </a:p>
          <a:p>
            <a:pPr algn="l"/>
            <a:r>
              <a:rPr sz="1300">
                <a:solidFill>
                  <a:srgbClr val="E6E9EF"/>
                </a:solidFill>
                <a:latin typeface="Courier New"/>
              </a:rPr>
              <a:t>  Expanded(child: TextField(</a:t>
            </a:r>
          </a:p>
          <a:p>
            <a:pPr algn="l"/>
            <a:r>
              <a:rPr sz="1300">
                <a:solidFill>
                  <a:srgbClr val="E6E9EF"/>
                </a:solidFill>
                <a:latin typeface="Courier New"/>
              </a:rPr>
              <a:t>      controller: controller)),</a:t>
            </a:r>
          </a:p>
          <a:p>
            <a:pPr algn="l"/>
            <a:r>
              <a:rPr sz="1300">
                <a:solidFill>
                  <a:srgbClr val="E6E9EF"/>
                </a:solidFill>
                <a:latin typeface="Courier New"/>
              </a:rPr>
              <a:t>  IconButton(</a:t>
            </a:r>
          </a:p>
          <a:p>
            <a:pPr algn="l"/>
            <a:r>
              <a:rPr sz="1300">
                <a:solidFill>
                  <a:srgbClr val="E6E9EF"/>
                </a:solidFill>
                <a:latin typeface="Courier New"/>
              </a:rPr>
              <a:t>    onPressed: canSend.value ? send : null,</a:t>
            </a:r>
          </a:p>
          <a:p>
            <a:pPr algn="l"/>
            <a:r>
              <a:rPr sz="1300">
                <a:solidFill>
                  <a:srgbClr val="E6E9EF"/>
                </a:solidFill>
                <a:latin typeface="Courier New"/>
              </a:rPr>
              <a:t>    icon: const Icon(Icons.send)),</a:t>
            </a:r>
          </a:p>
          <a:p>
            <a:pPr algn="l"/>
            <a:r>
              <a:rPr sz="1300">
                <a:solidFill>
                  <a:srgbClr val="E6E9EF"/>
                </a:solidFill>
                <a:latin typeface="Courier New"/>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Egna composables</a:t>
            </a:r>
          </a:p>
        </p:txBody>
      </p:sp>
      <p:sp>
        <p:nvSpPr>
          <p:cNvPr id="3" name="TextBox 2"/>
          <p:cNvSpPr txBox="1"/>
          <p:nvPr/>
        </p:nvSpPr>
        <p:spPr>
          <a:xfrm>
            <a:off x="768096" y="1691640"/>
            <a:ext cx="4352544" cy="4572000"/>
          </a:xfrm>
          <a:prstGeom prst="rect">
            <a:avLst/>
          </a:prstGeom>
          <a:noFill/>
        </p:spPr>
        <p:txBody>
          <a:bodyPr wrap="square" lIns="0" tIns="0" rIns="0" bIns="0">
            <a:spAutoFit/>
          </a:bodyPr>
          <a:lstStyle/>
          <a:p>
            <a:pPr marL="365760" indent="-274320">
              <a:spcAft>
                <a:spcPts val="800"/>
              </a:spcAft>
              <a:buChar char="•"/>
            </a:pPr>
            <a:r>
              <a:rPr sz="2000"/>
              <a:t>En vanlig funktion som börjar med use</a:t>
            </a:r>
          </a:p>
          <a:p>
            <a:pPr marL="365760" indent="-274320">
              <a:spcAft>
                <a:spcPts val="800"/>
              </a:spcAft>
              <a:buChar char="•"/>
            </a:pPr>
            <a:r>
              <a:rPr sz="2000"/>
              <a:t>Anropas direkt i setup()</a:t>
            </a:r>
          </a:p>
          <a:p>
            <a:pPr marL="365760" indent="-274320">
              <a:spcAft>
                <a:spcPts val="800"/>
              </a:spcAft>
              <a:buChar char="•"/>
            </a:pPr>
            <a:r>
              <a:rPr sz="2000"/>
              <a:t>Skapar ref, computed, watch …</a:t>
            </a:r>
          </a:p>
          <a:p>
            <a:pPr marL="365760" indent="-274320">
              <a:spcAft>
                <a:spcPts val="800"/>
              </a:spcAft>
              <a:buChar char="•"/>
            </a:pPr>
            <a:r>
              <a:rPr sz="2000"/>
              <a:t>Returnerar oftast en record</a:t>
            </a:r>
          </a:p>
          <a:p>
            <a:pPr marL="365760" indent="-274320">
              <a:spcAft>
                <a:spcPts val="800"/>
              </a:spcAft>
              <a:buChar char="•"/>
            </a:pPr>
            <a:r>
              <a:rPr sz="2000"/>
              <a:t>Varje anrop får egna ref</a:t>
            </a:r>
          </a:p>
          <a:p>
            <a:pPr marL="365760" indent="-274320">
              <a:spcAft>
                <a:spcPts val="800"/>
              </a:spcAft>
              <a:buChar char="•"/>
            </a:pPr>
            <a:r>
              <a:rPr sz="2000"/>
              <a:t>Startar den något – städa med onUnmounted</a:t>
            </a:r>
          </a:p>
        </p:txBody>
      </p:sp>
      <p:sp>
        <p:nvSpPr>
          <p:cNvPr id="4" name="Rounded Rectangle 3"/>
          <p:cNvSpPr/>
          <p:nvPr/>
        </p:nvSpPr>
        <p:spPr>
          <a:xfrm>
            <a:off x="5394960" y="1737360"/>
            <a:ext cx="6302959" cy="3460114"/>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useCounter</a:t>
            </a:r>
          </a:p>
          <a:p>
            <a:pPr algn="l"/>
            <a:r>
              <a:rPr sz="1300">
                <a:solidFill>
                  <a:srgbClr val="E6E9EF"/>
                </a:solidFill>
                <a:latin typeface="Courier New"/>
              </a:rPr>
              <a:t>(ReadonlyRef&lt;int&gt;, void Function()) useCounter({</a:t>
            </a:r>
          </a:p>
          <a:p>
            <a:pPr algn="l"/>
            <a:r>
              <a:rPr sz="1300">
                <a:solidFill>
                  <a:srgbClr val="E6E9EF"/>
                </a:solidFill>
                <a:latin typeface="Courier New"/>
              </a:rPr>
              <a:t>  int initial = 0, int? max,</a:t>
            </a:r>
          </a:p>
          <a:p>
            <a:pPr algn="l"/>
            <a:r>
              <a:rPr sz="1300">
                <a:solidFill>
                  <a:srgbClr val="E6E9EF"/>
                </a:solidFill>
                <a:latin typeface="Courier New"/>
              </a:rPr>
              <a:t>}) {</a:t>
            </a:r>
          </a:p>
          <a:p>
            <a:pPr algn="l"/>
            <a:r>
              <a:rPr sz="1300">
                <a:solidFill>
                  <a:srgbClr val="E6E9EF"/>
                </a:solidFill>
                <a:latin typeface="Courier New"/>
              </a:rPr>
              <a:t>  final count = ref(initial);</a:t>
            </a:r>
          </a:p>
          <a:p>
            <a:pPr algn="l"/>
            <a:r>
              <a:rPr sz="1300">
                <a:solidFill>
                  <a:srgbClr val="E6E9EF"/>
                </a:solidFill>
                <a:latin typeface="Courier New"/>
              </a:rPr>
              <a:t>  void inc() {</a:t>
            </a:r>
          </a:p>
          <a:p>
            <a:pPr algn="l"/>
            <a:r>
              <a:rPr sz="1300">
                <a:solidFill>
                  <a:srgbClr val="E6E9EF"/>
                </a:solidFill>
                <a:latin typeface="Courier New"/>
              </a:rPr>
              <a:t>    if (max != null &amp;&amp; count.value &gt;= max) return;</a:t>
            </a:r>
          </a:p>
          <a:p>
            <a:pPr algn="l"/>
            <a:r>
              <a:rPr sz="1300">
                <a:solidFill>
                  <a:srgbClr val="E6E9EF"/>
                </a:solidFill>
                <a:latin typeface="Courier New"/>
              </a:rPr>
              <a:t>    count.value++;</a:t>
            </a:r>
          </a:p>
          <a:p>
            <a:pPr algn="l"/>
            <a:r>
              <a:rPr sz="1300">
                <a:solidFill>
                  <a:srgbClr val="E6E9EF"/>
                </a:solidFill>
                <a:latin typeface="Courier New"/>
              </a:rPr>
              <a:t>  }</a:t>
            </a:r>
          </a:p>
          <a:p>
            <a:pPr algn="l"/>
            <a:r>
              <a:rPr sz="1300">
                <a:solidFill>
                  <a:srgbClr val="E6E9EF"/>
                </a:solidFill>
                <a:latin typeface="Courier New"/>
              </a:rPr>
              <a:t>  return (count, inc);</a:t>
            </a:r>
          </a:p>
          <a:p>
            <a:pPr algn="l"/>
            <a:r>
              <a:rPr sz="1300">
                <a:solidFill>
                  <a:srgbClr val="E6E9EF"/>
                </a:solidFill>
                <a:latin typeface="Courier New"/>
              </a:rPr>
              <a:t>}</a:t>
            </a:r>
          </a:p>
          <a:p>
            <a:pPr algn="l"/>
            <a:r>
              <a:rPr sz="1300">
                <a:solidFill>
                  <a:srgbClr val="E6E9EF"/>
                </a:solidFill>
                <a:latin typeface="Courier New"/>
              </a:rPr>
              <a:t> </a:t>
            </a:r>
          </a:p>
          <a:p>
            <a:pPr algn="l"/>
            <a:r>
              <a:rPr sz="1300">
                <a:solidFill>
                  <a:srgbClr val="8B95A7"/>
                </a:solidFill>
                <a:latin typeface="Courier New"/>
              </a:rPr>
              <a:t>// I setup():</a:t>
            </a:r>
          </a:p>
          <a:p>
            <a:pPr algn="l"/>
            <a:r>
              <a:rPr sz="1300">
                <a:solidFill>
                  <a:srgbClr val="E6E9EF"/>
                </a:solidFill>
                <a:latin typeface="Courier New"/>
              </a:rPr>
              <a:t>final (likes, like) = useCounter(max: 10);</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props och composables</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4.1</a:t>
            </a:r>
          </a:p>
        </p:txBody>
      </p:sp>
      <p:sp>
        <p:nvSpPr>
          <p:cNvPr id="5" name="TextBox 4"/>
          <p:cNvSpPr txBox="1"/>
          <p:nvPr/>
        </p:nvSpPr>
        <p:spPr>
          <a:xfrm>
            <a:off x="1636776" y="1691640"/>
            <a:ext cx="9786823" cy="762000"/>
          </a:xfrm>
          <a:prstGeom prst="rect">
            <a:avLst/>
          </a:prstGeom>
          <a:noFill/>
        </p:spPr>
        <p:txBody>
          <a:bodyPr wrap="square" lIns="0" tIns="0" rIns="0" bIns="0" anchor="t">
            <a:spAutoFit/>
          </a:bodyPr>
          <a:lstStyle/>
          <a:p>
            <a:pPr algn="l">
              <a:spcAft>
                <a:spcPts val="800"/>
              </a:spcAft>
            </a:pPr>
            <a:r>
              <a:rPr sz="1700" b="0"/>
              <a:t>PostCard visar ”gillning” eller ”gillningar” beroende på antal.</a:t>
            </a:r>
          </a:p>
        </p:txBody>
      </p:sp>
      <p:sp>
        <p:nvSpPr>
          <p:cNvPr id="6" name="TextBox 5"/>
          <p:cNvSpPr txBox="1"/>
          <p:nvPr/>
        </p:nvSpPr>
        <p:spPr>
          <a:xfrm>
            <a:off x="768096" y="2453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4.2</a:t>
            </a:r>
          </a:p>
        </p:txBody>
      </p:sp>
      <p:sp>
        <p:nvSpPr>
          <p:cNvPr id="7" name="TextBox 6"/>
          <p:cNvSpPr txBox="1"/>
          <p:nvPr/>
        </p:nvSpPr>
        <p:spPr>
          <a:xfrm>
            <a:off x="1636776" y="2453640"/>
            <a:ext cx="9786823" cy="762000"/>
          </a:xfrm>
          <a:prstGeom prst="rect">
            <a:avLst/>
          </a:prstGeom>
          <a:noFill/>
        </p:spPr>
        <p:txBody>
          <a:bodyPr wrap="square" lIns="0" tIns="0" rIns="0" bIns="0" anchor="t">
            <a:spAutoFit/>
          </a:bodyPr>
          <a:lstStyle/>
          <a:p>
            <a:pPr algn="l">
              <a:spcAft>
                <a:spcPts val="800"/>
              </a:spcAft>
            </a:pPr>
            <a:r>
              <a:rPr sz="1700" b="0"/>
              <a:t>En callback-prop onAuthorTap.</a:t>
            </a:r>
          </a:p>
        </p:txBody>
      </p:sp>
      <p:sp>
        <p:nvSpPr>
          <p:cNvPr id="8" name="TextBox 7"/>
          <p:cNvSpPr txBox="1"/>
          <p:nvPr/>
        </p:nvSpPr>
        <p:spPr>
          <a:xfrm>
            <a:off x="768096" y="3215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4.3</a:t>
            </a:r>
          </a:p>
        </p:txBody>
      </p:sp>
      <p:sp>
        <p:nvSpPr>
          <p:cNvPr id="9" name="TextBox 8"/>
          <p:cNvSpPr txBox="1"/>
          <p:nvPr/>
        </p:nvSpPr>
        <p:spPr>
          <a:xfrm>
            <a:off x="1636776" y="3215640"/>
            <a:ext cx="9786823" cy="762000"/>
          </a:xfrm>
          <a:prstGeom prst="rect">
            <a:avLst/>
          </a:prstGeom>
          <a:noFill/>
        </p:spPr>
        <p:txBody>
          <a:bodyPr wrap="square" lIns="0" tIns="0" rIns="0" bIns="0" anchor="t">
            <a:spAutoFit/>
          </a:bodyPr>
          <a:lstStyle/>
          <a:p>
            <a:pPr algn="l">
              <a:spcAft>
                <a:spcPts val="800"/>
              </a:spcAft>
            </a:pPr>
            <a:r>
              <a:rPr sz="1700" b="0"/>
              <a:t>CommentBox med max 140 tecken och en teckenräknare.</a:t>
            </a:r>
          </a:p>
        </p:txBody>
      </p:sp>
      <p:sp>
        <p:nvSpPr>
          <p:cNvPr id="10" name="TextBox 9"/>
          <p:cNvSpPr txBox="1"/>
          <p:nvPr/>
        </p:nvSpPr>
        <p:spPr>
          <a:xfrm>
            <a:off x="768096" y="3977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4.4</a:t>
            </a:r>
          </a:p>
        </p:txBody>
      </p:sp>
      <p:sp>
        <p:nvSpPr>
          <p:cNvPr id="11" name="TextBox 10"/>
          <p:cNvSpPr txBox="1"/>
          <p:nvPr/>
        </p:nvSpPr>
        <p:spPr>
          <a:xfrm>
            <a:off x="1636776" y="3977640"/>
            <a:ext cx="9786823" cy="762000"/>
          </a:xfrm>
          <a:prstGeom prst="rect">
            <a:avLst/>
          </a:prstGeom>
          <a:noFill/>
        </p:spPr>
        <p:txBody>
          <a:bodyPr wrap="square" lIns="0" tIns="0" rIns="0" bIns="0" anchor="t">
            <a:spAutoFit/>
          </a:bodyPr>
          <a:lstStyle/>
          <a:p>
            <a:pPr algn="l">
              <a:spcAft>
                <a:spcPts val="800"/>
              </a:spcAft>
            </a:pPr>
            <a:r>
              <a:rPr sz="1700" b="0"/>
              <a:t>En inloggningsruta med två controllers och en computed canLogin.</a:t>
            </a:r>
          </a:p>
        </p:txBody>
      </p:sp>
      <p:sp>
        <p:nvSpPr>
          <p:cNvPr id="12" name="TextBox 11"/>
          <p:cNvSpPr txBox="1"/>
          <p:nvPr/>
        </p:nvSpPr>
        <p:spPr>
          <a:xfrm>
            <a:off x="768096" y="4739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4.5</a:t>
            </a:r>
          </a:p>
        </p:txBody>
      </p:sp>
      <p:sp>
        <p:nvSpPr>
          <p:cNvPr id="13" name="TextBox 12"/>
          <p:cNvSpPr txBox="1"/>
          <p:nvPr/>
        </p:nvSpPr>
        <p:spPr>
          <a:xfrm>
            <a:off x="1636776" y="4739640"/>
            <a:ext cx="9786823" cy="762000"/>
          </a:xfrm>
          <a:prstGeom prst="rect">
            <a:avLst/>
          </a:prstGeom>
          <a:noFill/>
        </p:spPr>
        <p:txBody>
          <a:bodyPr wrap="square" lIns="0" tIns="0" rIns="0" bIns="0" anchor="t">
            <a:spAutoFit/>
          </a:bodyPr>
          <a:lstStyle/>
          <a:p>
            <a:pPr algn="l">
              <a:spcAft>
                <a:spcPts val="800"/>
              </a:spcAft>
            </a:pPr>
            <a:r>
              <a:rPr sz="1700" b="0"/>
              <a:t>useToggle för att visa och dölja kommentarer.</a:t>
            </a:r>
          </a:p>
        </p:txBody>
      </p:sp>
      <p:sp>
        <p:nvSpPr>
          <p:cNvPr id="14" name="TextBox 13"/>
          <p:cNvSpPr txBox="1"/>
          <p:nvPr/>
        </p:nvSpPr>
        <p:spPr>
          <a:xfrm>
            <a:off x="768096" y="5501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4.6</a:t>
            </a:r>
          </a:p>
        </p:txBody>
      </p:sp>
      <p:sp>
        <p:nvSpPr>
          <p:cNvPr id="15" name="TextBox 14"/>
          <p:cNvSpPr txBox="1"/>
          <p:nvPr/>
        </p:nvSpPr>
        <p:spPr>
          <a:xfrm>
            <a:off x="1636776" y="5501640"/>
            <a:ext cx="9786823" cy="762000"/>
          </a:xfrm>
          <a:prstGeom prst="rect">
            <a:avLst/>
          </a:prstGeom>
          <a:noFill/>
        </p:spPr>
        <p:txBody>
          <a:bodyPr wrap="square" lIns="0" tIns="0" rIns="0" bIns="0" anchor="t">
            <a:spAutoFit/>
          </a:bodyPr>
          <a:lstStyle/>
          <a:p>
            <a:pPr algn="l">
              <a:spcAft>
                <a:spcPts val="800"/>
              </a:spcAft>
            </a:pPr>
            <a:r>
              <a:rPr sz="1700" b="0"/>
              <a:t>Utmaning: useDebounced.</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Mer PocketBase: vem är inloggad och filter</a:t>
            </a:r>
          </a:p>
        </p:txBody>
      </p:sp>
      <p:graphicFrame>
        <p:nvGraphicFramePr>
          <p:cNvPr id="3" name="Table 2"/>
          <p:cNvGraphicFramePr>
            <a:graphicFrameLocks noGrp="1"/>
          </p:cNvGraphicFramePr>
          <p:nvPr/>
        </p:nvGraphicFramePr>
        <p:xfrm>
          <a:off x="768096" y="1691640"/>
          <a:ext cx="5029200" cy="2514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02920">
                <a:tc>
                  <a:txBody>
                    <a:bodyPr/>
                    <a:lstStyle/>
                    <a:p>
                      <a:r>
                        <a:rPr sz="1400" b="1"/>
                        <a:t>Kod</a:t>
                      </a:r>
                    </a:p>
                  </a:txBody>
                  <a:tcPr marT="36576" marB="36576" anchor="ctr"/>
                </a:tc>
                <a:tc>
                  <a:txBody>
                    <a:bodyPr/>
                    <a:lstStyle/>
                    <a:p>
                      <a:r>
                        <a:rPr sz="1400" b="1"/>
                        <a:t>Ger</a:t>
                      </a:r>
                    </a:p>
                  </a:txBody>
                  <a:tcPr marT="36576" marB="36576" anchor="ctr"/>
                </a:tc>
                <a:extLst>
                  <a:ext uri="{0D108BD9-81ED-4DB2-BD59-A6C34878D82A}">
                    <a16:rowId xmlns:a16="http://schemas.microsoft.com/office/drawing/2014/main" val="10000"/>
                  </a:ext>
                </a:extLst>
              </a:tr>
              <a:tr h="502920">
                <a:tc>
                  <a:txBody>
                    <a:bodyPr/>
                    <a:lstStyle/>
                    <a:p>
                      <a:r>
                        <a:rPr sz="1400">
                          <a:latin typeface="Courier New"/>
                        </a:rPr>
                        <a:t>pb.authStore.isValid</a:t>
                      </a:r>
                    </a:p>
                  </a:txBody>
                  <a:tcPr marT="36576" marB="36576" anchor="ctr"/>
                </a:tc>
                <a:tc>
                  <a:txBody>
                    <a:bodyPr/>
                    <a:lstStyle/>
                    <a:p>
                      <a:r>
                        <a:rPr sz="1400"/>
                        <a:t>true om inloggad</a:t>
                      </a:r>
                    </a:p>
                  </a:txBody>
                  <a:tcPr marT="36576" marB="36576" anchor="ctr"/>
                </a:tc>
                <a:extLst>
                  <a:ext uri="{0D108BD9-81ED-4DB2-BD59-A6C34878D82A}">
                    <a16:rowId xmlns:a16="http://schemas.microsoft.com/office/drawing/2014/main" val="10001"/>
                  </a:ext>
                </a:extLst>
              </a:tr>
              <a:tr h="502920">
                <a:tc>
                  <a:txBody>
                    <a:bodyPr/>
                    <a:lstStyle/>
                    <a:p>
                      <a:r>
                        <a:rPr sz="1400">
                          <a:latin typeface="Courier New"/>
                        </a:rPr>
                        <a:t>pb.authStore.record</a:t>
                      </a:r>
                    </a:p>
                  </a:txBody>
                  <a:tcPr marT="36576" marB="36576" anchor="ctr"/>
                </a:tc>
                <a:tc>
                  <a:txBody>
                    <a:bodyPr/>
                    <a:lstStyle/>
                    <a:p>
                      <a:r>
                        <a:rPr sz="1400"/>
                        <a:t>Den inloggade användaren</a:t>
                      </a:r>
                    </a:p>
                  </a:txBody>
                  <a:tcPr marT="36576" marB="36576" anchor="ctr"/>
                </a:tc>
                <a:extLst>
                  <a:ext uri="{0D108BD9-81ED-4DB2-BD59-A6C34878D82A}">
                    <a16:rowId xmlns:a16="http://schemas.microsoft.com/office/drawing/2014/main" val="10002"/>
                  </a:ext>
                </a:extLst>
              </a:tr>
              <a:tr h="502920">
                <a:tc>
                  <a:txBody>
                    <a:bodyPr/>
                    <a:lstStyle/>
                    <a:p>
                      <a:r>
                        <a:rPr sz="1400">
                          <a:latin typeface="Courier New"/>
                        </a:rPr>
                        <a:t>pb.authStore.record!.id</a:t>
                      </a:r>
                    </a:p>
                  </a:txBody>
                  <a:tcPr marT="36576" marB="36576" anchor="ctr"/>
                </a:tc>
                <a:tc>
                  <a:txBody>
                    <a:bodyPr/>
                    <a:lstStyle/>
                    <a:p>
                      <a:r>
                        <a:rPr sz="1400"/>
                        <a:t>Den inloggades id</a:t>
                      </a:r>
                    </a:p>
                  </a:txBody>
                  <a:tcPr marT="36576" marB="36576" anchor="ctr"/>
                </a:tc>
                <a:extLst>
                  <a:ext uri="{0D108BD9-81ED-4DB2-BD59-A6C34878D82A}">
                    <a16:rowId xmlns:a16="http://schemas.microsoft.com/office/drawing/2014/main" val="10003"/>
                  </a:ext>
                </a:extLst>
              </a:tr>
              <a:tr h="502920">
                <a:tc>
                  <a:txBody>
                    <a:bodyPr/>
                    <a:lstStyle/>
                    <a:p>
                      <a:r>
                        <a:rPr sz="1400">
                          <a:latin typeface="Courier New"/>
                        </a:rPr>
                        <a:t>pb.authStore.clear()</a:t>
                      </a:r>
                    </a:p>
                  </a:txBody>
                  <a:tcPr marT="36576" marB="36576" anchor="ctr"/>
                </a:tc>
                <a:tc>
                  <a:txBody>
                    <a:bodyPr/>
                    <a:lstStyle/>
                    <a:p>
                      <a:r>
                        <a:rPr sz="1400"/>
                        <a:t>Loggar ut</a:t>
                      </a:r>
                    </a:p>
                  </a:txBody>
                  <a:tcPr marT="36576" marB="36576" anchor="ctr"/>
                </a:tc>
                <a:extLst>
                  <a:ext uri="{0D108BD9-81ED-4DB2-BD59-A6C34878D82A}">
                    <a16:rowId xmlns:a16="http://schemas.microsoft.com/office/drawing/2014/main" val="10004"/>
                  </a:ext>
                </a:extLst>
              </a:tr>
            </a:tbl>
          </a:graphicData>
        </a:graphic>
      </p:graphicFrame>
      <p:sp>
        <p:nvSpPr>
          <p:cNvPr id="4" name="Rounded Rectangle 3"/>
          <p:cNvSpPr/>
          <p:nvPr/>
        </p:nvSpPr>
        <p:spPr>
          <a:xfrm>
            <a:off x="6126480" y="1691640"/>
            <a:ext cx="5303520" cy="274320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Filter</a:t>
            </a:r>
          </a:p>
          <a:p>
            <a:pPr algn="l"/>
            <a:r>
              <a:rPr sz="1400">
                <a:solidFill>
                  <a:srgbClr val="E6E9EF"/>
                </a:solidFill>
                <a:latin typeface="Courier New"/>
              </a:rPr>
              <a:t>pb.collection('posts').getFullList(</a:t>
            </a:r>
          </a:p>
          <a:p>
            <a:pPr algn="l"/>
            <a:r>
              <a:rPr sz="1400">
                <a:solidFill>
                  <a:srgbClr val="E6E9EF"/>
                </a:solidFill>
                <a:latin typeface="Courier New"/>
              </a:rPr>
              <a:t>  filter: pb.filter(</a:t>
            </a:r>
          </a:p>
          <a:p>
            <a:pPr algn="l"/>
            <a:r>
              <a:rPr sz="1400">
                <a:solidFill>
                  <a:srgbClr val="E6E9EF"/>
                </a:solidFill>
                <a:latin typeface="Courier New"/>
              </a:rPr>
              <a:t>    'author.username = {:name}',</a:t>
            </a:r>
          </a:p>
          <a:p>
            <a:pPr algn="l"/>
            <a:r>
              <a:rPr sz="1400">
                <a:solidFill>
                  <a:srgbClr val="E6E9EF"/>
                </a:solidFill>
                <a:latin typeface="Courier New"/>
              </a:rPr>
              <a:t>    {'name': 'anna'},</a:t>
            </a:r>
          </a:p>
          <a:p>
            <a:pPr algn="l"/>
            <a:r>
              <a:rPr sz="1400">
                <a:solidFill>
                  <a:srgbClr val="E6E9EF"/>
                </a:solidFill>
                <a:latin typeface="Courier New"/>
              </a:rPr>
              <a:t>  ),</a:t>
            </a:r>
          </a:p>
          <a:p>
            <a:pPr algn="l"/>
            <a:r>
              <a:rPr sz="1400">
                <a:solidFill>
                  <a:srgbClr val="E6E9EF"/>
                </a:solidFill>
                <a:latin typeface="Courier New"/>
              </a:rPr>
              <a:t>);</a:t>
            </a:r>
          </a:p>
        </p:txBody>
      </p:sp>
      <p:sp>
        <p:nvSpPr>
          <p:cNvPr id="5" name="TextBox 4"/>
          <p:cNvSpPr txBox="1"/>
          <p:nvPr/>
        </p:nvSpPr>
        <p:spPr>
          <a:xfrm>
            <a:off x="768096" y="4754880"/>
            <a:ext cx="10655503" cy="1097280"/>
          </a:xfrm>
          <a:prstGeom prst="rect">
            <a:avLst/>
          </a:prstGeom>
          <a:noFill/>
        </p:spPr>
        <p:txBody>
          <a:bodyPr wrap="square" lIns="0" tIns="0" rIns="0" bIns="0" anchor="t">
            <a:spAutoFit/>
          </a:bodyPr>
          <a:lstStyle/>
          <a:p>
            <a:pPr algn="l">
              <a:spcAft>
                <a:spcPts val="600"/>
              </a:spcAft>
            </a:pPr>
            <a:r>
              <a:rPr sz="1600" b="0"/>
              <a:t>getList = en sida   ·   getFullList = allt   ·   getFirstListItem = första som matchar</a:t>
            </a:r>
          </a:p>
          <a:p>
            <a:pPr algn="l">
              <a:spcAft>
                <a:spcPts val="800"/>
              </a:spcAft>
            </a:pPr>
            <a:r>
              <a:rPr sz="1500" b="0">
                <a:solidFill>
                  <a:srgbClr val="595959"/>
                </a:solidFill>
              </a:rPr>
              <a:t>⚠️ Använd alltid pb.filter med {:namn} – klistra aldrig ihop filter med text från användaren.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Skapa, ändra, ta bort – och gilla</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create(body: {...}) skapar</a:t>
            </a:r>
          </a:p>
          <a:p>
            <a:pPr marL="365760" indent="-274320">
              <a:spcAft>
                <a:spcPts val="800"/>
              </a:spcAft>
              <a:buChar char="•"/>
            </a:pPr>
            <a:r>
              <a:rPr sz="2000"/>
              <a:t>update(id, body: {...}) ändrar</a:t>
            </a:r>
          </a:p>
          <a:p>
            <a:pPr marL="365760" indent="-274320">
              <a:spcAft>
                <a:spcPts val="800"/>
              </a:spcAft>
              <a:buChar char="•"/>
            </a:pPr>
            <a:r>
              <a:rPr sz="2000"/>
              <a:t>delete(id) tar bort</a:t>
            </a:r>
          </a:p>
          <a:p>
            <a:pPr marL="365760" indent="-274320">
              <a:spcAft>
                <a:spcPts val="800"/>
              </a:spcAft>
              <a:buChar char="•"/>
            </a:pPr>
            <a:r>
              <a:rPr sz="2000"/>
              <a:t>'author': me krävs av Create-regeln</a:t>
            </a:r>
          </a:p>
          <a:p>
            <a:pPr marL="365760" indent="-274320">
              <a:spcAft>
                <a:spcPts val="800"/>
              </a:spcAft>
              <a:buChar char="•"/>
            </a:pPr>
            <a:r>
              <a:rPr sz="2000"/>
              <a:t>Sluta gilla = hitta like-raden och ta bort den</a:t>
            </a:r>
          </a:p>
          <a:p>
            <a:pPr marL="365760" indent="-274320">
              <a:spcAft>
                <a:spcPts val="800"/>
              </a:spcAft>
              <a:buChar char="•"/>
            </a:pPr>
            <a:r>
              <a:rPr sz="2000"/>
              <a:t>Följa fungerar likadant med follows</a:t>
            </a:r>
          </a:p>
        </p:txBody>
      </p:sp>
      <p:sp>
        <p:nvSpPr>
          <p:cNvPr id="4" name="Rounded Rectangle 3"/>
          <p:cNvSpPr/>
          <p:nvPr/>
        </p:nvSpPr>
        <p:spPr>
          <a:xfrm>
            <a:off x="5577840" y="1737360"/>
            <a:ext cx="6120079" cy="4285614"/>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Dart</a:t>
            </a:r>
          </a:p>
          <a:p>
            <a:pPr algn="l"/>
            <a:r>
              <a:rPr sz="1300">
                <a:solidFill>
                  <a:srgbClr val="E6E9EF"/>
                </a:solidFill>
                <a:latin typeface="Courier New"/>
              </a:rPr>
              <a:t>final me = pb.authStore.record!.id;</a:t>
            </a:r>
          </a:p>
          <a:p>
            <a:pPr algn="l"/>
            <a:r>
              <a:rPr sz="1300">
                <a:solidFill>
                  <a:srgbClr val="E6E9EF"/>
                </a:solidFill>
                <a:latin typeface="Courier New"/>
              </a:rPr>
              <a:t> </a:t>
            </a:r>
          </a:p>
          <a:p>
            <a:pPr algn="l"/>
            <a:r>
              <a:rPr sz="1300">
                <a:solidFill>
                  <a:srgbClr val="E6E9EF"/>
                </a:solidFill>
                <a:latin typeface="Courier New"/>
              </a:rPr>
              <a:t>final post = await pb.collection('posts')</a:t>
            </a:r>
          </a:p>
          <a:p>
            <a:pPr algn="l"/>
            <a:r>
              <a:rPr sz="1300">
                <a:solidFill>
                  <a:srgbClr val="E6E9EF"/>
                </a:solidFill>
                <a:latin typeface="Courier New"/>
              </a:rPr>
              <a:t>    .create(body: {</a:t>
            </a:r>
          </a:p>
          <a:p>
            <a:pPr algn="l"/>
            <a:r>
              <a:rPr sz="1300">
                <a:solidFill>
                  <a:srgbClr val="E6E9EF"/>
                </a:solidFill>
                <a:latin typeface="Courier New"/>
              </a:rPr>
              <a:t>  'author': me,</a:t>
            </a:r>
          </a:p>
          <a:p>
            <a:pPr algn="l"/>
            <a:r>
              <a:rPr sz="1300">
                <a:solidFill>
                  <a:srgbClr val="E6E9EF"/>
                </a:solidFill>
                <a:latin typeface="Courier New"/>
              </a:rPr>
              <a:t>  'title': 'Hej från appen',</a:t>
            </a:r>
          </a:p>
          <a:p>
            <a:pPr algn="l"/>
            <a:r>
              <a:rPr sz="1300">
                <a:solidFill>
                  <a:srgbClr val="E6E9EF"/>
                </a:solidFill>
                <a:latin typeface="Courier New"/>
              </a:rPr>
              <a:t>  'body': 'Mitt första inlägg!',</a:t>
            </a:r>
          </a:p>
          <a:p>
            <a:pPr algn="l"/>
            <a:r>
              <a:rPr sz="1300">
                <a:solidFill>
                  <a:srgbClr val="E6E9EF"/>
                </a:solidFill>
                <a:latin typeface="Courier New"/>
              </a:rPr>
              <a:t>});</a:t>
            </a:r>
          </a:p>
          <a:p>
            <a:pPr algn="l"/>
            <a:r>
              <a:rPr sz="1300">
                <a:solidFill>
                  <a:srgbClr val="E6E9EF"/>
                </a:solidFill>
                <a:latin typeface="Courier New"/>
              </a:rPr>
              <a:t> </a:t>
            </a:r>
          </a:p>
          <a:p>
            <a:pPr algn="l"/>
            <a:r>
              <a:rPr sz="1300">
                <a:solidFill>
                  <a:srgbClr val="E6E9EF"/>
                </a:solidFill>
                <a:latin typeface="Courier New"/>
              </a:rPr>
              <a:t>await pb.collection('likes').create(</a:t>
            </a:r>
          </a:p>
          <a:p>
            <a:pPr algn="l"/>
            <a:r>
              <a:rPr sz="1300">
                <a:solidFill>
                  <a:srgbClr val="E6E9EF"/>
                </a:solidFill>
                <a:latin typeface="Courier New"/>
              </a:rPr>
              <a:t>    body: {'post': post.id, 'user': me});</a:t>
            </a:r>
          </a:p>
          <a:p>
            <a:pPr algn="l"/>
            <a:r>
              <a:rPr sz="1300">
                <a:solidFill>
                  <a:srgbClr val="E6E9EF"/>
                </a:solidFill>
                <a:latin typeface="Courier New"/>
              </a:rPr>
              <a:t> </a:t>
            </a:r>
          </a:p>
          <a:p>
            <a:pPr algn="l"/>
            <a:r>
              <a:rPr sz="1300">
                <a:solidFill>
                  <a:srgbClr val="E6E9EF"/>
                </a:solidFill>
                <a:latin typeface="Courier New"/>
              </a:rPr>
              <a:t>final like = await pb.collection('likes')</a:t>
            </a:r>
          </a:p>
          <a:p>
            <a:pPr algn="l"/>
            <a:r>
              <a:rPr sz="1300">
                <a:solidFill>
                  <a:srgbClr val="E6E9EF"/>
                </a:solidFill>
                <a:latin typeface="Courier New"/>
              </a:rPr>
              <a:t>    .getFirstListItem(pb.filter(</a:t>
            </a:r>
          </a:p>
          <a:p>
            <a:pPr algn="l"/>
            <a:r>
              <a:rPr sz="1300">
                <a:solidFill>
                  <a:srgbClr val="E6E9EF"/>
                </a:solidFill>
                <a:latin typeface="Courier New"/>
              </a:rPr>
              <a:t>      'post = {:p} &amp;&amp; user = {:u}',</a:t>
            </a:r>
          </a:p>
          <a:p>
            <a:pPr algn="l"/>
            <a:r>
              <a:rPr sz="1300">
                <a:solidFill>
                  <a:srgbClr val="E6E9EF"/>
                </a:solidFill>
                <a:latin typeface="Courier New"/>
              </a:rPr>
              <a:t>      {'p': post.id, 'u': me}));</a:t>
            </a:r>
          </a:p>
          <a:p>
            <a:pPr algn="l"/>
            <a:r>
              <a:rPr sz="1300">
                <a:solidFill>
                  <a:srgbClr val="E6E9EF"/>
                </a:solidFill>
                <a:latin typeface="Courier New"/>
              </a:rPr>
              <a:t>await pb.collection('likes').delete(like.id);</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Fel och realtid</a:t>
            </a:r>
          </a:p>
        </p:txBody>
      </p:sp>
      <p:graphicFrame>
        <p:nvGraphicFramePr>
          <p:cNvPr id="3" name="Table 2"/>
          <p:cNvGraphicFramePr>
            <a:graphicFrameLocks noGrp="1"/>
          </p:cNvGraphicFramePr>
          <p:nvPr/>
        </p:nvGraphicFramePr>
        <p:xfrm>
          <a:off x="768096" y="1691640"/>
          <a:ext cx="4937760" cy="25146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502920">
                <a:tc>
                  <a:txBody>
                    <a:bodyPr/>
                    <a:lstStyle/>
                    <a:p>
                      <a:r>
                        <a:rPr sz="1500" b="1"/>
                        <a:t>statusCode</a:t>
                      </a:r>
                    </a:p>
                  </a:txBody>
                  <a:tcPr marT="36576" marB="36576" anchor="ctr"/>
                </a:tc>
                <a:tc>
                  <a:txBody>
                    <a:bodyPr/>
                    <a:lstStyle/>
                    <a:p>
                      <a:r>
                        <a:rPr sz="1500" b="1"/>
                        <a:t>Betyder oftast</a:t>
                      </a:r>
                    </a:p>
                  </a:txBody>
                  <a:tcPr marT="36576" marB="36576" anchor="ctr"/>
                </a:tc>
                <a:extLst>
                  <a:ext uri="{0D108BD9-81ED-4DB2-BD59-A6C34878D82A}">
                    <a16:rowId xmlns:a16="http://schemas.microsoft.com/office/drawing/2014/main" val="10000"/>
                  </a:ext>
                </a:extLst>
              </a:tr>
              <a:tr h="502920">
                <a:tc>
                  <a:txBody>
                    <a:bodyPr/>
                    <a:lstStyle/>
                    <a:p>
                      <a:r>
                        <a:rPr sz="1500"/>
                        <a:t>400</a:t>
                      </a:r>
                    </a:p>
                  </a:txBody>
                  <a:tcPr marT="36576" marB="36576" anchor="ctr"/>
                </a:tc>
                <a:tc>
                  <a:txBody>
                    <a:bodyPr/>
                    <a:lstStyle/>
                    <a:p>
                      <a:r>
                        <a:rPr sz="1500"/>
                        <a:t>Fel i datan, t.ex. dubbel like</a:t>
                      </a:r>
                    </a:p>
                  </a:txBody>
                  <a:tcPr marT="36576" marB="36576" anchor="ctr"/>
                </a:tc>
                <a:extLst>
                  <a:ext uri="{0D108BD9-81ED-4DB2-BD59-A6C34878D82A}">
                    <a16:rowId xmlns:a16="http://schemas.microsoft.com/office/drawing/2014/main" val="10001"/>
                  </a:ext>
                </a:extLst>
              </a:tr>
              <a:tr h="502920">
                <a:tc>
                  <a:txBody>
                    <a:bodyPr/>
                    <a:lstStyle/>
                    <a:p>
                      <a:r>
                        <a:rPr sz="1500"/>
                        <a:t>403</a:t>
                      </a:r>
                    </a:p>
                  </a:txBody>
                  <a:tcPr marT="36576" marB="36576" anchor="ctr"/>
                </a:tc>
                <a:tc>
                  <a:txBody>
                    <a:bodyPr/>
                    <a:lstStyle/>
                    <a:p>
                      <a:r>
                        <a:rPr sz="1500"/>
                        <a:t>Regeln är låst, bara superusers</a:t>
                      </a:r>
                    </a:p>
                  </a:txBody>
                  <a:tcPr marT="36576" marB="36576" anchor="ctr"/>
                </a:tc>
                <a:extLst>
                  <a:ext uri="{0D108BD9-81ED-4DB2-BD59-A6C34878D82A}">
                    <a16:rowId xmlns:a16="http://schemas.microsoft.com/office/drawing/2014/main" val="10002"/>
                  </a:ext>
                </a:extLst>
              </a:tr>
              <a:tr h="502920">
                <a:tc>
                  <a:txBody>
                    <a:bodyPr/>
                    <a:lstStyle/>
                    <a:p>
                      <a:r>
                        <a:rPr sz="1500"/>
                        <a:t>404</a:t>
                      </a:r>
                    </a:p>
                  </a:txBody>
                  <a:tcPr marT="36576" marB="36576" anchor="ctr"/>
                </a:tc>
                <a:tc>
                  <a:txBody>
                    <a:bodyPr/>
                    <a:lstStyle/>
                    <a:p>
                      <a:r>
                        <a:rPr sz="1500"/>
                        <a:t>Finns inte, eller du får inte</a:t>
                      </a:r>
                    </a:p>
                  </a:txBody>
                  <a:tcPr marT="36576" marB="36576" anchor="ctr"/>
                </a:tc>
                <a:extLst>
                  <a:ext uri="{0D108BD9-81ED-4DB2-BD59-A6C34878D82A}">
                    <a16:rowId xmlns:a16="http://schemas.microsoft.com/office/drawing/2014/main" val="10003"/>
                  </a:ext>
                </a:extLst>
              </a:tr>
              <a:tr h="502920">
                <a:tc>
                  <a:txBody>
                    <a:bodyPr/>
                    <a:lstStyle/>
                    <a:p>
                      <a:r>
                        <a:rPr sz="1500"/>
                        <a:t>0</a:t>
                      </a:r>
                    </a:p>
                  </a:txBody>
                  <a:tcPr marT="36576" marB="36576" anchor="ctr"/>
                </a:tc>
                <a:tc>
                  <a:txBody>
                    <a:bodyPr/>
                    <a:lstStyle/>
                    <a:p>
                      <a:r>
                        <a:rPr sz="1500"/>
                        <a:t>Når inte PocketBase</a:t>
                      </a:r>
                    </a:p>
                  </a:txBody>
                  <a:tcPr marT="36576" marB="36576" anchor="ctr"/>
                </a:tc>
                <a:extLst>
                  <a:ext uri="{0D108BD9-81ED-4DB2-BD59-A6C34878D82A}">
                    <a16:rowId xmlns:a16="http://schemas.microsoft.com/office/drawing/2014/main" val="10004"/>
                  </a:ext>
                </a:extLst>
              </a:tr>
            </a:tbl>
          </a:graphicData>
        </a:graphic>
      </p:graphicFrame>
      <p:sp>
        <p:nvSpPr>
          <p:cNvPr id="4" name="Rounded Rectangle 3"/>
          <p:cNvSpPr/>
          <p:nvPr/>
        </p:nvSpPr>
        <p:spPr>
          <a:xfrm>
            <a:off x="6035040" y="1691640"/>
            <a:ext cx="5394960" cy="393192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Realtid</a:t>
            </a:r>
          </a:p>
          <a:p>
            <a:pPr algn="l"/>
            <a:r>
              <a:rPr sz="1400">
                <a:solidFill>
                  <a:srgbClr val="E6E9EF"/>
                </a:solidFill>
                <a:latin typeface="Courier New"/>
              </a:rPr>
              <a:t>final unsubscribe = await pb</a:t>
            </a:r>
          </a:p>
          <a:p>
            <a:pPr algn="l"/>
            <a:r>
              <a:rPr sz="1400">
                <a:solidFill>
                  <a:srgbClr val="E6E9EF"/>
                </a:solidFill>
                <a:latin typeface="Courier New"/>
              </a:rPr>
              <a:t>    .collection('comments')</a:t>
            </a:r>
          </a:p>
          <a:p>
            <a:pPr algn="l"/>
            <a:r>
              <a:rPr sz="1400">
                <a:solidFill>
                  <a:srgbClr val="E6E9EF"/>
                </a:solidFill>
                <a:latin typeface="Courier New"/>
              </a:rPr>
              <a:t>    .subscribe('*', (e) {</a:t>
            </a:r>
          </a:p>
          <a:p>
            <a:pPr algn="l"/>
            <a:r>
              <a:rPr sz="1400">
                <a:solidFill>
                  <a:srgbClr val="E6E9EF"/>
                </a:solidFill>
                <a:latin typeface="Courier New"/>
              </a:rPr>
              <a:t>  debugPrint('${e.action}: '</a:t>
            </a:r>
          </a:p>
          <a:p>
            <a:pPr algn="l"/>
            <a:r>
              <a:rPr sz="1400">
                <a:solidFill>
                  <a:srgbClr val="E6E9EF"/>
                </a:solidFill>
                <a:latin typeface="Courier New"/>
              </a:rPr>
              <a:t>      '${e.record?.getStringValue('body')}');</a:t>
            </a:r>
          </a:p>
          <a:p>
            <a:pPr algn="l"/>
            <a:r>
              <a:rPr sz="1400">
                <a:solidFill>
                  <a:srgbClr val="E6E9EF"/>
                </a:solidFill>
                <a:latin typeface="Courier New"/>
              </a:rPr>
              <a:t>});</a:t>
            </a:r>
          </a:p>
          <a:p>
            <a:pPr algn="l"/>
            <a:r>
              <a:rPr sz="1400">
                <a:solidFill>
                  <a:srgbClr val="E6E9EF"/>
                </a:solidFill>
                <a:latin typeface="Courier New"/>
              </a:rPr>
              <a:t> </a:t>
            </a:r>
          </a:p>
          <a:p>
            <a:pPr algn="l"/>
            <a:r>
              <a:rPr sz="1400">
                <a:solidFill>
                  <a:srgbClr val="8B95A7"/>
                </a:solidFill>
                <a:latin typeface="Courier New"/>
              </a:rPr>
              <a:t>// e.action: create, update eller delete</a:t>
            </a:r>
          </a:p>
          <a:p>
            <a:pPr algn="l"/>
            <a:r>
              <a:rPr sz="1400">
                <a:solidFill>
                  <a:srgbClr val="E6E9EF"/>
                </a:solidFill>
                <a:latin typeface="Courier New"/>
              </a:rPr>
              <a:t> </a:t>
            </a:r>
          </a:p>
          <a:p>
            <a:pPr algn="l"/>
            <a:r>
              <a:rPr sz="1400">
                <a:solidFill>
                  <a:srgbClr val="8B95A7"/>
                </a:solidFill>
                <a:latin typeface="Courier New"/>
              </a:rPr>
              <a:t>// När du inte vill lyssna längre:</a:t>
            </a:r>
          </a:p>
          <a:p>
            <a:pPr algn="l"/>
            <a:r>
              <a:rPr sz="1400">
                <a:solidFill>
                  <a:srgbClr val="E6E9EF"/>
                </a:solidFill>
                <a:latin typeface="Courier New"/>
              </a:rPr>
              <a:t>await unsubscribe();</a:t>
            </a:r>
          </a:p>
        </p:txBody>
      </p:sp>
      <p:sp>
        <p:nvSpPr>
          <p:cNvPr id="5" name="TextBox 4"/>
          <p:cNvSpPr txBox="1"/>
          <p:nvPr/>
        </p:nvSpPr>
        <p:spPr>
          <a:xfrm>
            <a:off x="768096" y="4572000"/>
            <a:ext cx="4937760" cy="1280160"/>
          </a:xfrm>
          <a:prstGeom prst="rect">
            <a:avLst/>
          </a:prstGeom>
          <a:noFill/>
        </p:spPr>
        <p:txBody>
          <a:bodyPr wrap="square" lIns="0" tIns="0" rIns="0" bIns="0" anchor="t">
            <a:spAutoFit/>
          </a:bodyPr>
          <a:lstStyle/>
          <a:p>
            <a:pPr algn="l">
              <a:spcAft>
                <a:spcPts val="800"/>
              </a:spcAft>
            </a:pPr>
            <a:r>
              <a:rPr sz="1600" b="0"/>
              <a:t>Fånga fel: on ClientException catch (e)</a:t>
            </a:r>
          </a:p>
          <a:p>
            <a:pPr algn="l">
              <a:spcAft>
                <a:spcPts val="800"/>
              </a:spcAft>
            </a:pPr>
            <a:r>
              <a:rPr sz="1500" b="0">
                <a:solidFill>
                  <a:srgbClr val="595959"/>
                </a:solidFill>
              </a:rPr>
              <a:t>Realtid följer API-reglerna. Glöm inte unsubscribe – i kapitel 7 görs det i onUnmounted.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skriva data och realtid</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5.1</a:t>
            </a:r>
          </a:p>
        </p:txBody>
      </p:sp>
      <p:sp>
        <p:nvSpPr>
          <p:cNvPr id="5" name="TextBox 4"/>
          <p:cNvSpPr txBox="1"/>
          <p:nvPr/>
        </p:nvSpPr>
        <p:spPr>
          <a:xfrm>
            <a:off x="1636776" y="1691640"/>
            <a:ext cx="9786823" cy="762000"/>
          </a:xfrm>
          <a:prstGeom prst="rect">
            <a:avLst/>
          </a:prstGeom>
          <a:noFill/>
        </p:spPr>
        <p:txBody>
          <a:bodyPr wrap="square" lIns="0" tIns="0" rIns="0" bIns="0" anchor="t">
            <a:spAutoFit/>
          </a:bodyPr>
          <a:lstStyle/>
          <a:p>
            <a:pPr algn="l">
              <a:spcAft>
                <a:spcPts val="800"/>
              </a:spcAft>
            </a:pPr>
            <a:r>
              <a:rPr sz="1700" b="0"/>
              <a:t>Visa kommentarerna på ”Mitt första surdegsbröd” med författarnas namn.</a:t>
            </a:r>
          </a:p>
        </p:txBody>
      </p:sp>
      <p:sp>
        <p:nvSpPr>
          <p:cNvPr id="6" name="TextBox 5"/>
          <p:cNvSpPr txBox="1"/>
          <p:nvPr/>
        </p:nvSpPr>
        <p:spPr>
          <a:xfrm>
            <a:off x="768096" y="2453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5.2</a:t>
            </a:r>
          </a:p>
        </p:txBody>
      </p:sp>
      <p:sp>
        <p:nvSpPr>
          <p:cNvPr id="7" name="TextBox 6"/>
          <p:cNvSpPr txBox="1"/>
          <p:nvPr/>
        </p:nvSpPr>
        <p:spPr>
          <a:xfrm>
            <a:off x="1636776" y="2453640"/>
            <a:ext cx="9786823" cy="762000"/>
          </a:xfrm>
          <a:prstGeom prst="rect">
            <a:avLst/>
          </a:prstGeom>
          <a:noFill/>
        </p:spPr>
        <p:txBody>
          <a:bodyPr wrap="square" lIns="0" tIns="0" rIns="0" bIns="0" anchor="t">
            <a:spAutoFit/>
          </a:bodyPr>
          <a:lstStyle/>
          <a:p>
            <a:pPr algn="l">
              <a:spcAft>
                <a:spcPts val="800"/>
              </a:spcAft>
            </a:pPr>
            <a:r>
              <a:rPr sz="1700" b="0"/>
              <a:t>Skapa, ändra och ta bort ett eget inlägg.</a:t>
            </a:r>
          </a:p>
        </p:txBody>
      </p:sp>
      <p:sp>
        <p:nvSpPr>
          <p:cNvPr id="8" name="TextBox 7"/>
          <p:cNvSpPr txBox="1"/>
          <p:nvPr/>
        </p:nvSpPr>
        <p:spPr>
          <a:xfrm>
            <a:off x="768096" y="3215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5.3</a:t>
            </a:r>
          </a:p>
        </p:txBody>
      </p:sp>
      <p:sp>
        <p:nvSpPr>
          <p:cNvPr id="9" name="TextBox 8"/>
          <p:cNvSpPr txBox="1"/>
          <p:nvPr/>
        </p:nvSpPr>
        <p:spPr>
          <a:xfrm>
            <a:off x="1636776" y="3215640"/>
            <a:ext cx="9786823" cy="762000"/>
          </a:xfrm>
          <a:prstGeom prst="rect">
            <a:avLst/>
          </a:prstGeom>
          <a:noFill/>
        </p:spPr>
        <p:txBody>
          <a:bodyPr wrap="square" lIns="0" tIns="0" rIns="0" bIns="0" anchor="t">
            <a:spAutoFit/>
          </a:bodyPr>
          <a:lstStyle/>
          <a:p>
            <a:pPr algn="l">
              <a:spcAft>
                <a:spcPts val="800"/>
              </a:spcAft>
            </a:pPr>
            <a:r>
              <a:rPr sz="1700" b="0"/>
              <a:t>Försök skapa ett inlägg som Bertil när du är Anna. Vad svarar servern?</a:t>
            </a:r>
          </a:p>
        </p:txBody>
      </p:sp>
      <p:sp>
        <p:nvSpPr>
          <p:cNvPr id="10" name="TextBox 9"/>
          <p:cNvSpPr txBox="1"/>
          <p:nvPr/>
        </p:nvSpPr>
        <p:spPr>
          <a:xfrm>
            <a:off x="768096" y="3977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5.4</a:t>
            </a:r>
          </a:p>
        </p:txBody>
      </p:sp>
      <p:sp>
        <p:nvSpPr>
          <p:cNvPr id="11" name="TextBox 10"/>
          <p:cNvSpPr txBox="1"/>
          <p:nvPr/>
        </p:nvSpPr>
        <p:spPr>
          <a:xfrm>
            <a:off x="1636776" y="3977640"/>
            <a:ext cx="9786823" cy="762000"/>
          </a:xfrm>
          <a:prstGeom prst="rect">
            <a:avLst/>
          </a:prstGeom>
          <a:noFill/>
        </p:spPr>
        <p:txBody>
          <a:bodyPr wrap="square" lIns="0" tIns="0" rIns="0" bIns="0" anchor="t">
            <a:spAutoFit/>
          </a:bodyPr>
          <a:lstStyle/>
          <a:p>
            <a:pPr algn="l">
              <a:spcAft>
                <a:spcPts val="800"/>
              </a:spcAft>
            </a:pPr>
            <a:r>
              <a:rPr sz="1700" b="0"/>
              <a:t>Gilla samma inlägg två gånger (400), sluta gilla och gilla igen.</a:t>
            </a:r>
          </a:p>
        </p:txBody>
      </p:sp>
      <p:sp>
        <p:nvSpPr>
          <p:cNvPr id="12" name="TextBox 11"/>
          <p:cNvSpPr txBox="1"/>
          <p:nvPr/>
        </p:nvSpPr>
        <p:spPr>
          <a:xfrm>
            <a:off x="768096" y="4739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5.5</a:t>
            </a:r>
          </a:p>
        </p:txBody>
      </p:sp>
      <p:sp>
        <p:nvSpPr>
          <p:cNvPr id="13" name="TextBox 12"/>
          <p:cNvSpPr txBox="1"/>
          <p:nvPr/>
        </p:nvSpPr>
        <p:spPr>
          <a:xfrm>
            <a:off x="1636776" y="4739640"/>
            <a:ext cx="9786823" cy="762000"/>
          </a:xfrm>
          <a:prstGeom prst="rect">
            <a:avLst/>
          </a:prstGeom>
          <a:noFill/>
        </p:spPr>
        <p:txBody>
          <a:bodyPr wrap="square" lIns="0" tIns="0" rIns="0" bIns="0" anchor="t">
            <a:spAutoFit/>
          </a:bodyPr>
          <a:lstStyle/>
          <a:p>
            <a:pPr algn="l">
              <a:spcAft>
                <a:spcPts val="800"/>
              </a:spcAft>
            </a:pPr>
            <a:r>
              <a:rPr sz="1700" b="0"/>
              <a:t>Räkna följare och hur många en användare följer (totalItems).</a:t>
            </a:r>
          </a:p>
        </p:txBody>
      </p:sp>
      <p:sp>
        <p:nvSpPr>
          <p:cNvPr id="14" name="TextBox 13"/>
          <p:cNvSpPr txBox="1"/>
          <p:nvPr/>
        </p:nvSpPr>
        <p:spPr>
          <a:xfrm>
            <a:off x="768096" y="5501640"/>
            <a:ext cx="822960" cy="762000"/>
          </a:xfrm>
          <a:prstGeom prst="rect">
            <a:avLst/>
          </a:prstGeom>
          <a:noFill/>
        </p:spPr>
        <p:txBody>
          <a:bodyPr wrap="square" lIns="0" tIns="0" rIns="0" bIns="0" anchor="t">
            <a:spAutoFit/>
          </a:bodyPr>
          <a:lstStyle/>
          <a:p>
            <a:pPr algn="l">
              <a:spcAft>
                <a:spcPts val="800"/>
              </a:spcAft>
            </a:pPr>
            <a:r>
              <a:rPr sz="1700" b="1">
                <a:solidFill>
                  <a:srgbClr val="8A5A00"/>
                </a:solidFill>
              </a:rPr>
              <a:t>5.6</a:t>
            </a:r>
          </a:p>
        </p:txBody>
      </p:sp>
      <p:sp>
        <p:nvSpPr>
          <p:cNvPr id="15" name="TextBox 14"/>
          <p:cNvSpPr txBox="1"/>
          <p:nvPr/>
        </p:nvSpPr>
        <p:spPr>
          <a:xfrm>
            <a:off x="1636776" y="5501640"/>
            <a:ext cx="9786823" cy="762000"/>
          </a:xfrm>
          <a:prstGeom prst="rect">
            <a:avLst/>
          </a:prstGeom>
          <a:noFill/>
        </p:spPr>
        <p:txBody>
          <a:bodyPr wrap="square" lIns="0" tIns="0" rIns="0" bIns="0" anchor="t">
            <a:spAutoFit/>
          </a:bodyPr>
          <a:lstStyle/>
          <a:p>
            <a:pPr algn="l">
              <a:spcAft>
                <a:spcPts val="800"/>
              </a:spcAft>
            </a:pPr>
            <a:r>
              <a:rPr sz="1700" b="0"/>
              <a:t>Lyssna på realtid och ändra kommentarer i Dashboard.</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Provide och inject</a:t>
            </a:r>
          </a:p>
        </p:txBody>
      </p:sp>
      <p:sp>
        <p:nvSpPr>
          <p:cNvPr id="3" name="Rounded Rectangle 2"/>
          <p:cNvSpPr/>
          <p:nvPr/>
        </p:nvSpPr>
        <p:spPr>
          <a:xfrm>
            <a:off x="768096" y="1691640"/>
            <a:ext cx="5120640" cy="210312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Prop drilling</a:t>
            </a:r>
          </a:p>
          <a:p>
            <a:pPr algn="l"/>
            <a:r>
              <a:rPr sz="1400">
                <a:solidFill>
                  <a:srgbClr val="E6E9EF"/>
                </a:solidFill>
                <a:latin typeface="Courier New"/>
              </a:rPr>
              <a:t>KvittraApp(pb, auth)</a:t>
            </a:r>
          </a:p>
          <a:p>
            <a:pPr algn="l"/>
            <a:r>
              <a:rPr sz="1400">
                <a:solidFill>
                  <a:srgbClr val="E6E9EF"/>
                </a:solidFill>
                <a:latin typeface="Courier New"/>
              </a:rPr>
              <a:t>  └─ FeedPage(pb, auth)</a:t>
            </a:r>
          </a:p>
          <a:p>
            <a:pPr algn="l"/>
            <a:r>
              <a:rPr sz="1400">
                <a:solidFill>
                  <a:srgbClr val="E6E9EF"/>
                </a:solidFill>
                <a:latin typeface="Courier New"/>
              </a:rPr>
              <a:t>       └─ PostList(pb, auth)</a:t>
            </a:r>
          </a:p>
          <a:p>
            <a:pPr algn="l"/>
            <a:r>
              <a:rPr sz="1400">
                <a:solidFill>
                  <a:srgbClr val="E6E9EF"/>
                </a:solidFill>
                <a:latin typeface="Courier New"/>
              </a:rPr>
              <a:t>            └─ PostCard(pb, auth) ← här!</a:t>
            </a:r>
          </a:p>
        </p:txBody>
      </p:sp>
      <p:sp>
        <p:nvSpPr>
          <p:cNvPr id="4" name="Rounded Rectangle 3"/>
          <p:cNvSpPr/>
          <p:nvPr/>
        </p:nvSpPr>
        <p:spPr>
          <a:xfrm>
            <a:off x="6217920" y="1691640"/>
            <a:ext cx="5212080" cy="320040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lib/services/keys.dart</a:t>
            </a:r>
          </a:p>
          <a:p>
            <a:pPr algn="l"/>
            <a:r>
              <a:rPr sz="1300">
                <a:solidFill>
                  <a:srgbClr val="E6E9EF"/>
                </a:solidFill>
                <a:latin typeface="Courier New"/>
              </a:rPr>
              <a:t>const pocketBaseKey =</a:t>
            </a:r>
          </a:p>
          <a:p>
            <a:pPr algn="l"/>
            <a:r>
              <a:rPr sz="1300">
                <a:solidFill>
                  <a:srgbClr val="E6E9EF"/>
                </a:solidFill>
                <a:latin typeface="Courier New"/>
              </a:rPr>
              <a:t>    InjectionKey&lt;PocketBase&gt;('pocketBase');</a:t>
            </a:r>
          </a:p>
          <a:p>
            <a:pPr algn="l"/>
            <a:r>
              <a:rPr sz="1300">
                <a:solidFill>
                  <a:srgbClr val="E6E9EF"/>
                </a:solidFill>
                <a:latin typeface="Courier New"/>
              </a:rPr>
              <a:t>const authKey =</a:t>
            </a:r>
          </a:p>
          <a:p>
            <a:pPr algn="l"/>
            <a:r>
              <a:rPr sz="1300">
                <a:solidFill>
                  <a:srgbClr val="E6E9EF"/>
                </a:solidFill>
                <a:latin typeface="Courier New"/>
              </a:rPr>
              <a:t>    InjectionKey&lt;AuthService&gt;('auth');</a:t>
            </a:r>
          </a:p>
          <a:p>
            <a:pPr algn="l"/>
            <a:r>
              <a:rPr sz="1300">
                <a:solidFill>
                  <a:srgbClr val="E6E9EF"/>
                </a:solidFill>
                <a:latin typeface="Courier New"/>
              </a:rPr>
              <a:t> </a:t>
            </a:r>
          </a:p>
          <a:p>
            <a:pPr algn="l"/>
            <a:r>
              <a:rPr sz="1300">
                <a:solidFill>
                  <a:srgbClr val="8B95A7"/>
                </a:solidFill>
                <a:latin typeface="Courier New"/>
              </a:rPr>
              <a:t>// Högt upp, i setup():</a:t>
            </a:r>
          </a:p>
          <a:p>
            <a:pPr algn="l"/>
            <a:r>
              <a:rPr sz="1300">
                <a:solidFill>
                  <a:srgbClr val="E6E9EF"/>
                </a:solidFill>
                <a:latin typeface="Courier New"/>
              </a:rPr>
              <a:t>provide(pocketBaseKey, pb);</a:t>
            </a:r>
          </a:p>
          <a:p>
            <a:pPr algn="l"/>
            <a:r>
              <a:rPr sz="1300">
                <a:solidFill>
                  <a:srgbClr val="E6E9EF"/>
                </a:solidFill>
                <a:latin typeface="Courier New"/>
              </a:rPr>
              <a:t> </a:t>
            </a:r>
          </a:p>
          <a:p>
            <a:pPr algn="l"/>
            <a:r>
              <a:rPr sz="1300">
                <a:solidFill>
                  <a:srgbClr val="8B95A7"/>
                </a:solidFill>
                <a:latin typeface="Courier New"/>
              </a:rPr>
              <a:t>// Längre ner, i en annan setup():</a:t>
            </a:r>
          </a:p>
          <a:p>
            <a:pPr algn="l"/>
            <a:r>
              <a:rPr sz="1300">
                <a:solidFill>
                  <a:srgbClr val="E6E9EF"/>
                </a:solidFill>
                <a:latin typeface="Courier New"/>
              </a:rPr>
              <a:t>final pb = inject(pocketBaseKey);</a:t>
            </a:r>
          </a:p>
        </p:txBody>
      </p:sp>
      <p:sp>
        <p:nvSpPr>
          <p:cNvPr id="5" name="TextBox 4"/>
          <p:cNvSpPr txBox="1"/>
          <p:nvPr/>
        </p:nvSpPr>
        <p:spPr>
          <a:xfrm>
            <a:off x="768096" y="4023360"/>
            <a:ext cx="5120640" cy="1828800"/>
          </a:xfrm>
          <a:prstGeom prst="rect">
            <a:avLst/>
          </a:prstGeom>
          <a:noFill/>
        </p:spPr>
        <p:txBody>
          <a:bodyPr wrap="square" lIns="0" tIns="0" rIns="0" bIns="0" anchor="t">
            <a:spAutoFit/>
          </a:bodyPr>
          <a:lstStyle/>
          <a:p>
            <a:pPr algn="l">
              <a:spcAft>
                <a:spcPts val="800"/>
              </a:spcAft>
            </a:pPr>
            <a:r>
              <a:rPr sz="1700" b="0"/>
              <a:t>En widget högt upp lägger fram (provide), vilken widget som helst längre ner hämtar (inject).</a:t>
            </a:r>
          </a:p>
          <a:p>
            <a:pPr algn="l">
              <a:spcAft>
                <a:spcPts val="800"/>
              </a:spcAft>
            </a:pPr>
            <a:r>
              <a:rPr sz="1500" b="0">
                <a:solidFill>
                  <a:srgbClr val="595959"/>
                </a:solidFill>
              </a:rPr>
              <a:t>⚠️ Bara direkt i setup(). Närmaste provide vinner.</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 reaktiv AuthService</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En vanlig klass – ref och computed fungerar där också</a:t>
            </a:r>
          </a:p>
          <a:p>
            <a:pPr marL="365760" indent="-274320">
              <a:spcAft>
                <a:spcPts val="800"/>
              </a:spcAft>
              <a:buChar char="•"/>
            </a:pPr>
            <a:r>
              <a:rPr sz="2000"/>
              <a:t>authStore.onChange uppdaterar user</a:t>
            </a:r>
          </a:p>
          <a:p>
            <a:pPr marL="365760" indent="-274320">
              <a:spcAft>
                <a:spcPts val="800"/>
              </a:spcAft>
              <a:buChar char="•"/>
            </a:pPr>
            <a:r>
              <a:rPr sz="2000"/>
              <a:t>isLoggedIn är en computed</a:t>
            </a:r>
          </a:p>
          <a:p>
            <a:pPr marL="365760" indent="-274320">
              <a:spcAft>
                <a:spcPts val="800"/>
              </a:spcAft>
              <a:buChar char="•"/>
            </a:pPr>
            <a:r>
              <a:rPr sz="2000"/>
              <a:t>myId läser med .raw (bevakas inte)</a:t>
            </a:r>
          </a:p>
          <a:p>
            <a:pPr marL="365760" indent="-274320">
              <a:spcAft>
                <a:spcPts val="800"/>
              </a:spcAft>
              <a:buChar char="•"/>
            </a:pPr>
            <a:r>
              <a:rPr sz="2000"/>
              <a:t>Döp den inte till AuthStore – namnkrock med pocketbase</a:t>
            </a:r>
          </a:p>
        </p:txBody>
      </p:sp>
      <p:sp>
        <p:nvSpPr>
          <p:cNvPr id="4" name="Rounded Rectangle 3"/>
          <p:cNvSpPr/>
          <p:nvPr/>
        </p:nvSpPr>
        <p:spPr>
          <a:xfrm>
            <a:off x="5577840" y="1737360"/>
            <a:ext cx="6120079" cy="45872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lib/services/auth_service.dart</a:t>
            </a:r>
          </a:p>
          <a:p>
            <a:pPr algn="l"/>
            <a:r>
              <a:rPr sz="1200">
                <a:solidFill>
                  <a:srgbClr val="E6E9EF"/>
                </a:solidFill>
                <a:latin typeface="Courier New"/>
              </a:rPr>
              <a:t>class AuthService {</a:t>
            </a:r>
          </a:p>
          <a:p>
            <a:pPr algn="l"/>
            <a:r>
              <a:rPr sz="1200">
                <a:solidFill>
                  <a:srgbClr val="E6E9EF"/>
                </a:solidFill>
                <a:latin typeface="Courier New"/>
              </a:rPr>
              <a:t>  AuthService(this.pb) {</a:t>
            </a:r>
          </a:p>
          <a:p>
            <a:pPr algn="l"/>
            <a:r>
              <a:rPr sz="1200">
                <a:solidFill>
                  <a:srgbClr val="E6E9EF"/>
                </a:solidFill>
                <a:latin typeface="Courier New"/>
              </a:rPr>
              <a:t>    _update();</a:t>
            </a:r>
          </a:p>
          <a:p>
            <a:pPr algn="l"/>
            <a:r>
              <a:rPr sz="1200">
                <a:solidFill>
                  <a:srgbClr val="E6E9EF"/>
                </a:solidFill>
                <a:latin typeface="Courier New"/>
              </a:rPr>
              <a:t>    pb.authStore.onChange</a:t>
            </a:r>
          </a:p>
          <a:p>
            <a:pPr algn="l"/>
            <a:r>
              <a:rPr sz="1200">
                <a:solidFill>
                  <a:srgbClr val="E6E9EF"/>
                </a:solidFill>
                <a:latin typeface="Courier New"/>
              </a:rPr>
              <a:t>        .listen((_) =&gt; _update());</a:t>
            </a:r>
          </a:p>
          <a:p>
            <a:pPr algn="l"/>
            <a:r>
              <a:rPr sz="1200">
                <a:solidFill>
                  <a:srgbClr val="E6E9EF"/>
                </a:solidFill>
                <a:latin typeface="Courier New"/>
              </a:rPr>
              <a:t>  }</a:t>
            </a:r>
          </a:p>
          <a:p>
            <a:pPr algn="l"/>
            <a:r>
              <a:rPr sz="1200">
                <a:solidFill>
                  <a:srgbClr val="E6E9EF"/>
                </a:solidFill>
                <a:latin typeface="Courier New"/>
              </a:rPr>
              <a:t>  final PocketBase pb;</a:t>
            </a:r>
          </a:p>
          <a:p>
            <a:pPr algn="l"/>
            <a:r>
              <a:rPr sz="1200">
                <a:solidFill>
                  <a:srgbClr val="E6E9EF"/>
                </a:solidFill>
                <a:latin typeface="Courier New"/>
              </a:rPr>
              <a:t>  final user = ref&lt;RecordModel?&gt;(null);</a:t>
            </a:r>
          </a:p>
          <a:p>
            <a:pPr algn="l"/>
            <a:r>
              <a:rPr sz="1200">
                <a:solidFill>
                  <a:srgbClr val="E6E9EF"/>
                </a:solidFill>
                <a:latin typeface="Courier New"/>
              </a:rPr>
              <a:t>  late final isLoggedIn =</a:t>
            </a:r>
          </a:p>
          <a:p>
            <a:pPr algn="l"/>
            <a:r>
              <a:rPr sz="1200">
                <a:solidFill>
                  <a:srgbClr val="E6E9EF"/>
                </a:solidFill>
                <a:latin typeface="Courier New"/>
              </a:rPr>
              <a:t>      computed(() =&gt; user.value != null);</a:t>
            </a:r>
          </a:p>
          <a:p>
            <a:pPr algn="l"/>
            <a:r>
              <a:rPr sz="1200">
                <a:solidFill>
                  <a:srgbClr val="E6E9EF"/>
                </a:solidFill>
                <a:latin typeface="Courier New"/>
              </a:rPr>
              <a:t>  String get myId =&gt; user.raw?.id ?? '';</a:t>
            </a:r>
          </a:p>
          <a:p>
            <a:pPr algn="l"/>
            <a:r>
              <a:rPr sz="1200">
                <a:solidFill>
                  <a:srgbClr val="E6E9EF"/>
                </a:solidFill>
                <a:latin typeface="Courier New"/>
              </a:rPr>
              <a:t> </a:t>
            </a:r>
          </a:p>
          <a:p>
            <a:pPr algn="l"/>
            <a:r>
              <a:rPr sz="1200">
                <a:solidFill>
                  <a:srgbClr val="E6E9EF"/>
                </a:solidFill>
                <a:latin typeface="Courier New"/>
              </a:rPr>
              <a:t>  void _update() =&gt; user.value =</a:t>
            </a:r>
          </a:p>
          <a:p>
            <a:pPr algn="l"/>
            <a:r>
              <a:rPr sz="1200">
                <a:solidFill>
                  <a:srgbClr val="E6E9EF"/>
                </a:solidFill>
                <a:latin typeface="Courier New"/>
              </a:rPr>
              <a:t>      pb.authStore.isValid</a:t>
            </a:r>
          </a:p>
          <a:p>
            <a:pPr algn="l"/>
            <a:r>
              <a:rPr sz="1200">
                <a:solidFill>
                  <a:srgbClr val="E6E9EF"/>
                </a:solidFill>
                <a:latin typeface="Courier New"/>
              </a:rPr>
              <a:t>          ? pb.authStore.record : null;</a:t>
            </a:r>
          </a:p>
          <a:p>
            <a:pPr algn="l"/>
            <a:r>
              <a:rPr sz="1200">
                <a:solidFill>
                  <a:srgbClr val="E6E9EF"/>
                </a:solidFill>
                <a:latin typeface="Courier New"/>
              </a:rPr>
              <a:t>  Future&lt;void&gt; login(String e, String p) =&gt;</a:t>
            </a:r>
          </a:p>
          <a:p>
            <a:pPr algn="l"/>
            <a:r>
              <a:rPr sz="1200">
                <a:solidFill>
                  <a:srgbClr val="E6E9EF"/>
                </a:solidFill>
                <a:latin typeface="Courier New"/>
              </a:rPr>
              <a:t>      pb.collection('users')</a:t>
            </a:r>
          </a:p>
          <a:p>
            <a:pPr algn="l"/>
            <a:r>
              <a:rPr sz="1200">
                <a:solidFill>
                  <a:srgbClr val="E6E9EF"/>
                </a:solidFill>
                <a:latin typeface="Courier New"/>
              </a:rPr>
              <a:t>          .authWithPassword(e, p);</a:t>
            </a:r>
          </a:p>
          <a:p>
            <a:pPr algn="l"/>
            <a:r>
              <a:rPr sz="1200">
                <a:solidFill>
                  <a:srgbClr val="E6E9EF"/>
                </a:solidFill>
                <a:latin typeface="Courier New"/>
              </a:rPr>
              <a:t>  void logout() =&gt; pb.authStore.clear();</a:t>
            </a:r>
          </a:p>
          <a:p>
            <a:pPr algn="l"/>
            <a:r>
              <a:rPr sz="1200">
                <a:solidFill>
                  <a:srgbClr val="E6E9EF"/>
                </a:solidFill>
                <a:latin typeface="Courier New"/>
              </a:rPr>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Appens rot</a:t>
            </a:r>
          </a:p>
        </p:txBody>
      </p:sp>
      <p:sp>
        <p:nvSpPr>
          <p:cNvPr id="3" name="TextBox 2"/>
          <p:cNvSpPr txBox="1"/>
          <p:nvPr/>
        </p:nvSpPr>
        <p:spPr>
          <a:xfrm>
            <a:off x="768096" y="1691640"/>
            <a:ext cx="4169664" cy="4572000"/>
          </a:xfrm>
          <a:prstGeom prst="rect">
            <a:avLst/>
          </a:prstGeom>
          <a:noFill/>
        </p:spPr>
        <p:txBody>
          <a:bodyPr wrap="square" lIns="0" tIns="0" rIns="0" bIns="0">
            <a:spAutoFit/>
          </a:bodyPr>
          <a:lstStyle/>
          <a:p>
            <a:pPr marL="365760" indent="-274320">
              <a:spcAft>
                <a:spcPts val="800"/>
              </a:spcAft>
              <a:buChar char="•"/>
            </a:pPr>
            <a:r>
              <a:rPr sz="2000"/>
              <a:t>Skapa PocketBase och AuthService en gång</a:t>
            </a:r>
          </a:p>
          <a:p>
            <a:pPr marL="365760" indent="-274320">
              <a:spcAft>
                <a:spcPts val="800"/>
              </a:spcAft>
              <a:buChar char="•"/>
            </a:pPr>
            <a:r>
              <a:rPr sz="2000"/>
              <a:t>provide båda i roten</a:t>
            </a:r>
          </a:p>
          <a:p>
            <a:pPr marL="365760" indent="-274320">
              <a:spcAft>
                <a:spcPts val="800"/>
              </a:spcAft>
              <a:buChar char="•"/>
            </a:pPr>
            <a:r>
              <a:rPr sz="2000"/>
              <a:t>Builder läser isLoggedIn.value</a:t>
            </a:r>
          </a:p>
          <a:p>
            <a:pPr marL="365760" indent="-274320">
              <a:spcAft>
                <a:spcPts val="800"/>
              </a:spcAft>
              <a:buChar char="•"/>
            </a:pPr>
            <a:r>
              <a:rPr sz="2000"/>
              <a:t>Loggar man in eller ut ritas appen om</a:t>
            </a:r>
          </a:p>
          <a:p>
            <a:pPr marL="365760" indent="-274320">
              <a:spcAft>
                <a:spcPts val="800"/>
              </a:spcAft>
              <a:buChar char="•"/>
            </a:pPr>
            <a:r>
              <a:rPr sz="2000"/>
              <a:t>Ingen sida behöver navigera själv</a:t>
            </a:r>
          </a:p>
        </p:txBody>
      </p:sp>
      <p:sp>
        <p:nvSpPr>
          <p:cNvPr id="4" name="Rounded Rectangle 3"/>
          <p:cNvSpPr/>
          <p:nvPr/>
        </p:nvSpPr>
        <p:spPr>
          <a:xfrm>
            <a:off x="5212080" y="1737360"/>
            <a:ext cx="6485839" cy="40157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lib/main.dart</a:t>
            </a:r>
          </a:p>
          <a:p>
            <a:pPr algn="l"/>
            <a:r>
              <a:rPr sz="1200">
                <a:solidFill>
                  <a:srgbClr val="E6E9EF"/>
                </a:solidFill>
                <a:latin typeface="Courier New"/>
              </a:rPr>
              <a:t>class KvittraApp extends CompositionWidget {</a:t>
            </a:r>
          </a:p>
          <a:p>
            <a:pPr algn="l"/>
            <a:r>
              <a:rPr sz="1200">
                <a:solidFill>
                  <a:srgbClr val="E6E9EF"/>
                </a:solidFill>
                <a:latin typeface="Courier New"/>
              </a:rPr>
              <a:t>  const KvittraApp({super.key});</a:t>
            </a:r>
          </a:p>
          <a:p>
            <a:pPr algn="l"/>
            <a:r>
              <a:rPr sz="1200">
                <a:solidFill>
                  <a:srgbClr val="E6E9EF"/>
                </a:solidFill>
                <a:latin typeface="Courier New"/>
              </a:rPr>
              <a:t> </a:t>
            </a:r>
          </a:p>
          <a:p>
            <a:pPr algn="l"/>
            <a:r>
              <a:rPr sz="1200">
                <a:solidFill>
                  <a:srgbClr val="E6E9EF"/>
                </a:solidFill>
                <a:latin typeface="Courier New"/>
              </a:rPr>
              <a:t>  @override</a:t>
            </a:r>
          </a:p>
          <a:p>
            <a:pPr algn="l"/>
            <a:r>
              <a:rPr sz="1200">
                <a:solidFill>
                  <a:srgbClr val="E6E9EF"/>
                </a:solidFill>
                <a:latin typeface="Courier New"/>
              </a:rPr>
              <a:t>  Widget Function(BuildContext) setup() {</a:t>
            </a:r>
          </a:p>
          <a:p>
            <a:pPr algn="l"/>
            <a:r>
              <a:rPr sz="1200">
                <a:solidFill>
                  <a:srgbClr val="E6E9EF"/>
                </a:solidFill>
                <a:latin typeface="Courier New"/>
              </a:rPr>
              <a:t>    final pb = PocketBase('http://127.0.0.1:8090');</a:t>
            </a:r>
          </a:p>
          <a:p>
            <a:pPr algn="l"/>
            <a:r>
              <a:rPr sz="1200">
                <a:solidFill>
                  <a:srgbClr val="E6E9EF"/>
                </a:solidFill>
                <a:latin typeface="Courier New"/>
              </a:rPr>
              <a:t>    final auth = AuthService(pb);</a:t>
            </a:r>
          </a:p>
          <a:p>
            <a:pPr algn="l"/>
            <a:r>
              <a:rPr sz="1200">
                <a:solidFill>
                  <a:srgbClr val="E6E9EF"/>
                </a:solidFill>
                <a:latin typeface="Courier New"/>
              </a:rPr>
              <a:t>    provide(pocketBaseKey, pb);</a:t>
            </a:r>
          </a:p>
          <a:p>
            <a:pPr algn="l"/>
            <a:r>
              <a:rPr sz="1200">
                <a:solidFill>
                  <a:srgbClr val="E6E9EF"/>
                </a:solidFill>
                <a:latin typeface="Courier New"/>
              </a:rPr>
              <a:t>    provide(authKey, auth);</a:t>
            </a:r>
          </a:p>
          <a:p>
            <a:pPr algn="l"/>
            <a:r>
              <a:rPr sz="1200">
                <a:solidFill>
                  <a:srgbClr val="E6E9EF"/>
                </a:solidFill>
                <a:latin typeface="Courier New"/>
              </a:rPr>
              <a:t> </a:t>
            </a:r>
          </a:p>
          <a:p>
            <a:pPr algn="l"/>
            <a:r>
              <a:rPr sz="1200">
                <a:solidFill>
                  <a:srgbClr val="E6E9EF"/>
                </a:solidFill>
                <a:latin typeface="Courier New"/>
              </a:rPr>
              <a:t>    return (context) =&gt; MaterialApp(</a:t>
            </a:r>
          </a:p>
          <a:p>
            <a:pPr algn="l"/>
            <a:r>
              <a:rPr sz="1200">
                <a:solidFill>
                  <a:srgbClr val="E6E9EF"/>
                </a:solidFill>
                <a:latin typeface="Courier New"/>
              </a:rPr>
              <a:t>      home: auth.isLoggedIn.value</a:t>
            </a:r>
          </a:p>
          <a:p>
            <a:pPr algn="l"/>
            <a:r>
              <a:rPr sz="1200">
                <a:solidFill>
                  <a:srgbClr val="E6E9EF"/>
                </a:solidFill>
                <a:latin typeface="Courier New"/>
              </a:rPr>
              <a:t>          ? const HomePage()</a:t>
            </a:r>
          </a:p>
          <a:p>
            <a:pPr algn="l"/>
            <a:r>
              <a:rPr sz="1200">
                <a:solidFill>
                  <a:srgbClr val="E6E9EF"/>
                </a:solidFill>
                <a:latin typeface="Courier New"/>
              </a:rPr>
              <a:t>          : const LoginPage(),</a:t>
            </a:r>
          </a:p>
          <a:p>
            <a:pPr algn="l"/>
            <a:r>
              <a:rPr sz="1200">
                <a:solidFill>
                  <a:srgbClr val="E6E9EF"/>
                </a:solidFill>
                <a:latin typeface="Courier New"/>
              </a:rPr>
              <a:t>    );</a:t>
            </a:r>
          </a:p>
          <a:p>
            <a:pPr algn="l"/>
            <a:r>
              <a:rPr sz="1200">
                <a:solidFill>
                  <a:srgbClr val="E6E9EF"/>
                </a:solidFill>
                <a:latin typeface="Courier New"/>
              </a:rPr>
              <a:t>  }</a:t>
            </a:r>
          </a:p>
          <a:p>
            <a:pPr algn="l"/>
            <a:r>
              <a:rPr sz="1200">
                <a:solidFill>
                  <a:srgbClr val="E6E9EF"/>
                </a:solidFill>
                <a:latin typeface="Courier New"/>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provide och inject</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6.1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En delad räknare (Ref) som två widgets hämtar med inject.</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6.2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KvittraApp med LoginPage, LogoutButton och HomePage.</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6.3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En WhoAmI-widget som visar ”@anna”.</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6.4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inject utan provide. Vilket fel får du?</a:t>
            </a:r>
          </a:p>
        </p:txBody>
      </p:sp>
      <p:sp>
        <p:nvSpPr>
          <p:cNvPr id="12" name="TextBox 11"/>
          <p:cNvSpPr txBox="1"/>
          <p:nvPr/>
        </p:nvSpPr>
        <p:spPr>
          <a:xfrm>
            <a:off x="768096" y="480060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6.5</a:t>
            </a:r>
          </a:p>
        </p:txBody>
      </p:sp>
      <p:sp>
        <p:nvSpPr>
          <p:cNvPr id="13" name="TextBox 12"/>
          <p:cNvSpPr txBox="1"/>
          <p:nvPr/>
        </p:nvSpPr>
        <p:spPr>
          <a:xfrm>
            <a:off x="1636776" y="4800600"/>
            <a:ext cx="9786823" cy="777240"/>
          </a:xfrm>
          <a:prstGeom prst="rect">
            <a:avLst/>
          </a:prstGeom>
          <a:noFill/>
        </p:spPr>
        <p:txBody>
          <a:bodyPr wrap="square" lIns="0" tIns="0" rIns="0" bIns="0" anchor="t">
            <a:spAutoFit/>
          </a:bodyPr>
          <a:lstStyle/>
          <a:p>
            <a:pPr algn="l">
              <a:spcAft>
                <a:spcPts val="800"/>
              </a:spcAft>
            </a:pPr>
            <a:r>
              <a:rPr sz="1700" b="0"/>
              <a:t>Mörkt läge med en Ref&lt;ThemeMode&gt; som läggs fram i roten.</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AsyncValue – fyra lägen</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AsyncIdle – har inte börjat</a:t>
            </a:r>
          </a:p>
          <a:p>
            <a:pPr marL="365760" indent="-274320">
              <a:spcAft>
                <a:spcPts val="800"/>
              </a:spcAft>
              <a:buChar char="•"/>
            </a:pPr>
            <a:r>
              <a:rPr sz="2000"/>
              <a:t>AsyncLoading – väntar på svar</a:t>
            </a:r>
          </a:p>
          <a:p>
            <a:pPr marL="365760" indent="-274320">
              <a:spcAft>
                <a:spcPts val="800"/>
              </a:spcAft>
              <a:buChar char="•"/>
            </a:pPr>
            <a:r>
              <a:rPr sz="2000"/>
              <a:t>AsyncData – klart, datan i value</a:t>
            </a:r>
          </a:p>
          <a:p>
            <a:pPr marL="365760" indent="-274320">
              <a:spcAft>
                <a:spcPts val="800"/>
              </a:spcAft>
              <a:buChar char="•"/>
            </a:pPr>
            <a:r>
              <a:rPr sz="2000"/>
              <a:t>AsyncError – fel, felet i errorValue</a:t>
            </a:r>
          </a:p>
          <a:p>
            <a:pPr marL="365760" indent="-274320">
              <a:spcAft>
                <a:spcPts val="800"/>
              </a:spcAft>
              <a:buChar char="•"/>
            </a:pPr>
            <a:r>
              <a:rPr sz="2000"/>
              <a:t>Välj vad som visas med switch</a:t>
            </a:r>
          </a:p>
          <a:p>
            <a:pPr marL="365760" indent="-274320">
              <a:spcAft>
                <a:spcPts val="800"/>
              </a:spcAft>
              <a:buChar char="•"/>
            </a:pPr>
            <a:r>
              <a:rPr sz="2000"/>
              <a:t>useFuture hämtar en gång</a:t>
            </a:r>
          </a:p>
        </p:txBody>
      </p:sp>
      <p:sp>
        <p:nvSpPr>
          <p:cNvPr id="4" name="Rounded Rectangle 3"/>
          <p:cNvSpPr/>
          <p:nvPr/>
        </p:nvSpPr>
        <p:spPr>
          <a:xfrm>
            <a:off x="5577840" y="1737360"/>
            <a:ext cx="6120079" cy="3460114"/>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Dart</a:t>
            </a:r>
          </a:p>
          <a:p>
            <a:pPr algn="l"/>
            <a:r>
              <a:rPr sz="1300">
                <a:solidFill>
                  <a:srgbClr val="E6E9EF"/>
                </a:solidFill>
                <a:latin typeface="Courier New"/>
              </a:rPr>
              <a:t>final pb = inject(pocketBaseKey);</a:t>
            </a:r>
          </a:p>
          <a:p>
            <a:pPr algn="l"/>
            <a:r>
              <a:rPr sz="1300">
                <a:solidFill>
                  <a:srgbClr val="E6E9EF"/>
                </a:solidFill>
                <a:latin typeface="Courier New"/>
              </a:rPr>
              <a:t>final posts = useFuture(() =&gt; pb</a:t>
            </a:r>
          </a:p>
          <a:p>
            <a:pPr algn="l"/>
            <a:r>
              <a:rPr sz="1300">
                <a:solidFill>
                  <a:srgbClr val="E6E9EF"/>
                </a:solidFill>
                <a:latin typeface="Courier New"/>
              </a:rPr>
              <a:t>    .collection('posts').getFullList(</a:t>
            </a:r>
          </a:p>
          <a:p>
            <a:pPr algn="l"/>
            <a:r>
              <a:rPr sz="1300">
                <a:solidFill>
                  <a:srgbClr val="E6E9EF"/>
                </a:solidFill>
                <a:latin typeface="Courier New"/>
              </a:rPr>
              <a:t>      sort: '-created', expand: 'author'));</a:t>
            </a:r>
          </a:p>
          <a:p>
            <a:pPr algn="l"/>
            <a:r>
              <a:rPr sz="1300">
                <a:solidFill>
                  <a:srgbClr val="E6E9EF"/>
                </a:solidFill>
                <a:latin typeface="Courier New"/>
              </a:rPr>
              <a:t> </a:t>
            </a:r>
          </a:p>
          <a:p>
            <a:pPr algn="l"/>
            <a:r>
              <a:rPr sz="1300">
                <a:solidFill>
                  <a:srgbClr val="E6E9EF"/>
                </a:solidFill>
                <a:latin typeface="Courier New"/>
              </a:rPr>
              <a:t>return (context) =&gt; switch (posts.value) {</a:t>
            </a:r>
          </a:p>
          <a:p>
            <a:pPr algn="l"/>
            <a:r>
              <a:rPr sz="1300">
                <a:solidFill>
                  <a:srgbClr val="E6E9EF"/>
                </a:solidFill>
                <a:latin typeface="Courier New"/>
              </a:rPr>
              <a:t>  AsyncIdle() || AsyncLoading() =&gt;</a:t>
            </a:r>
          </a:p>
          <a:p>
            <a:pPr algn="l"/>
            <a:r>
              <a:rPr sz="1300">
                <a:solidFill>
                  <a:srgbClr val="E6E9EF"/>
                </a:solidFill>
                <a:latin typeface="Courier New"/>
              </a:rPr>
              <a:t>      const CircularProgressIndicator(),</a:t>
            </a:r>
          </a:p>
          <a:p>
            <a:pPr algn="l"/>
            <a:r>
              <a:rPr sz="1300">
                <a:solidFill>
                  <a:srgbClr val="E6E9EF"/>
                </a:solidFill>
                <a:latin typeface="Courier New"/>
              </a:rPr>
              <a:t>  AsyncError(:final errorValue) =&gt;</a:t>
            </a:r>
          </a:p>
          <a:p>
            <a:pPr algn="l"/>
            <a:r>
              <a:rPr sz="1300">
                <a:solidFill>
                  <a:srgbClr val="E6E9EF"/>
                </a:solidFill>
                <a:latin typeface="Courier New"/>
              </a:rPr>
              <a:t>      Text('Fel: $errorValue'),</a:t>
            </a:r>
          </a:p>
          <a:p>
            <a:pPr algn="l"/>
            <a:r>
              <a:rPr sz="1300">
                <a:solidFill>
                  <a:srgbClr val="E6E9EF"/>
                </a:solidFill>
                <a:latin typeface="Courier New"/>
              </a:rPr>
              <a:t>  AsyncData(:final value) =&gt;</a:t>
            </a:r>
          </a:p>
          <a:p>
            <a:pPr algn="l"/>
            <a:r>
              <a:rPr sz="1300">
                <a:solidFill>
                  <a:srgbClr val="E6E9EF"/>
                </a:solidFill>
                <a:latin typeface="Courier New"/>
              </a:rPr>
              <a:t>      Text('${value.length} inlägg'),</a:t>
            </a:r>
          </a:p>
          <a:p>
            <a:pPr algn="l"/>
            <a:r>
              <a:rPr sz="1300">
                <a:solidFill>
                  <a:srgbClr val="E6E9EF"/>
                </a:solidFill>
                <a:latin typeface="Courier New"/>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useAsyncData – hämta igen</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watch: när värdet ändras hämtas allt igen</a:t>
            </a:r>
          </a:p>
          <a:p>
            <a:pPr marL="365760" indent="-274320">
              <a:spcAft>
                <a:spcPts val="800"/>
              </a:spcAft>
              <a:buChar char="•"/>
            </a:pPr>
            <a:r>
              <a:rPr sz="2000"/>
              <a:t>refresh: hämta igen när du vill</a:t>
            </a:r>
          </a:p>
          <a:p>
            <a:pPr marL="365760" indent="-274320">
              <a:spcAft>
                <a:spcPts val="800"/>
              </a:spcAft>
              <a:buChar char="•"/>
            </a:pPr>
            <a:r>
              <a:rPr sz="2000"/>
              <a:t>Passar ”dra för att ladda om”</a:t>
            </a:r>
          </a:p>
          <a:p>
            <a:pPr marL="365760" indent="-274320">
              <a:spcAft>
                <a:spcPts val="800"/>
              </a:spcAft>
              <a:buChar char="•"/>
            </a:pPr>
            <a:r>
              <a:rPr sz="2000"/>
              <a:t>Behövs ingen watch: skriv void som andra typ</a:t>
            </a:r>
          </a:p>
          <a:p>
            <a:pPr marL="365760" indent="-274320">
              <a:spcAft>
                <a:spcPts val="800"/>
              </a:spcAft>
              <a:buChar char="•"/>
            </a:pPr>
            <a:r>
              <a:rPr sz="2000"/>
              <a:t>posts.value.dataOrNull = datan eller null</a:t>
            </a:r>
          </a:p>
        </p:txBody>
      </p:sp>
      <p:sp>
        <p:nvSpPr>
          <p:cNvPr id="4" name="Rounded Rectangle 3"/>
          <p:cNvSpPr/>
          <p:nvPr/>
        </p:nvSpPr>
        <p:spPr>
          <a:xfrm>
            <a:off x="5577840" y="1737360"/>
            <a:ext cx="6120079" cy="4285614"/>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Dart</a:t>
            </a:r>
          </a:p>
          <a:p>
            <a:pPr algn="l"/>
            <a:r>
              <a:rPr sz="1300">
                <a:solidFill>
                  <a:srgbClr val="E6E9EF"/>
                </a:solidFill>
                <a:latin typeface="Courier New"/>
              </a:rPr>
              <a:t>final onlyMine = ref(false);</a:t>
            </a:r>
          </a:p>
          <a:p>
            <a:pPr algn="l"/>
            <a:r>
              <a:rPr sz="1300">
                <a:solidFill>
                  <a:srgbClr val="E6E9EF"/>
                </a:solidFill>
                <a:latin typeface="Courier New"/>
              </a:rPr>
              <a:t> </a:t>
            </a:r>
          </a:p>
          <a:p>
            <a:pPr algn="l"/>
            <a:r>
              <a:rPr sz="1300">
                <a:solidFill>
                  <a:srgbClr val="E6E9EF"/>
                </a:solidFill>
                <a:latin typeface="Courier New"/>
              </a:rPr>
              <a:t>final (posts, refresh) =</a:t>
            </a:r>
          </a:p>
          <a:p>
            <a:pPr algn="l"/>
            <a:r>
              <a:rPr sz="1300">
                <a:solidFill>
                  <a:srgbClr val="E6E9EF"/>
                </a:solidFill>
                <a:latin typeface="Courier New"/>
              </a:rPr>
              <a:t>    useAsyncData&lt;List&lt;RecordModel&gt;, bool&gt;(</a:t>
            </a:r>
          </a:p>
          <a:p>
            <a:pPr algn="l"/>
            <a:r>
              <a:rPr sz="1300">
                <a:solidFill>
                  <a:srgbClr val="E6E9EF"/>
                </a:solidFill>
                <a:latin typeface="Courier New"/>
              </a:rPr>
              <a:t>  (mine) =&gt; pb.collection('posts')</a:t>
            </a:r>
          </a:p>
          <a:p>
            <a:pPr algn="l"/>
            <a:r>
              <a:rPr sz="1300">
                <a:solidFill>
                  <a:srgbClr val="E6E9EF"/>
                </a:solidFill>
                <a:latin typeface="Courier New"/>
              </a:rPr>
              <a:t>      .getFullList(</a:t>
            </a:r>
          </a:p>
          <a:p>
            <a:pPr algn="l"/>
            <a:r>
              <a:rPr sz="1300">
                <a:solidFill>
                  <a:srgbClr val="E6E9EF"/>
                </a:solidFill>
                <a:latin typeface="Courier New"/>
              </a:rPr>
              <a:t>    sort: '-created',</a:t>
            </a:r>
          </a:p>
          <a:p>
            <a:pPr algn="l"/>
            <a:r>
              <a:rPr sz="1300">
                <a:solidFill>
                  <a:srgbClr val="E6E9EF"/>
                </a:solidFill>
                <a:latin typeface="Courier New"/>
              </a:rPr>
              <a:t>    filter: mine</a:t>
            </a:r>
          </a:p>
          <a:p>
            <a:pPr algn="l"/>
            <a:r>
              <a:rPr sz="1300">
                <a:solidFill>
                  <a:srgbClr val="E6E9EF"/>
                </a:solidFill>
                <a:latin typeface="Courier New"/>
              </a:rPr>
              <a:t>        ? pb.filter('author = {:me}',</a:t>
            </a:r>
          </a:p>
          <a:p>
            <a:pPr algn="l"/>
            <a:r>
              <a:rPr sz="1300">
                <a:solidFill>
                  <a:srgbClr val="E6E9EF"/>
                </a:solidFill>
                <a:latin typeface="Courier New"/>
              </a:rPr>
              <a:t>            {'me': auth.myId})</a:t>
            </a:r>
          </a:p>
          <a:p>
            <a:pPr algn="l"/>
            <a:r>
              <a:rPr sz="1300">
                <a:solidFill>
                  <a:srgbClr val="E6E9EF"/>
                </a:solidFill>
                <a:latin typeface="Courier New"/>
              </a:rPr>
              <a:t>        : '',</a:t>
            </a:r>
          </a:p>
          <a:p>
            <a:pPr algn="l"/>
            <a:r>
              <a:rPr sz="1300">
                <a:solidFill>
                  <a:srgbClr val="E6E9EF"/>
                </a:solidFill>
                <a:latin typeface="Courier New"/>
              </a:rPr>
              <a:t>  ),</a:t>
            </a:r>
          </a:p>
          <a:p>
            <a:pPr algn="l"/>
            <a:r>
              <a:rPr sz="1300">
                <a:solidFill>
                  <a:srgbClr val="E6E9EF"/>
                </a:solidFill>
                <a:latin typeface="Courier New"/>
              </a:rPr>
              <a:t>  watch: () =&gt; onlyMine.value,</a:t>
            </a:r>
          </a:p>
          <a:p>
            <a:pPr algn="l"/>
            <a:r>
              <a:rPr sz="1300">
                <a:solidFill>
                  <a:srgbClr val="E6E9EF"/>
                </a:solidFill>
                <a:latin typeface="Courier New"/>
              </a:rPr>
              <a:t>);</a:t>
            </a:r>
          </a:p>
          <a:p>
            <a:pPr algn="l"/>
            <a:r>
              <a:rPr sz="1300">
                <a:solidFill>
                  <a:srgbClr val="E6E9EF"/>
                </a:solidFill>
                <a:latin typeface="Courier New"/>
              </a:rPr>
              <a:t> </a:t>
            </a:r>
          </a:p>
          <a:p>
            <a:pPr algn="l"/>
            <a:r>
              <a:rPr sz="1300">
                <a:solidFill>
                  <a:srgbClr val="8B95A7"/>
                </a:solidFill>
                <a:latin typeface="Courier New"/>
              </a:rPr>
              <a:t>// RefreshIndicator(</a:t>
            </a:r>
          </a:p>
          <a:p>
            <a:pPr algn="l"/>
            <a:r>
              <a:rPr sz="1300">
                <a:solidFill>
                  <a:srgbClr val="8B95A7"/>
                </a:solidFill>
                <a:latin typeface="Courier New"/>
              </a:rPr>
              <a:t>//   onRefresh: () async =&gt; refresh(),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Kommentarer i realtid</a:t>
            </a:r>
          </a:p>
        </p:txBody>
      </p:sp>
      <p:sp>
        <p:nvSpPr>
          <p:cNvPr id="3" name="TextBox 2"/>
          <p:cNvSpPr txBox="1"/>
          <p:nvPr/>
        </p:nvSpPr>
        <p:spPr>
          <a:xfrm>
            <a:off x="768096" y="1691640"/>
            <a:ext cx="4535424" cy="4572000"/>
          </a:xfrm>
          <a:prstGeom prst="rect">
            <a:avLst/>
          </a:prstGeom>
          <a:noFill/>
        </p:spPr>
        <p:txBody>
          <a:bodyPr wrap="square" lIns="0" tIns="0" rIns="0" bIns="0">
            <a:spAutoFit/>
          </a:bodyPr>
          <a:lstStyle/>
          <a:p>
            <a:pPr marL="365760" indent="-274320">
              <a:spcAft>
                <a:spcPts val="800"/>
              </a:spcAft>
              <a:buChar char="•"/>
            </a:pPr>
            <a:r>
              <a:rPr sz="2000"/>
              <a:t>useAsyncData hämtar listan en gång</a:t>
            </a:r>
          </a:p>
          <a:p>
            <a:pPr marL="365760" indent="-274320">
              <a:spcAft>
                <a:spcPts val="800"/>
              </a:spcAft>
              <a:buChar char="•"/>
            </a:pPr>
            <a:r>
              <a:rPr sz="2000"/>
              <a:t>En ref med listan som visas</a:t>
            </a:r>
          </a:p>
          <a:p>
            <a:pPr marL="365760" indent="-274320">
              <a:spcAft>
                <a:spcPts val="800"/>
              </a:spcAft>
              <a:buChar char="•"/>
            </a:pPr>
            <a:r>
              <a:rPr sz="2000"/>
              <a:t>Realtid lägger till eller tar bort</a:t>
            </a:r>
          </a:p>
          <a:p>
            <a:pPr marL="365760" indent="-274320">
              <a:spcAft>
                <a:spcPts val="800"/>
              </a:spcAft>
              <a:buChar char="•"/>
            </a:pPr>
            <a:r>
              <a:rPr sz="2000"/>
              <a:t>subscribe i onMounted</a:t>
            </a:r>
          </a:p>
          <a:p>
            <a:pPr marL="365760" indent="-274320">
              <a:spcAft>
                <a:spcPts val="800"/>
              </a:spcAft>
              <a:buChar char="•"/>
            </a:pPr>
            <a:r>
              <a:rPr sz="2000"/>
              <a:t>unsubscribe i onUnmounted</a:t>
            </a:r>
          </a:p>
          <a:p>
            <a:pPr marL="365760" indent="-274320">
              <a:spcAft>
                <a:spcPts val="800"/>
              </a:spcAft>
              <a:buChar char="•"/>
            </a:pPr>
            <a:r>
              <a:rPr sz="2000"/>
              <a:t>disposed: sidan kan stängas medan vi väntar</a:t>
            </a:r>
          </a:p>
        </p:txBody>
      </p:sp>
      <p:sp>
        <p:nvSpPr>
          <p:cNvPr id="4" name="Rounded Rectangle 3"/>
          <p:cNvSpPr/>
          <p:nvPr/>
        </p:nvSpPr>
        <p:spPr>
          <a:xfrm>
            <a:off x="5577840" y="1737360"/>
            <a:ext cx="6120079" cy="43967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LiveComments (förkortad)</a:t>
            </a:r>
          </a:p>
          <a:p>
            <a:pPr algn="l"/>
            <a:r>
              <a:rPr sz="1200">
                <a:solidFill>
                  <a:srgbClr val="E6E9EF"/>
                </a:solidFill>
                <a:latin typeface="Courier New"/>
              </a:rPr>
              <a:t>UnsubscribeFunc? unsubscribe;</a:t>
            </a:r>
          </a:p>
          <a:p>
            <a:pPr algn="l"/>
            <a:r>
              <a:rPr sz="1200">
                <a:solidFill>
                  <a:srgbClr val="E6E9EF"/>
                </a:solidFill>
                <a:latin typeface="Courier New"/>
              </a:rPr>
              <a:t>var disposed = false;</a:t>
            </a:r>
          </a:p>
          <a:p>
            <a:pPr algn="l"/>
            <a:r>
              <a:rPr sz="1200">
                <a:solidFill>
                  <a:srgbClr val="E6E9EF"/>
                </a:solidFill>
                <a:latin typeface="Courier New"/>
              </a:rPr>
              <a:t> </a:t>
            </a:r>
          </a:p>
          <a:p>
            <a:pPr algn="l"/>
            <a:r>
              <a:rPr sz="1200">
                <a:solidFill>
                  <a:srgbClr val="E6E9EF"/>
                </a:solidFill>
                <a:latin typeface="Courier New"/>
              </a:rPr>
              <a:t>onMounted(() async {</a:t>
            </a:r>
          </a:p>
          <a:p>
            <a:pPr algn="l"/>
            <a:r>
              <a:rPr sz="1200">
                <a:solidFill>
                  <a:srgbClr val="E6E9EF"/>
                </a:solidFill>
                <a:latin typeface="Courier New"/>
              </a:rPr>
              <a:t>  final unsub = await pb</a:t>
            </a:r>
          </a:p>
          <a:p>
            <a:pPr algn="l"/>
            <a:r>
              <a:rPr sz="1200">
                <a:solidFill>
                  <a:srgbClr val="E6E9EF"/>
                </a:solidFill>
                <a:latin typeface="Courier New"/>
              </a:rPr>
              <a:t>      .collection('comments')</a:t>
            </a:r>
          </a:p>
          <a:p>
            <a:pPr algn="l"/>
            <a:r>
              <a:rPr sz="1200">
                <a:solidFill>
                  <a:srgbClr val="E6E9EF"/>
                </a:solidFill>
                <a:latin typeface="Courier New"/>
              </a:rPr>
              <a:t>      .subscribe('*', onEvent,</a:t>
            </a:r>
          </a:p>
          <a:p>
            <a:pPr algn="l"/>
            <a:r>
              <a:rPr sz="1200">
                <a:solidFill>
                  <a:srgbClr val="E6E9EF"/>
                </a:solidFill>
                <a:latin typeface="Courier New"/>
              </a:rPr>
              <a:t>          filter: filter, expand: 'author');</a:t>
            </a:r>
          </a:p>
          <a:p>
            <a:pPr algn="l"/>
            <a:r>
              <a:rPr sz="1200">
                <a:solidFill>
                  <a:srgbClr val="E6E9EF"/>
                </a:solidFill>
                <a:latin typeface="Courier New"/>
              </a:rPr>
              <a:t>  if (disposed) {</a:t>
            </a:r>
          </a:p>
          <a:p>
            <a:pPr algn="l"/>
            <a:r>
              <a:rPr sz="1200">
                <a:solidFill>
                  <a:srgbClr val="E6E9EF"/>
                </a:solidFill>
                <a:latin typeface="Courier New"/>
              </a:rPr>
              <a:t>    await unsub();</a:t>
            </a:r>
          </a:p>
          <a:p>
            <a:pPr algn="l"/>
            <a:r>
              <a:rPr sz="1200">
                <a:solidFill>
                  <a:srgbClr val="E6E9EF"/>
                </a:solidFill>
                <a:latin typeface="Courier New"/>
              </a:rPr>
              <a:t>  } else {</a:t>
            </a:r>
          </a:p>
          <a:p>
            <a:pPr algn="l"/>
            <a:r>
              <a:rPr sz="1200">
                <a:solidFill>
                  <a:srgbClr val="E6E9EF"/>
                </a:solidFill>
                <a:latin typeface="Courier New"/>
              </a:rPr>
              <a:t>    unsubscribe = unsub;</a:t>
            </a:r>
          </a:p>
          <a:p>
            <a:pPr algn="l"/>
            <a:r>
              <a:rPr sz="1200">
                <a:solidFill>
                  <a:srgbClr val="E6E9EF"/>
                </a:solidFill>
                <a:latin typeface="Courier New"/>
              </a:rPr>
              <a:t>  }</a:t>
            </a:r>
          </a:p>
          <a:p>
            <a:pPr algn="l"/>
            <a:r>
              <a:rPr sz="1200">
                <a:solidFill>
                  <a:srgbClr val="E6E9EF"/>
                </a:solidFill>
                <a:latin typeface="Courier New"/>
              </a:rPr>
              <a:t>});</a:t>
            </a:r>
          </a:p>
          <a:p>
            <a:pPr algn="l"/>
            <a:r>
              <a:rPr sz="1200">
                <a:solidFill>
                  <a:srgbClr val="E6E9EF"/>
                </a:solidFill>
                <a:latin typeface="Courier New"/>
              </a:rPr>
              <a:t> </a:t>
            </a:r>
          </a:p>
          <a:p>
            <a:pPr algn="l"/>
            <a:r>
              <a:rPr sz="1200">
                <a:solidFill>
                  <a:srgbClr val="E6E9EF"/>
                </a:solidFill>
                <a:latin typeface="Courier New"/>
              </a:rPr>
              <a:t>onUnmounted(() {</a:t>
            </a:r>
          </a:p>
          <a:p>
            <a:pPr algn="l"/>
            <a:r>
              <a:rPr sz="1200">
                <a:solidFill>
                  <a:srgbClr val="E6E9EF"/>
                </a:solidFill>
                <a:latin typeface="Courier New"/>
              </a:rPr>
              <a:t>  disposed = true;</a:t>
            </a:r>
          </a:p>
          <a:p>
            <a:pPr algn="l"/>
            <a:r>
              <a:rPr sz="1200">
                <a:solidFill>
                  <a:srgbClr val="E6E9EF"/>
                </a:solidFill>
                <a:latin typeface="Courier New"/>
              </a:rPr>
              <a:t>  unsubscribe?.call();</a:t>
            </a:r>
          </a:p>
          <a:p>
            <a:pPr algn="l"/>
            <a:r>
              <a:rPr sz="1200">
                <a:solidFill>
                  <a:srgbClr val="E6E9EF"/>
                </a:solidFill>
                <a:latin typeface="Courier New"/>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Gilla direkt – optimistisk uppdatering</a:t>
            </a:r>
          </a:p>
        </p:txBody>
      </p:sp>
      <p:sp>
        <p:nvSpPr>
          <p:cNvPr id="3" name="Oval 2"/>
          <p:cNvSpPr/>
          <p:nvPr/>
        </p:nvSpPr>
        <p:spPr>
          <a:xfrm>
            <a:off x="813816" y="173736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1</a:t>
            </a:r>
          </a:p>
        </p:txBody>
      </p:sp>
      <p:sp>
        <p:nvSpPr>
          <p:cNvPr id="4" name="TextBox 3"/>
          <p:cNvSpPr txBox="1"/>
          <p:nvPr/>
        </p:nvSpPr>
        <p:spPr>
          <a:xfrm>
            <a:off x="1591056" y="1719072"/>
            <a:ext cx="5394960" cy="960120"/>
          </a:xfrm>
          <a:prstGeom prst="rect">
            <a:avLst/>
          </a:prstGeom>
          <a:noFill/>
        </p:spPr>
        <p:txBody>
          <a:bodyPr wrap="square" lIns="0" tIns="0" rIns="0" bIns="0" anchor="t">
            <a:spAutoFit/>
          </a:bodyPr>
          <a:lstStyle/>
          <a:p>
            <a:pPr algn="l">
              <a:spcAft>
                <a:spcPts val="200"/>
              </a:spcAft>
            </a:pPr>
            <a:r>
              <a:rPr sz="1900" b="1"/>
              <a:t>Spara det gamla värdet</a:t>
            </a:r>
          </a:p>
          <a:p>
            <a:pPr algn="l">
              <a:spcAft>
                <a:spcPts val="800"/>
              </a:spcAft>
            </a:pPr>
            <a:r>
              <a:rPr sz="1500" b="0">
                <a:solidFill>
                  <a:srgbClr val="595959"/>
                </a:solidFill>
              </a:rPr>
              <a:t>final wasLiked = liked.value;</a:t>
            </a:r>
          </a:p>
        </p:txBody>
      </p:sp>
      <p:sp>
        <p:nvSpPr>
          <p:cNvPr id="5" name="Oval 4"/>
          <p:cNvSpPr/>
          <p:nvPr/>
        </p:nvSpPr>
        <p:spPr>
          <a:xfrm>
            <a:off x="813816" y="269748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2</a:t>
            </a:r>
          </a:p>
        </p:txBody>
      </p:sp>
      <p:sp>
        <p:nvSpPr>
          <p:cNvPr id="6" name="TextBox 5"/>
          <p:cNvSpPr txBox="1"/>
          <p:nvPr/>
        </p:nvSpPr>
        <p:spPr>
          <a:xfrm>
            <a:off x="1591056" y="2679192"/>
            <a:ext cx="5394960" cy="960120"/>
          </a:xfrm>
          <a:prstGeom prst="rect">
            <a:avLst/>
          </a:prstGeom>
          <a:noFill/>
        </p:spPr>
        <p:txBody>
          <a:bodyPr wrap="square" lIns="0" tIns="0" rIns="0" bIns="0" anchor="t">
            <a:spAutoFit/>
          </a:bodyPr>
          <a:lstStyle/>
          <a:p>
            <a:pPr algn="l">
              <a:spcAft>
                <a:spcPts val="200"/>
              </a:spcAft>
            </a:pPr>
            <a:r>
              <a:rPr sz="1900" b="1"/>
              <a:t>Ändra direkt</a:t>
            </a:r>
          </a:p>
          <a:p>
            <a:pPr algn="l">
              <a:spcAft>
                <a:spcPts val="800"/>
              </a:spcAft>
            </a:pPr>
            <a:r>
              <a:rPr sz="1500" b="0">
                <a:solidFill>
                  <a:srgbClr val="595959"/>
                </a:solidFill>
              </a:rPr>
              <a:t>liked.value = !wasLiked; count.value += wasLiked ? -1 : 1;</a:t>
            </a:r>
          </a:p>
        </p:txBody>
      </p:sp>
      <p:sp>
        <p:nvSpPr>
          <p:cNvPr id="7" name="Oval 6"/>
          <p:cNvSpPr/>
          <p:nvPr/>
        </p:nvSpPr>
        <p:spPr>
          <a:xfrm>
            <a:off x="813816" y="365760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3</a:t>
            </a:r>
          </a:p>
        </p:txBody>
      </p:sp>
      <p:sp>
        <p:nvSpPr>
          <p:cNvPr id="8" name="TextBox 7"/>
          <p:cNvSpPr txBox="1"/>
          <p:nvPr/>
        </p:nvSpPr>
        <p:spPr>
          <a:xfrm>
            <a:off x="1591056" y="3639312"/>
            <a:ext cx="5394960" cy="960120"/>
          </a:xfrm>
          <a:prstGeom prst="rect">
            <a:avLst/>
          </a:prstGeom>
          <a:noFill/>
        </p:spPr>
        <p:txBody>
          <a:bodyPr wrap="square" lIns="0" tIns="0" rIns="0" bIns="0" anchor="t">
            <a:spAutoFit/>
          </a:bodyPr>
          <a:lstStyle/>
          <a:p>
            <a:pPr algn="l">
              <a:spcAft>
                <a:spcPts val="200"/>
              </a:spcAft>
            </a:pPr>
            <a:r>
              <a:rPr sz="1900" b="1"/>
              <a:t>Fråga servern</a:t>
            </a:r>
          </a:p>
          <a:p>
            <a:pPr algn="l">
              <a:spcAft>
                <a:spcPts val="800"/>
              </a:spcAft>
            </a:pPr>
            <a:r>
              <a:rPr sz="1500" b="0">
                <a:solidFill>
                  <a:srgbClr val="595959"/>
                </a:solidFill>
              </a:rPr>
              <a:t>create eller delete i likes</a:t>
            </a:r>
          </a:p>
        </p:txBody>
      </p:sp>
      <p:sp>
        <p:nvSpPr>
          <p:cNvPr id="9" name="Oval 8"/>
          <p:cNvSpPr/>
          <p:nvPr/>
        </p:nvSpPr>
        <p:spPr>
          <a:xfrm>
            <a:off x="813816" y="461772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4</a:t>
            </a:r>
          </a:p>
        </p:txBody>
      </p:sp>
      <p:sp>
        <p:nvSpPr>
          <p:cNvPr id="10" name="TextBox 9"/>
          <p:cNvSpPr txBox="1"/>
          <p:nvPr/>
        </p:nvSpPr>
        <p:spPr>
          <a:xfrm>
            <a:off x="1591056" y="4599432"/>
            <a:ext cx="5394960" cy="960120"/>
          </a:xfrm>
          <a:prstGeom prst="rect">
            <a:avLst/>
          </a:prstGeom>
          <a:noFill/>
        </p:spPr>
        <p:txBody>
          <a:bodyPr wrap="square" lIns="0" tIns="0" rIns="0" bIns="0" anchor="t">
            <a:spAutoFit/>
          </a:bodyPr>
          <a:lstStyle/>
          <a:p>
            <a:pPr algn="l">
              <a:spcAft>
                <a:spcPts val="200"/>
              </a:spcAft>
            </a:pPr>
            <a:r>
              <a:rPr sz="1900" b="1"/>
              <a:t>Ångra om servern säger nej</a:t>
            </a:r>
          </a:p>
          <a:p>
            <a:pPr algn="l">
              <a:spcAft>
                <a:spcPts val="800"/>
              </a:spcAft>
            </a:pPr>
            <a:r>
              <a:rPr sz="1500" b="0">
                <a:solidFill>
                  <a:srgbClr val="595959"/>
                </a:solidFill>
              </a:rPr>
              <a:t>on ClientException → sätt tillbaka liked och count</a:t>
            </a:r>
          </a:p>
        </p:txBody>
      </p:sp>
      <p:sp>
        <p:nvSpPr>
          <p:cNvPr id="11" name="Rounded Rectangle 10"/>
          <p:cNvSpPr/>
          <p:nvPr/>
        </p:nvSpPr>
        <p:spPr>
          <a:xfrm>
            <a:off x="7223760" y="1737360"/>
            <a:ext cx="4474159" cy="3291840"/>
          </a:xfrm>
          <a:prstGeom prst="roundRect">
            <a:avLst>
              <a:gd name="adj" fmla="val 6000"/>
            </a:avLst>
          </a:prstGeom>
          <a:solidFill>
            <a:schemeClr val="accent3">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2011680"/>
            <a:ext cx="3925519" cy="2926080"/>
          </a:xfrm>
          <a:prstGeom prst="rect">
            <a:avLst/>
          </a:prstGeom>
          <a:noFill/>
        </p:spPr>
        <p:txBody>
          <a:bodyPr wrap="square" lIns="0" tIns="0" rIns="0" bIns="0" anchor="t">
            <a:spAutoFit/>
          </a:bodyPr>
          <a:lstStyle/>
          <a:p>
            <a:pPr algn="l">
              <a:spcAft>
                <a:spcPts val="1000"/>
              </a:spcAft>
            </a:pPr>
            <a:r>
              <a:rPr sz="1900" b="1"/>
              <a:t>Vanliga misstag</a:t>
            </a:r>
          </a:p>
          <a:p>
            <a:pPr algn="l">
              <a:spcAft>
                <a:spcPts val="600"/>
              </a:spcAft>
            </a:pPr>
            <a:r>
              <a:rPr sz="1600" b="0"/>
              <a:t>setup() är async → kompilerar inte</a:t>
            </a:r>
          </a:p>
          <a:p>
            <a:pPr algn="l">
              <a:spcAft>
                <a:spcPts val="600"/>
              </a:spcAft>
            </a:pPr>
            <a:r>
              <a:rPr sz="1600" b="0"/>
              <a:t>comments.value.add(x) → skärmen uppdateras inte</a:t>
            </a:r>
          </a:p>
          <a:p>
            <a:pPr algn="l">
              <a:spcAft>
                <a:spcPts val="600"/>
              </a:spcAft>
            </a:pPr>
            <a:r>
              <a:rPr sz="1600" b="0"/>
              <a:t>Glömt unsubscribe → appen lyssnar fast sidan är stängd</a:t>
            </a:r>
          </a:p>
          <a:p>
            <a:pPr algn="l">
              <a:spcAft>
                <a:spcPts val="600"/>
              </a:spcAft>
            </a:pPr>
            <a:r>
              <a:rPr sz="1600" b="0"/>
              <a:t>Ingen catch → hjärtat visar fel</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hämta data</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7.1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Byt useFuture mot useAsyncData och lägg till dra för att ladda om.</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7.2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”Bara mina inlägg” – logga in som Bertil och testa.</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7.3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LiveComments: skriv en kommentar i Dashboard och se den dyka upp.</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7.4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Ta bort den senaste kommentaren. Vad händer om den inte är din?</a:t>
            </a:r>
          </a:p>
        </p:txBody>
      </p:sp>
      <p:sp>
        <p:nvSpPr>
          <p:cNvPr id="12" name="TextBox 11"/>
          <p:cNvSpPr txBox="1"/>
          <p:nvPr/>
        </p:nvSpPr>
        <p:spPr>
          <a:xfrm>
            <a:off x="768096" y="480060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7.5</a:t>
            </a:r>
          </a:p>
        </p:txBody>
      </p:sp>
      <p:sp>
        <p:nvSpPr>
          <p:cNvPr id="13" name="TextBox 12"/>
          <p:cNvSpPr txBox="1"/>
          <p:nvPr/>
        </p:nvSpPr>
        <p:spPr>
          <a:xfrm>
            <a:off x="1636776" y="4800600"/>
            <a:ext cx="9786823" cy="777240"/>
          </a:xfrm>
          <a:prstGeom prst="rect">
            <a:avLst/>
          </a:prstGeom>
          <a:noFill/>
        </p:spPr>
        <p:txBody>
          <a:bodyPr wrap="square" lIns="0" tIns="0" rIns="0" bIns="0" anchor="t">
            <a:spAutoFit/>
          </a:bodyPr>
          <a:lstStyle/>
          <a:p>
            <a:pPr algn="l">
              <a:spcAft>
                <a:spcPts val="800"/>
              </a:spcAft>
            </a:pPr>
            <a:r>
              <a:rPr sz="1700" b="0"/>
              <a:t>LikeButton med rollback – testa genom att låsa Create-regeln för likes.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Bygg Kvittra-appen</a:t>
            </a:r>
          </a:p>
        </p:txBody>
      </p:sp>
      <p:graphicFrame>
        <p:nvGraphicFramePr>
          <p:cNvPr id="3" name="Table 2"/>
          <p:cNvGraphicFramePr>
            <a:graphicFrameLocks noGrp="1"/>
          </p:cNvGraphicFramePr>
          <p:nvPr/>
        </p:nvGraphicFramePr>
        <p:xfrm>
          <a:off x="768096" y="1691640"/>
          <a:ext cx="5760720" cy="301752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502920">
                <a:tc>
                  <a:txBody>
                    <a:bodyPr/>
                    <a:lstStyle/>
                    <a:p>
                      <a:r>
                        <a:rPr sz="1400" b="1"/>
                        <a:t>Sida</a:t>
                      </a:r>
                    </a:p>
                  </a:txBody>
                  <a:tcPr marT="36576" marB="36576" anchor="ctr"/>
                </a:tc>
                <a:tc>
                  <a:txBody>
                    <a:bodyPr/>
                    <a:lstStyle/>
                    <a:p>
                      <a:r>
                        <a:rPr sz="1400" b="1"/>
                        <a:t>Adress</a:t>
                      </a:r>
                    </a:p>
                  </a:txBody>
                  <a:tcPr marT="36576" marB="36576" anchor="ctr"/>
                </a:tc>
                <a:tc>
                  <a:txBody>
                    <a:bodyPr/>
                    <a:lstStyle/>
                    <a:p>
                      <a:r>
                        <a:rPr sz="1400" b="1"/>
                        <a:t>Där kan man</a:t>
                      </a:r>
                    </a:p>
                  </a:txBody>
                  <a:tcPr marT="36576" marB="36576" anchor="ctr"/>
                </a:tc>
                <a:extLst>
                  <a:ext uri="{0D108BD9-81ED-4DB2-BD59-A6C34878D82A}">
                    <a16:rowId xmlns:a16="http://schemas.microsoft.com/office/drawing/2014/main" val="10000"/>
                  </a:ext>
                </a:extLst>
              </a:tr>
              <a:tr h="502920">
                <a:tc>
                  <a:txBody>
                    <a:bodyPr/>
                    <a:lstStyle/>
                    <a:p>
                      <a:r>
                        <a:rPr sz="1400">
                          <a:latin typeface="Courier New"/>
                        </a:rPr>
                        <a:t>LoginPage</a:t>
                      </a:r>
                    </a:p>
                  </a:txBody>
                  <a:tcPr marT="36576" marB="36576" anchor="ctr"/>
                </a:tc>
                <a:tc>
                  <a:txBody>
                    <a:bodyPr/>
                    <a:lstStyle/>
                    <a:p>
                      <a:r>
                        <a:rPr sz="1400">
                          <a:latin typeface="Courier New"/>
                        </a:rPr>
                        <a:t>/login</a:t>
                      </a:r>
                    </a:p>
                  </a:txBody>
                  <a:tcPr marT="36576" marB="36576" anchor="ctr"/>
                </a:tc>
                <a:tc>
                  <a:txBody>
                    <a:bodyPr/>
                    <a:lstStyle/>
                    <a:p>
                      <a:r>
                        <a:rPr sz="1400"/>
                        <a:t>logga in</a:t>
                      </a:r>
                    </a:p>
                  </a:txBody>
                  <a:tcPr marT="36576" marB="36576" anchor="ctr"/>
                </a:tc>
                <a:extLst>
                  <a:ext uri="{0D108BD9-81ED-4DB2-BD59-A6C34878D82A}">
                    <a16:rowId xmlns:a16="http://schemas.microsoft.com/office/drawing/2014/main" val="10001"/>
                  </a:ext>
                </a:extLst>
              </a:tr>
              <a:tr h="502920">
                <a:tc>
                  <a:txBody>
                    <a:bodyPr/>
                    <a:lstStyle/>
                    <a:p>
                      <a:r>
                        <a:rPr sz="1400">
                          <a:latin typeface="Courier New"/>
                        </a:rPr>
                        <a:t>FeedPage</a:t>
                      </a:r>
                    </a:p>
                  </a:txBody>
                  <a:tcPr marT="36576" marB="36576" anchor="ctr"/>
                </a:tc>
                <a:tc>
                  <a:txBody>
                    <a:bodyPr/>
                    <a:lstStyle/>
                    <a:p>
                      <a:r>
                        <a:rPr sz="1400">
                          <a:latin typeface="Courier New"/>
                        </a:rPr>
                        <a:t>/</a:t>
                      </a:r>
                    </a:p>
                  </a:txBody>
                  <a:tcPr marT="36576" marB="36576" anchor="ctr"/>
                </a:tc>
                <a:tc>
                  <a:txBody>
                    <a:bodyPr/>
                    <a:lstStyle/>
                    <a:p>
                      <a:r>
                        <a:rPr sz="1400"/>
                        <a:t>läsa, gilla, ladda om</a:t>
                      </a:r>
                    </a:p>
                  </a:txBody>
                  <a:tcPr marT="36576" marB="36576" anchor="ctr"/>
                </a:tc>
                <a:extLst>
                  <a:ext uri="{0D108BD9-81ED-4DB2-BD59-A6C34878D82A}">
                    <a16:rowId xmlns:a16="http://schemas.microsoft.com/office/drawing/2014/main" val="10002"/>
                  </a:ext>
                </a:extLst>
              </a:tr>
              <a:tr h="502920">
                <a:tc>
                  <a:txBody>
                    <a:bodyPr/>
                    <a:lstStyle/>
                    <a:p>
                      <a:r>
                        <a:rPr sz="1400">
                          <a:latin typeface="Courier New"/>
                        </a:rPr>
                        <a:t>PostPage</a:t>
                      </a:r>
                    </a:p>
                  </a:txBody>
                  <a:tcPr marT="36576" marB="36576" anchor="ctr"/>
                </a:tc>
                <a:tc>
                  <a:txBody>
                    <a:bodyPr/>
                    <a:lstStyle/>
                    <a:p>
                      <a:r>
                        <a:rPr sz="1400">
                          <a:latin typeface="Courier New"/>
                        </a:rPr>
                        <a:t>/posts/:id</a:t>
                      </a:r>
                    </a:p>
                  </a:txBody>
                  <a:tcPr marT="36576" marB="36576" anchor="ctr"/>
                </a:tc>
                <a:tc>
                  <a:txBody>
                    <a:bodyPr/>
                    <a:lstStyle/>
                    <a:p>
                      <a:r>
                        <a:rPr sz="1400"/>
                        <a:t>kommentera i realtid</a:t>
                      </a:r>
                    </a:p>
                  </a:txBody>
                  <a:tcPr marT="36576" marB="36576" anchor="ctr"/>
                </a:tc>
                <a:extLst>
                  <a:ext uri="{0D108BD9-81ED-4DB2-BD59-A6C34878D82A}">
                    <a16:rowId xmlns:a16="http://schemas.microsoft.com/office/drawing/2014/main" val="10003"/>
                  </a:ext>
                </a:extLst>
              </a:tr>
              <a:tr h="502920">
                <a:tc>
                  <a:txBody>
                    <a:bodyPr/>
                    <a:lstStyle/>
                    <a:p>
                      <a:r>
                        <a:rPr sz="1400">
                          <a:latin typeface="Courier New"/>
                        </a:rPr>
                        <a:t>NewPostPage</a:t>
                      </a:r>
                    </a:p>
                  </a:txBody>
                  <a:tcPr marT="36576" marB="36576" anchor="ctr"/>
                </a:tc>
                <a:tc>
                  <a:txBody>
                    <a:bodyPr/>
                    <a:lstStyle/>
                    <a:p>
                      <a:r>
                        <a:rPr sz="1400">
                          <a:latin typeface="Courier New"/>
                        </a:rPr>
                        <a:t>/posts/new</a:t>
                      </a:r>
                    </a:p>
                  </a:txBody>
                  <a:tcPr marT="36576" marB="36576" anchor="ctr"/>
                </a:tc>
                <a:tc>
                  <a:txBody>
                    <a:bodyPr/>
                    <a:lstStyle/>
                    <a:p>
                      <a:r>
                        <a:rPr sz="1400"/>
                        <a:t>skriva ett inlägg</a:t>
                      </a:r>
                    </a:p>
                  </a:txBody>
                  <a:tcPr marT="36576" marB="36576" anchor="ctr"/>
                </a:tc>
                <a:extLst>
                  <a:ext uri="{0D108BD9-81ED-4DB2-BD59-A6C34878D82A}">
                    <a16:rowId xmlns:a16="http://schemas.microsoft.com/office/drawing/2014/main" val="10004"/>
                  </a:ext>
                </a:extLst>
              </a:tr>
              <a:tr h="502920">
                <a:tc>
                  <a:txBody>
                    <a:bodyPr/>
                    <a:lstStyle/>
                    <a:p>
                      <a:r>
                        <a:rPr sz="1400">
                          <a:latin typeface="Courier New"/>
                        </a:rPr>
                        <a:t>ProfilePage</a:t>
                      </a:r>
                    </a:p>
                  </a:txBody>
                  <a:tcPr marT="36576" marB="36576" anchor="ctr"/>
                </a:tc>
                <a:tc>
                  <a:txBody>
                    <a:bodyPr/>
                    <a:lstStyle/>
                    <a:p>
                      <a:r>
                        <a:rPr sz="1400">
                          <a:latin typeface="Courier New"/>
                        </a:rPr>
                        <a:t>/users/:id</a:t>
                      </a:r>
                    </a:p>
                  </a:txBody>
                  <a:tcPr marT="36576" marB="36576" anchor="ctr"/>
                </a:tc>
                <a:tc>
                  <a:txBody>
                    <a:bodyPr/>
                    <a:lstStyle/>
                    <a:p>
                      <a:r>
                        <a:rPr sz="1400"/>
                        <a:t>följa och sluta följa</a:t>
                      </a:r>
                    </a:p>
                  </a:txBody>
                  <a:tcPr marT="36576" marB="36576" anchor="ctr"/>
                </a:tc>
                <a:extLst>
                  <a:ext uri="{0D108BD9-81ED-4DB2-BD59-A6C34878D82A}">
                    <a16:rowId xmlns:a16="http://schemas.microsoft.com/office/drawing/2014/main" val="10005"/>
                  </a:ext>
                </a:extLst>
              </a:tr>
            </a:tbl>
          </a:graphicData>
        </a:graphic>
      </p:graphicFrame>
      <p:sp>
        <p:nvSpPr>
          <p:cNvPr id="4" name="Rounded Rectangle 3"/>
          <p:cNvSpPr/>
          <p:nvPr/>
        </p:nvSpPr>
        <p:spPr>
          <a:xfrm>
            <a:off x="6766560" y="1691640"/>
            <a:ext cx="4663440" cy="356616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a:t>
            </a:r>
          </a:p>
          <a:p>
            <a:pPr algn="l"/>
            <a:r>
              <a:rPr sz="1300">
                <a:solidFill>
                  <a:srgbClr val="E6E9EF"/>
                </a:solidFill>
                <a:latin typeface="Courier New"/>
              </a:rPr>
              <a:t>main.dart   ← provide + router</a:t>
            </a:r>
          </a:p>
          <a:p>
            <a:pPr algn="l"/>
            <a:r>
              <a:rPr sz="1300">
                <a:solidFill>
                  <a:srgbClr val="E6E9EF"/>
                </a:solidFill>
                <a:latin typeface="Courier New"/>
              </a:rPr>
              <a:t>router.dart ← sidor, login-krav</a:t>
            </a:r>
          </a:p>
          <a:p>
            <a:pPr algn="l"/>
            <a:r>
              <a:rPr sz="1300">
                <a:solidFill>
                  <a:srgbClr val="E6E9EF"/>
                </a:solidFill>
                <a:latin typeface="Courier New"/>
              </a:rPr>
              <a:t>models/     ← Post, Comment, User</a:t>
            </a:r>
          </a:p>
          <a:p>
            <a:pPr algn="l"/>
            <a:r>
              <a:rPr sz="1300">
                <a:solidFill>
                  <a:srgbClr val="E6E9EF"/>
                </a:solidFill>
                <a:latin typeface="Courier New"/>
              </a:rPr>
              <a:t>services/   ← AuthService, keys</a:t>
            </a:r>
          </a:p>
          <a:p>
            <a:pPr algn="l"/>
            <a:r>
              <a:rPr sz="1300">
                <a:solidFill>
                  <a:srgbClr val="E6E9EF"/>
                </a:solidFill>
                <a:latin typeface="Courier New"/>
              </a:rPr>
              <a:t>pages/      ← en sida per fil</a:t>
            </a:r>
          </a:p>
          <a:p>
            <a:pPr algn="l"/>
            <a:r>
              <a:rPr sz="1300">
                <a:solidFill>
                  <a:srgbClr val="E6E9EF"/>
                </a:solidFill>
                <a:latin typeface="Courier New"/>
              </a:rPr>
              <a:t>widgets/    ← PostCard, kommentarer</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Router med inloggningskrav</a:t>
            </a:r>
          </a:p>
        </p:txBody>
      </p:sp>
      <p:sp>
        <p:nvSpPr>
          <p:cNvPr id="3" name="TextBox 2"/>
          <p:cNvSpPr txBox="1"/>
          <p:nvPr/>
        </p:nvSpPr>
        <p:spPr>
          <a:xfrm>
            <a:off x="768096" y="1691640"/>
            <a:ext cx="4078224" cy="4572000"/>
          </a:xfrm>
          <a:prstGeom prst="rect">
            <a:avLst/>
          </a:prstGeom>
          <a:noFill/>
        </p:spPr>
        <p:txBody>
          <a:bodyPr wrap="square" lIns="0" tIns="0" rIns="0" bIns="0">
            <a:spAutoFit/>
          </a:bodyPr>
          <a:lstStyle/>
          <a:p>
            <a:pPr marL="365760" indent="-274320">
              <a:spcAft>
                <a:spcPts val="800"/>
              </a:spcAft>
              <a:buChar char="•"/>
            </a:pPr>
            <a:r>
              <a:rPr sz="2000"/>
              <a:t>redirect körs vid varje navigering</a:t>
            </a:r>
          </a:p>
          <a:p>
            <a:pPr marL="365760" indent="-274320">
              <a:spcAft>
                <a:spcPts val="800"/>
              </a:spcAft>
              <a:buChar char="•"/>
            </a:pPr>
            <a:r>
              <a:rPr sz="2000"/>
              <a:t>Inte inloggad → /login</a:t>
            </a:r>
          </a:p>
          <a:p>
            <a:pPr marL="365760" indent="-274320">
              <a:spcAft>
                <a:spcPts val="800"/>
              </a:spcAft>
              <a:buChar char="•"/>
            </a:pPr>
            <a:r>
              <a:rPr sz="2000"/>
              <a:t>Inloggad på /login → flödet</a:t>
            </a:r>
          </a:p>
          <a:p>
            <a:pPr marL="365760" indent="-274320">
              <a:spcAft>
                <a:spcPts val="800"/>
              </a:spcAft>
              <a:buChar char="•"/>
            </a:pPr>
            <a:r>
              <a:rPr sz="2000"/>
              <a:t>.raw: vi är inte i en builder</a:t>
            </a:r>
          </a:p>
          <a:p>
            <a:pPr marL="365760" indent="-274320">
              <a:spcAft>
                <a:spcPts val="800"/>
              </a:spcAft>
              <a:buChar char="•"/>
            </a:pPr>
            <a:r>
              <a:rPr sz="2000"/>
              <a:t>/posts/new före /posts/:id</a:t>
            </a:r>
          </a:p>
        </p:txBody>
      </p:sp>
      <p:sp>
        <p:nvSpPr>
          <p:cNvPr id="4" name="Rounded Rectangle 3"/>
          <p:cNvSpPr/>
          <p:nvPr/>
        </p:nvSpPr>
        <p:spPr>
          <a:xfrm>
            <a:off x="5120640" y="1737360"/>
            <a:ext cx="6577279" cy="401574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none" lIns="274320" tIns="201168" rIns="274320" bIns="201168" rtlCol="0" anchor="t"/>
          <a:lstStyle/>
          <a:p>
            <a:pPr algn="l">
              <a:spcAft>
                <a:spcPts val="600"/>
              </a:spcAft>
            </a:pPr>
            <a:r>
              <a:rPr sz="1200" b="1">
                <a:solidFill>
                  <a:srgbClr val="8B95A7"/>
                </a:solidFill>
              </a:rPr>
              <a:t>lib/router.dart</a:t>
            </a:r>
          </a:p>
          <a:p>
            <a:pPr algn="l"/>
            <a:r>
              <a:rPr sz="1200">
                <a:solidFill>
                  <a:srgbClr val="E6E9EF"/>
                </a:solidFill>
                <a:latin typeface="Courier New"/>
              </a:rPr>
              <a:t>GoRouter createRouter(AuthService auth) {</a:t>
            </a:r>
          </a:p>
          <a:p>
            <a:pPr algn="l"/>
            <a:r>
              <a:rPr sz="1200">
                <a:solidFill>
                  <a:srgbClr val="E6E9EF"/>
                </a:solidFill>
                <a:latin typeface="Courier New"/>
              </a:rPr>
              <a:t>  return GoRouter(</a:t>
            </a:r>
          </a:p>
          <a:p>
            <a:pPr algn="l"/>
            <a:r>
              <a:rPr sz="1200">
                <a:solidFill>
                  <a:srgbClr val="E6E9EF"/>
                </a:solidFill>
                <a:latin typeface="Courier New"/>
              </a:rPr>
              <a:t>    redirect: (context, state) {</a:t>
            </a:r>
          </a:p>
          <a:p>
            <a:pPr algn="l"/>
            <a:r>
              <a:rPr sz="1200">
                <a:solidFill>
                  <a:srgbClr val="E6E9EF"/>
                </a:solidFill>
                <a:latin typeface="Courier New"/>
              </a:rPr>
              <a:t>      final loggedIn = auth.isLoggedIn.raw;</a:t>
            </a:r>
          </a:p>
          <a:p>
            <a:pPr algn="l"/>
            <a:r>
              <a:rPr sz="1200">
                <a:solidFill>
                  <a:srgbClr val="E6E9EF"/>
                </a:solidFill>
                <a:latin typeface="Courier New"/>
              </a:rPr>
              <a:t>      final onLogin =</a:t>
            </a:r>
          </a:p>
          <a:p>
            <a:pPr algn="l"/>
            <a:r>
              <a:rPr sz="1200">
                <a:solidFill>
                  <a:srgbClr val="E6E9EF"/>
                </a:solidFill>
                <a:latin typeface="Courier New"/>
              </a:rPr>
              <a:t>          state.matchedLocation == '/login';</a:t>
            </a:r>
          </a:p>
          <a:p>
            <a:pPr algn="l"/>
            <a:r>
              <a:rPr sz="1200">
                <a:solidFill>
                  <a:srgbClr val="E6E9EF"/>
                </a:solidFill>
                <a:latin typeface="Courier New"/>
              </a:rPr>
              <a:t>      if (!loggedIn &amp;&amp; !onLogin) return '/login';</a:t>
            </a:r>
          </a:p>
          <a:p>
            <a:pPr algn="l"/>
            <a:r>
              <a:rPr sz="1200">
                <a:solidFill>
                  <a:srgbClr val="E6E9EF"/>
                </a:solidFill>
                <a:latin typeface="Courier New"/>
              </a:rPr>
              <a:t>      if (loggedIn &amp;&amp; onLogin) return '/';</a:t>
            </a:r>
          </a:p>
          <a:p>
            <a:pPr algn="l"/>
            <a:r>
              <a:rPr sz="1200">
                <a:solidFill>
                  <a:srgbClr val="E6E9EF"/>
                </a:solidFill>
                <a:latin typeface="Courier New"/>
              </a:rPr>
              <a:t>      return null;</a:t>
            </a:r>
          </a:p>
          <a:p>
            <a:pPr algn="l"/>
            <a:r>
              <a:rPr sz="1200">
                <a:solidFill>
                  <a:srgbClr val="E6E9EF"/>
                </a:solidFill>
                <a:latin typeface="Courier New"/>
              </a:rPr>
              <a:t>    },</a:t>
            </a:r>
          </a:p>
          <a:p>
            <a:pPr algn="l"/>
            <a:r>
              <a:rPr sz="1200">
                <a:solidFill>
                  <a:srgbClr val="E6E9EF"/>
                </a:solidFill>
                <a:latin typeface="Courier New"/>
              </a:rPr>
              <a:t>    routes: [ /* GoRoute för varje sida */ ],</a:t>
            </a:r>
          </a:p>
          <a:p>
            <a:pPr algn="l"/>
            <a:r>
              <a:rPr sz="1200">
                <a:solidFill>
                  <a:srgbClr val="E6E9EF"/>
                </a:solidFill>
                <a:latin typeface="Courier New"/>
              </a:rPr>
              <a:t>  );</a:t>
            </a:r>
          </a:p>
          <a:p>
            <a:pPr algn="l"/>
            <a:r>
              <a:rPr sz="1200">
                <a:solidFill>
                  <a:srgbClr val="E6E9EF"/>
                </a:solidFill>
                <a:latin typeface="Courier New"/>
              </a:rPr>
              <a:t>}</a:t>
            </a:r>
          </a:p>
          <a:p>
            <a:pPr algn="l"/>
            <a:r>
              <a:rPr sz="1200">
                <a:solidFill>
                  <a:srgbClr val="E6E9EF"/>
                </a:solidFill>
                <a:latin typeface="Courier New"/>
              </a:rPr>
              <a:t> </a:t>
            </a:r>
          </a:p>
          <a:p>
            <a:pPr algn="l"/>
            <a:r>
              <a:rPr sz="1200">
                <a:solidFill>
                  <a:srgbClr val="8B95A7"/>
                </a:solidFill>
                <a:latin typeface="Courier New"/>
              </a:rPr>
              <a:t>// I KvittraApp.setup():</a:t>
            </a:r>
          </a:p>
          <a:p>
            <a:pPr algn="l"/>
            <a:r>
              <a:rPr sz="1200">
                <a:solidFill>
                  <a:srgbClr val="E6E9EF"/>
                </a:solidFill>
                <a:latin typeface="Courier New"/>
              </a:rPr>
              <a:t>watch(() =&gt; auth.isLoggedIn.value,</a:t>
            </a:r>
          </a:p>
          <a:p>
            <a:pPr algn="l"/>
            <a:r>
              <a:rPr sz="1200">
                <a:solidFill>
                  <a:srgbClr val="E6E9EF"/>
                </a:solidFill>
                <a:latin typeface="Courier New"/>
              </a:rPr>
              <a:t>    (_, _) =&gt; router.refresh());</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Så hänger det ihop när Anna loggar in</a:t>
            </a:r>
          </a:p>
        </p:txBody>
      </p:sp>
      <p:sp>
        <p:nvSpPr>
          <p:cNvPr id="3" name="Oval 2"/>
          <p:cNvSpPr/>
          <p:nvPr/>
        </p:nvSpPr>
        <p:spPr>
          <a:xfrm>
            <a:off x="813816" y="173736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1</a:t>
            </a:r>
          </a:p>
        </p:txBody>
      </p:sp>
      <p:sp>
        <p:nvSpPr>
          <p:cNvPr id="4" name="TextBox 3"/>
          <p:cNvSpPr txBox="1"/>
          <p:nvPr/>
        </p:nvSpPr>
        <p:spPr>
          <a:xfrm>
            <a:off x="1591056" y="1719072"/>
            <a:ext cx="5394960" cy="960120"/>
          </a:xfrm>
          <a:prstGeom prst="rect">
            <a:avLst/>
          </a:prstGeom>
          <a:noFill/>
        </p:spPr>
        <p:txBody>
          <a:bodyPr wrap="square" lIns="0" tIns="0" rIns="0" bIns="0" anchor="t">
            <a:spAutoFit/>
          </a:bodyPr>
          <a:lstStyle/>
          <a:p>
            <a:pPr algn="l">
              <a:spcAft>
                <a:spcPts val="200"/>
              </a:spcAft>
            </a:pPr>
            <a:r>
              <a:rPr sz="1900" b="1"/>
              <a:t>authWithPassword</a:t>
            </a:r>
          </a:p>
          <a:p>
            <a:pPr algn="l">
              <a:spcAft>
                <a:spcPts val="800"/>
              </a:spcAft>
            </a:pPr>
            <a:r>
              <a:rPr sz="1500" b="0">
                <a:solidFill>
                  <a:srgbClr val="595959"/>
                </a:solidFill>
              </a:rPr>
              <a:t>pb.authStore ändras</a:t>
            </a:r>
          </a:p>
        </p:txBody>
      </p:sp>
      <p:sp>
        <p:nvSpPr>
          <p:cNvPr id="5" name="Oval 4"/>
          <p:cNvSpPr/>
          <p:nvPr/>
        </p:nvSpPr>
        <p:spPr>
          <a:xfrm>
            <a:off x="813816" y="269748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2</a:t>
            </a:r>
          </a:p>
        </p:txBody>
      </p:sp>
      <p:sp>
        <p:nvSpPr>
          <p:cNvPr id="6" name="TextBox 5"/>
          <p:cNvSpPr txBox="1"/>
          <p:nvPr/>
        </p:nvSpPr>
        <p:spPr>
          <a:xfrm>
            <a:off x="1591056" y="2679192"/>
            <a:ext cx="5394960" cy="960120"/>
          </a:xfrm>
          <a:prstGeom prst="rect">
            <a:avLst/>
          </a:prstGeom>
          <a:noFill/>
        </p:spPr>
        <p:txBody>
          <a:bodyPr wrap="square" lIns="0" tIns="0" rIns="0" bIns="0" anchor="t">
            <a:spAutoFit/>
          </a:bodyPr>
          <a:lstStyle/>
          <a:p>
            <a:pPr algn="l">
              <a:spcAft>
                <a:spcPts val="200"/>
              </a:spcAft>
            </a:pPr>
            <a:r>
              <a:rPr sz="1900" b="1"/>
              <a:t>AuthService</a:t>
            </a:r>
          </a:p>
          <a:p>
            <a:pPr algn="l">
              <a:spcAft>
                <a:spcPts val="800"/>
              </a:spcAft>
            </a:pPr>
            <a:r>
              <a:rPr sz="1500" b="0">
                <a:solidFill>
                  <a:srgbClr val="595959"/>
                </a:solidFill>
              </a:rPr>
              <a:t>user uppdateras och isLoggedIn blir true</a:t>
            </a:r>
          </a:p>
        </p:txBody>
      </p:sp>
      <p:sp>
        <p:nvSpPr>
          <p:cNvPr id="7" name="Oval 6"/>
          <p:cNvSpPr/>
          <p:nvPr/>
        </p:nvSpPr>
        <p:spPr>
          <a:xfrm>
            <a:off x="813816" y="365760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3</a:t>
            </a:r>
          </a:p>
        </p:txBody>
      </p:sp>
      <p:sp>
        <p:nvSpPr>
          <p:cNvPr id="8" name="TextBox 7"/>
          <p:cNvSpPr txBox="1"/>
          <p:nvPr/>
        </p:nvSpPr>
        <p:spPr>
          <a:xfrm>
            <a:off x="1591056" y="3639312"/>
            <a:ext cx="5394960" cy="960120"/>
          </a:xfrm>
          <a:prstGeom prst="rect">
            <a:avLst/>
          </a:prstGeom>
          <a:noFill/>
        </p:spPr>
        <p:txBody>
          <a:bodyPr wrap="square" lIns="0" tIns="0" rIns="0" bIns="0" anchor="t">
            <a:spAutoFit/>
          </a:bodyPr>
          <a:lstStyle/>
          <a:p>
            <a:pPr algn="l">
              <a:spcAft>
                <a:spcPts val="200"/>
              </a:spcAft>
            </a:pPr>
            <a:r>
              <a:rPr sz="1900" b="1"/>
              <a:t>watch i KvittraApp</a:t>
            </a:r>
          </a:p>
          <a:p>
            <a:pPr algn="l">
              <a:spcAft>
                <a:spcPts val="800"/>
              </a:spcAft>
            </a:pPr>
            <a:r>
              <a:rPr sz="1500" b="0">
                <a:solidFill>
                  <a:srgbClr val="595959"/>
                </a:solidFill>
              </a:rPr>
              <a:t>anropar router.refresh()</a:t>
            </a:r>
          </a:p>
        </p:txBody>
      </p:sp>
      <p:sp>
        <p:nvSpPr>
          <p:cNvPr id="9" name="Oval 8"/>
          <p:cNvSpPr/>
          <p:nvPr/>
        </p:nvSpPr>
        <p:spPr>
          <a:xfrm>
            <a:off x="813816" y="461772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4</a:t>
            </a:r>
          </a:p>
        </p:txBody>
      </p:sp>
      <p:sp>
        <p:nvSpPr>
          <p:cNvPr id="10" name="TextBox 9"/>
          <p:cNvSpPr txBox="1"/>
          <p:nvPr/>
        </p:nvSpPr>
        <p:spPr>
          <a:xfrm>
            <a:off x="1591056" y="4599432"/>
            <a:ext cx="5394960" cy="960120"/>
          </a:xfrm>
          <a:prstGeom prst="rect">
            <a:avLst/>
          </a:prstGeom>
          <a:noFill/>
        </p:spPr>
        <p:txBody>
          <a:bodyPr wrap="square" lIns="0" tIns="0" rIns="0" bIns="0" anchor="t">
            <a:spAutoFit/>
          </a:bodyPr>
          <a:lstStyle/>
          <a:p>
            <a:pPr algn="l">
              <a:spcAft>
                <a:spcPts val="200"/>
              </a:spcAft>
            </a:pPr>
            <a:r>
              <a:rPr sz="1900" b="1"/>
              <a:t>redirect</a:t>
            </a:r>
          </a:p>
          <a:p>
            <a:pPr algn="l">
              <a:spcAft>
                <a:spcPts val="800"/>
              </a:spcAft>
            </a:pPr>
            <a:r>
              <a:rPr sz="1500" b="0">
                <a:solidFill>
                  <a:srgbClr val="595959"/>
                </a:solidFill>
              </a:rPr>
              <a:t>körs igen och skickar Anna till flödet</a:t>
            </a:r>
          </a:p>
        </p:txBody>
      </p:sp>
      <p:sp>
        <p:nvSpPr>
          <p:cNvPr id="11" name="Rounded Rectangle 10"/>
          <p:cNvSpPr/>
          <p:nvPr/>
        </p:nvSpPr>
        <p:spPr>
          <a:xfrm>
            <a:off x="7223760" y="1737360"/>
            <a:ext cx="4474159" cy="3291840"/>
          </a:xfrm>
          <a:prstGeom prst="roundRect">
            <a:avLst>
              <a:gd name="adj" fmla="val 6000"/>
            </a:avLst>
          </a:prstGeom>
          <a:solidFill>
            <a:schemeClr val="accent3">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2011680"/>
            <a:ext cx="3925519" cy="2926080"/>
          </a:xfrm>
          <a:prstGeom prst="rect">
            <a:avLst/>
          </a:prstGeom>
          <a:noFill/>
        </p:spPr>
        <p:txBody>
          <a:bodyPr wrap="square" lIns="0" tIns="0" rIns="0" bIns="0" anchor="t">
            <a:spAutoFit/>
          </a:bodyPr>
          <a:lstStyle/>
          <a:p>
            <a:pPr algn="l">
              <a:spcAft>
                <a:spcPts val="1000"/>
              </a:spcAft>
            </a:pPr>
            <a:r>
              <a:rPr sz="1900" b="1"/>
              <a:t>Likes med bakåtrelation</a:t>
            </a:r>
          </a:p>
          <a:p>
            <a:pPr algn="l">
              <a:spcAft>
                <a:spcPts val="600"/>
              </a:spcAft>
            </a:pPr>
            <a:r>
              <a:rPr sz="1600" b="0"/>
              <a:t>expand: 'author,likes_via_post'</a:t>
            </a:r>
          </a:p>
          <a:p>
            <a:pPr algn="l">
              <a:spcAft>
                <a:spcPts val="600"/>
              </a:spcAft>
            </a:pPr>
            <a:r>
              <a:rPr sz="1600" b="0"/>
              <a:t>ger alla likes som pekar på inlägget.</a:t>
            </a:r>
          </a:p>
          <a:p>
            <a:pPr algn="l">
              <a:spcAft>
                <a:spcPts val="600"/>
              </a:spcAft>
            </a:pPr>
            <a:r>
              <a:rPr sz="1600" b="0"/>
              <a:t>likeCount = antal likes</a:t>
            </a:r>
          </a:p>
          <a:p>
            <a:pPr algn="l">
              <a:spcAft>
                <a:spcPts val="600"/>
              </a:spcAft>
            </a:pPr>
            <a:r>
              <a:rPr sz="1600" b="0"/>
              <a:t>likedByMe = finns min like bland dem?</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Testa appen</a:t>
            </a:r>
          </a:p>
        </p:txBody>
      </p:sp>
      <p:sp>
        <p:nvSpPr>
          <p:cNvPr id="3" name="TextBox 2"/>
          <p:cNvSpPr txBox="1"/>
          <p:nvPr/>
        </p:nvSpPr>
        <p:spPr>
          <a:xfrm>
            <a:off x="768096" y="1691640"/>
            <a:ext cx="10655503" cy="4572000"/>
          </a:xfrm>
          <a:prstGeom prst="rect">
            <a:avLst/>
          </a:prstGeom>
          <a:noFill/>
        </p:spPr>
        <p:txBody>
          <a:bodyPr wrap="square" lIns="0" tIns="0" rIns="0" bIns="0">
            <a:spAutoFit/>
          </a:bodyPr>
          <a:lstStyle/>
          <a:p>
            <a:pPr marL="365760" indent="-274320">
              <a:spcAft>
                <a:spcPts val="800"/>
              </a:spcAft>
              <a:buChar char="•"/>
            </a:pPr>
            <a:r>
              <a:rPr sz="2000"/>
              <a:t>Fel lösenord ger ”Fel e-post eller lösenord”</a:t>
            </a:r>
          </a:p>
          <a:p>
            <a:pPr marL="365760" indent="-274320">
              <a:spcAft>
                <a:spcPts val="800"/>
              </a:spcAft>
              <a:buChar char="•"/>
            </a:pPr>
            <a:r>
              <a:rPr sz="2000"/>
              <a:t>Anna kommer till flödet och ser inläggen från modul 01</a:t>
            </a:r>
          </a:p>
          <a:p>
            <a:pPr marL="365760" indent="-274320">
              <a:spcAft>
                <a:spcPts val="800"/>
              </a:spcAft>
              <a:buChar char="•"/>
            </a:pPr>
            <a:r>
              <a:rPr sz="2000"/>
              <a:t>Hjärtat ändras direkt, och antalet stämmer med Dashboard</a:t>
            </a:r>
          </a:p>
          <a:p>
            <a:pPr marL="365760" indent="-274320">
              <a:spcAft>
                <a:spcPts val="800"/>
              </a:spcAft>
              <a:buChar char="•"/>
            </a:pPr>
            <a:r>
              <a:rPr sz="2000"/>
              <a:t>Ett nytt inlägg syns först i flödet efter Publicera</a:t>
            </a:r>
          </a:p>
          <a:p>
            <a:pPr marL="365760" indent="-274320">
              <a:spcAft>
                <a:spcPts val="800"/>
              </a:spcAft>
              <a:buChar char="•"/>
            </a:pPr>
            <a:r>
              <a:rPr sz="2000"/>
              <a:t>En kommentar från Dashboard dyker upp på inläggssidan direkt</a:t>
            </a:r>
          </a:p>
          <a:p>
            <a:pPr marL="365760" indent="-274320">
              <a:spcAft>
                <a:spcPts val="800"/>
              </a:spcAft>
              <a:buChar char="•"/>
            </a:pPr>
            <a:r>
              <a:rPr sz="2000"/>
              <a:t>Anna kan följa David, och antalet följare ökar</a:t>
            </a:r>
          </a:p>
          <a:p>
            <a:pPr marL="365760" indent="-274320">
              <a:spcAft>
                <a:spcPts val="800"/>
              </a:spcAft>
              <a:buChar char="•"/>
            </a:pPr>
            <a:r>
              <a:rPr sz="2000"/>
              <a:t>Efter Logga ut kommer man till inloggningen</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Övning: bygg vidare på Kvittra</a:t>
            </a:r>
          </a:p>
        </p:txBody>
      </p:sp>
      <p:sp>
        <p:nvSpPr>
          <p:cNvPr id="3" name="Rounded Rectangle 2"/>
          <p:cNvSpPr/>
          <p:nvPr/>
        </p:nvSpPr>
        <p:spPr>
          <a:xfrm>
            <a:off x="9869119" y="566928"/>
            <a:ext cx="1554480" cy="457200"/>
          </a:xfrm>
          <a:prstGeom prst="roundRect">
            <a:avLst>
              <a:gd name="adj" fmla="val 5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A5A00"/>
                </a:solidFill>
              </a:rPr>
              <a:t>ÖVNING</a:t>
            </a:r>
          </a:p>
        </p:txBody>
      </p:sp>
      <p:sp>
        <p:nvSpPr>
          <p:cNvPr id="4" name="TextBox 3"/>
          <p:cNvSpPr txBox="1"/>
          <p:nvPr/>
        </p:nvSpPr>
        <p:spPr>
          <a:xfrm>
            <a:off x="768096" y="169164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8.1</a:t>
            </a:r>
          </a:p>
        </p:txBody>
      </p:sp>
      <p:sp>
        <p:nvSpPr>
          <p:cNvPr id="5" name="TextBox 4"/>
          <p:cNvSpPr txBox="1"/>
          <p:nvPr/>
        </p:nvSpPr>
        <p:spPr>
          <a:xfrm>
            <a:off x="1636776" y="1691640"/>
            <a:ext cx="9786823" cy="777240"/>
          </a:xfrm>
          <a:prstGeom prst="rect">
            <a:avLst/>
          </a:prstGeom>
          <a:noFill/>
        </p:spPr>
        <p:txBody>
          <a:bodyPr wrap="square" lIns="0" tIns="0" rIns="0" bIns="0" anchor="t">
            <a:spAutoFit/>
          </a:bodyPr>
          <a:lstStyle/>
          <a:p>
            <a:pPr algn="l">
              <a:spcAft>
                <a:spcPts val="800"/>
              </a:spcAft>
            </a:pPr>
            <a:r>
              <a:rPr sz="1700" b="0"/>
              <a:t>Knappen ”Följer” – visa bara inlägg från dem du följer.</a:t>
            </a:r>
          </a:p>
        </p:txBody>
      </p:sp>
      <p:sp>
        <p:nvSpPr>
          <p:cNvPr id="6" name="TextBox 5"/>
          <p:cNvSpPr txBox="1"/>
          <p:nvPr/>
        </p:nvSpPr>
        <p:spPr>
          <a:xfrm>
            <a:off x="768096" y="246888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8.2</a:t>
            </a:r>
          </a:p>
        </p:txBody>
      </p:sp>
      <p:sp>
        <p:nvSpPr>
          <p:cNvPr id="7" name="TextBox 6"/>
          <p:cNvSpPr txBox="1"/>
          <p:nvPr/>
        </p:nvSpPr>
        <p:spPr>
          <a:xfrm>
            <a:off x="1636776" y="2468880"/>
            <a:ext cx="9786823" cy="777240"/>
          </a:xfrm>
          <a:prstGeom prst="rect">
            <a:avLst/>
          </a:prstGeom>
          <a:noFill/>
        </p:spPr>
        <p:txBody>
          <a:bodyPr wrap="square" lIns="0" tIns="0" rIns="0" bIns="0" anchor="t">
            <a:spAutoFit/>
          </a:bodyPr>
          <a:lstStyle/>
          <a:p>
            <a:pPr algn="l">
              <a:spcAft>
                <a:spcPts val="800"/>
              </a:spcAft>
            </a:pPr>
            <a:r>
              <a:rPr sz="1700" b="0"/>
              <a:t>Visa antal kommentarer på varje PostCard (comments_via_post).</a:t>
            </a:r>
          </a:p>
        </p:txBody>
      </p:sp>
      <p:sp>
        <p:nvSpPr>
          <p:cNvPr id="8" name="TextBox 7"/>
          <p:cNvSpPr txBox="1"/>
          <p:nvPr/>
        </p:nvSpPr>
        <p:spPr>
          <a:xfrm>
            <a:off x="768096" y="324612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8.3</a:t>
            </a:r>
          </a:p>
        </p:txBody>
      </p:sp>
      <p:sp>
        <p:nvSpPr>
          <p:cNvPr id="9" name="TextBox 8"/>
          <p:cNvSpPr txBox="1"/>
          <p:nvPr/>
        </p:nvSpPr>
        <p:spPr>
          <a:xfrm>
            <a:off x="1636776" y="3246120"/>
            <a:ext cx="9786823" cy="777240"/>
          </a:xfrm>
          <a:prstGeom prst="rect">
            <a:avLst/>
          </a:prstGeom>
          <a:noFill/>
        </p:spPr>
        <p:txBody>
          <a:bodyPr wrap="square" lIns="0" tIns="0" rIns="0" bIns="0" anchor="t">
            <a:spAutoFit/>
          </a:bodyPr>
          <a:lstStyle/>
          <a:p>
            <a:pPr algn="l">
              <a:spcAft>
                <a:spcPts val="800"/>
              </a:spcAft>
            </a:pPr>
            <a:r>
              <a:rPr sz="1700" b="0"/>
              <a:t>Låt författaren radera sitt eget inlägg från PostPage.</a:t>
            </a:r>
          </a:p>
        </p:txBody>
      </p:sp>
      <p:sp>
        <p:nvSpPr>
          <p:cNvPr id="10" name="TextBox 9"/>
          <p:cNvSpPr txBox="1"/>
          <p:nvPr/>
        </p:nvSpPr>
        <p:spPr>
          <a:xfrm>
            <a:off x="768096" y="402336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8.4</a:t>
            </a:r>
          </a:p>
        </p:txBody>
      </p:sp>
      <p:sp>
        <p:nvSpPr>
          <p:cNvPr id="11" name="TextBox 10"/>
          <p:cNvSpPr txBox="1"/>
          <p:nvPr/>
        </p:nvSpPr>
        <p:spPr>
          <a:xfrm>
            <a:off x="1636776" y="4023360"/>
            <a:ext cx="9786823" cy="777240"/>
          </a:xfrm>
          <a:prstGeom prst="rect">
            <a:avLst/>
          </a:prstGeom>
          <a:noFill/>
        </p:spPr>
        <p:txBody>
          <a:bodyPr wrap="square" lIns="0" tIns="0" rIns="0" bIns="0" anchor="t">
            <a:spAutoFit/>
          </a:bodyPr>
          <a:lstStyle/>
          <a:p>
            <a:pPr algn="l">
              <a:spcAft>
                <a:spcPts val="800"/>
              </a:spcAft>
            </a:pPr>
            <a:r>
              <a:rPr sz="1700" b="0"/>
              <a:t>En sida där man kan ändra sin egen bio.</a:t>
            </a:r>
          </a:p>
        </p:txBody>
      </p:sp>
      <p:sp>
        <p:nvSpPr>
          <p:cNvPr id="12" name="TextBox 11"/>
          <p:cNvSpPr txBox="1"/>
          <p:nvPr/>
        </p:nvSpPr>
        <p:spPr>
          <a:xfrm>
            <a:off x="768096" y="4800600"/>
            <a:ext cx="822960" cy="777240"/>
          </a:xfrm>
          <a:prstGeom prst="rect">
            <a:avLst/>
          </a:prstGeom>
          <a:noFill/>
        </p:spPr>
        <p:txBody>
          <a:bodyPr wrap="square" lIns="0" tIns="0" rIns="0" bIns="0" anchor="t">
            <a:spAutoFit/>
          </a:bodyPr>
          <a:lstStyle/>
          <a:p>
            <a:pPr algn="l">
              <a:spcAft>
                <a:spcPts val="800"/>
              </a:spcAft>
            </a:pPr>
            <a:r>
              <a:rPr sz="1700" b="1">
                <a:solidFill>
                  <a:srgbClr val="8A5A00"/>
                </a:solidFill>
              </a:rPr>
              <a:t>8.5</a:t>
            </a:r>
          </a:p>
        </p:txBody>
      </p:sp>
      <p:sp>
        <p:nvSpPr>
          <p:cNvPr id="13" name="TextBox 12"/>
          <p:cNvSpPr txBox="1"/>
          <p:nvPr/>
        </p:nvSpPr>
        <p:spPr>
          <a:xfrm>
            <a:off x="1636776" y="4800600"/>
            <a:ext cx="9786823" cy="777240"/>
          </a:xfrm>
          <a:prstGeom prst="rect">
            <a:avLst/>
          </a:prstGeom>
          <a:noFill/>
        </p:spPr>
        <p:txBody>
          <a:bodyPr wrap="square" lIns="0" tIns="0" rIns="0" bIns="0" anchor="t">
            <a:spAutoFit/>
          </a:bodyPr>
          <a:lstStyle/>
          <a:p>
            <a:pPr algn="l">
              <a:spcAft>
                <a:spcPts val="800"/>
              </a:spcAft>
            </a:pPr>
            <a:r>
              <a:rPr sz="1700" b="0"/>
              <a:t>Ert projekt: bygg en sida med CompositionWidget, useAsyncData och inject.</a:t>
            </a:r>
          </a:p>
        </p:txBody>
      </p:sp>
      <p:sp>
        <p:nvSpPr>
          <p:cNvPr id="14" name="TextBox 13"/>
          <p:cNvSpPr txBox="1"/>
          <p:nvPr/>
        </p:nvSpPr>
        <p:spPr>
          <a:xfrm>
            <a:off x="768096" y="6172200"/>
            <a:ext cx="10655503" cy="365760"/>
          </a:xfrm>
          <a:prstGeom prst="rect">
            <a:avLst/>
          </a:prstGeom>
          <a:noFill/>
        </p:spPr>
        <p:txBody>
          <a:bodyPr wrap="square" lIns="0" tIns="0" rIns="0" bIns="0" anchor="t">
            <a:spAutoFit/>
          </a:bodyPr>
          <a:lstStyle/>
          <a:p>
            <a:pPr algn="l">
              <a:spcAft>
                <a:spcPts val="800"/>
              </a:spcAft>
            </a:pPr>
            <a:r>
              <a:rPr sz="1400" b="0">
                <a:solidFill>
                  <a:srgbClr val="595959"/>
                </a:solidFill>
              </a:rPr>
              <a:t>Filter för 8.1: pb.filter('author.follows_via_following.follower ?= {:me}', {'me': auth.myId})</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D273B61-909A-5649-91CD-6C99A78662D9}"/>
              </a:ext>
            </a:extLst>
          </p:cNvPr>
          <p:cNvSpPr>
            <a:spLocks noGrp="1"/>
          </p:cNvSpPr>
          <p:nvPr>
            <p:ph type="title"/>
          </p:nvPr>
        </p:nvSpPr>
        <p:spPr/>
        <p:txBody>
          <a:bodyPr/>
          <a:lstStyle/>
          <a:p>
            <a:r>
              <a:rPr lang="sv-SE"/>
              <a:t>Caprover – Paas – Platform as a Service</a:t>
            </a:r>
          </a:p>
        </p:txBody>
      </p:sp>
      <p:sp>
        <p:nvSpPr>
          <p:cNvPr id="3" name="Platshållare för innehåll 2">
            <a:extLst>
              <a:ext uri="{FF2B5EF4-FFF2-40B4-BE49-F238E27FC236}">
                <a16:creationId xmlns:a16="http://schemas.microsoft.com/office/drawing/2014/main" id="{4015FA5D-D86E-DE31-DC67-DCA48DC4B3E0}"/>
              </a:ext>
            </a:extLst>
          </p:cNvPr>
          <p:cNvSpPr>
            <a:spLocks noGrp="1"/>
          </p:cNvSpPr>
          <p:nvPr>
            <p:ph idx="1"/>
          </p:nvPr>
        </p:nvSpPr>
        <p:spPr/>
        <p:txBody>
          <a:bodyPr vert="horz" lIns="91440" tIns="45720" rIns="91440" bIns="45720" rtlCol="0" anchor="t">
            <a:normAutofit/>
          </a:bodyPr>
          <a:lstStyle/>
          <a:p>
            <a:r>
              <a:rPr lang="sv-SE"/>
              <a:t>En snubbe från Uber</a:t>
            </a:r>
          </a:p>
          <a:p>
            <a:r>
              <a:rPr lang="sv-SE" dirty="0">
                <a:ea typeface="+mn-lt"/>
                <a:cs typeface="+mn-lt"/>
                <a:hlinkClick r:id="rId3"/>
              </a:rPr>
              <a:t>https://caprover.com</a:t>
            </a:r>
            <a:endParaRPr lang="sv-SE" dirty="0">
              <a:ea typeface="+mn-lt"/>
              <a:cs typeface="+mn-lt"/>
            </a:endParaRPr>
          </a:p>
          <a:p>
            <a:endParaRPr lang="sv-SE" dirty="0">
              <a:ea typeface="+mn-lt"/>
              <a:cs typeface="+mn-lt"/>
            </a:endParaRPr>
          </a:p>
          <a:p>
            <a:endParaRPr lang="sv-SE" dirty="0">
              <a:ea typeface="+mn-lt"/>
              <a:cs typeface="+mn-lt"/>
            </a:endParaRPr>
          </a:p>
        </p:txBody>
      </p:sp>
      <p:pic>
        <p:nvPicPr>
          <p:cNvPr id="4" name="Bildobjekt 3" descr="Uber GIFs - Download &amp; Share | GIFDB.com">
            <a:extLst>
              <a:ext uri="{FF2B5EF4-FFF2-40B4-BE49-F238E27FC236}">
                <a16:creationId xmlns:a16="http://schemas.microsoft.com/office/drawing/2014/main" id="{AF567B61-CF44-6648-D077-72FA2574D0D3}"/>
              </a:ext>
            </a:extLst>
          </p:cNvPr>
          <p:cNvPicPr>
            <a:picLocks noChangeAspect="1"/>
          </p:cNvPicPr>
          <p:nvPr/>
        </p:nvPicPr>
        <p:blipFill>
          <a:blip r:embed="rId4"/>
          <a:stretch>
            <a:fillRect/>
          </a:stretch>
        </p:blipFill>
        <p:spPr>
          <a:xfrm>
            <a:off x="4903396" y="1938330"/>
            <a:ext cx="6309872" cy="3596707"/>
          </a:xfrm>
          <a:prstGeom prst="rect">
            <a:avLst/>
          </a:prstGeom>
        </p:spPr>
      </p:pic>
    </p:spTree>
    <p:extLst>
      <p:ext uri="{BB962C8B-B14F-4D97-AF65-F5344CB8AC3E}">
        <p14:creationId xmlns:p14="http://schemas.microsoft.com/office/powerpoint/2010/main" val="28834657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Så jobbar ni med materialet</a:t>
            </a:r>
          </a:p>
        </p:txBody>
      </p:sp>
      <p:sp>
        <p:nvSpPr>
          <p:cNvPr id="3" name="Oval 2"/>
          <p:cNvSpPr/>
          <p:nvPr/>
        </p:nvSpPr>
        <p:spPr>
          <a:xfrm>
            <a:off x="813816" y="17373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1</a:t>
            </a:r>
          </a:p>
        </p:txBody>
      </p:sp>
      <p:sp>
        <p:nvSpPr>
          <p:cNvPr id="4" name="TextBox 3"/>
          <p:cNvSpPr txBox="1"/>
          <p:nvPr/>
        </p:nvSpPr>
        <p:spPr>
          <a:xfrm>
            <a:off x="1591056" y="1719072"/>
            <a:ext cx="5394960" cy="1051560"/>
          </a:xfrm>
          <a:prstGeom prst="rect">
            <a:avLst/>
          </a:prstGeom>
          <a:noFill/>
        </p:spPr>
        <p:txBody>
          <a:bodyPr wrap="square" lIns="0" tIns="0" rIns="0" bIns="0" anchor="t">
            <a:spAutoFit/>
          </a:bodyPr>
          <a:lstStyle/>
          <a:p>
            <a:pPr algn="l">
              <a:spcAft>
                <a:spcPts val="200"/>
              </a:spcAft>
            </a:pPr>
            <a:r>
              <a:rPr sz="1900" b="1"/>
              <a:t>Följ genomgången</a:t>
            </a:r>
          </a:p>
          <a:p>
            <a:pPr algn="l">
              <a:spcAft>
                <a:spcPts val="800"/>
              </a:spcAft>
            </a:pPr>
            <a:r>
              <a:rPr sz="1500" b="0">
                <a:solidFill>
                  <a:srgbClr val="595959"/>
                </a:solidFill>
              </a:rPr>
              <a:t>Samma kapitel finns i materialet på GitHub</a:t>
            </a:r>
          </a:p>
        </p:txBody>
      </p:sp>
      <p:sp>
        <p:nvSpPr>
          <p:cNvPr id="5" name="Oval 4"/>
          <p:cNvSpPr/>
          <p:nvPr/>
        </p:nvSpPr>
        <p:spPr>
          <a:xfrm>
            <a:off x="813816" y="278892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2</a:t>
            </a:r>
          </a:p>
        </p:txBody>
      </p:sp>
      <p:sp>
        <p:nvSpPr>
          <p:cNvPr id="6" name="TextBox 5"/>
          <p:cNvSpPr txBox="1"/>
          <p:nvPr/>
        </p:nvSpPr>
        <p:spPr>
          <a:xfrm>
            <a:off x="1591056" y="2770632"/>
            <a:ext cx="5394960" cy="1051560"/>
          </a:xfrm>
          <a:prstGeom prst="rect">
            <a:avLst/>
          </a:prstGeom>
          <a:noFill/>
        </p:spPr>
        <p:txBody>
          <a:bodyPr wrap="square" lIns="0" tIns="0" rIns="0" bIns="0" anchor="t">
            <a:spAutoFit/>
          </a:bodyPr>
          <a:lstStyle/>
          <a:p>
            <a:pPr algn="l">
              <a:spcAft>
                <a:spcPts val="200"/>
              </a:spcAft>
            </a:pPr>
            <a:r>
              <a:rPr sz="1900" b="1"/>
              <a:t>Gör övningarna</a:t>
            </a:r>
          </a:p>
          <a:p>
            <a:pPr algn="l">
              <a:spcAft>
                <a:spcPts val="800"/>
              </a:spcAft>
            </a:pPr>
            <a:r>
              <a:rPr sz="1500" b="0">
                <a:solidFill>
                  <a:srgbClr val="595959"/>
                </a:solidFill>
              </a:rPr>
              <a:t>De står i slutet av varje kapitel</a:t>
            </a:r>
          </a:p>
        </p:txBody>
      </p:sp>
      <p:sp>
        <p:nvSpPr>
          <p:cNvPr id="7" name="Oval 6"/>
          <p:cNvSpPr/>
          <p:nvPr/>
        </p:nvSpPr>
        <p:spPr>
          <a:xfrm>
            <a:off x="813816" y="384048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3</a:t>
            </a:r>
          </a:p>
        </p:txBody>
      </p:sp>
      <p:sp>
        <p:nvSpPr>
          <p:cNvPr id="8" name="TextBox 7"/>
          <p:cNvSpPr txBox="1"/>
          <p:nvPr/>
        </p:nvSpPr>
        <p:spPr>
          <a:xfrm>
            <a:off x="1591056" y="3822192"/>
            <a:ext cx="5394960" cy="1051560"/>
          </a:xfrm>
          <a:prstGeom prst="rect">
            <a:avLst/>
          </a:prstGeom>
          <a:noFill/>
        </p:spPr>
        <p:txBody>
          <a:bodyPr wrap="square" lIns="0" tIns="0" rIns="0" bIns="0" anchor="t">
            <a:spAutoFit/>
          </a:bodyPr>
          <a:lstStyle/>
          <a:p>
            <a:pPr algn="l">
              <a:spcAft>
                <a:spcPts val="200"/>
              </a:spcAft>
            </a:pPr>
            <a:r>
              <a:rPr sz="1900" b="1"/>
              <a:t>Jämför med lösningarna</a:t>
            </a:r>
          </a:p>
          <a:p>
            <a:pPr algn="l">
              <a:spcAft>
                <a:spcPts val="800"/>
              </a:spcAft>
            </a:pPr>
            <a:r>
              <a:rPr sz="1500" b="0">
                <a:solidFill>
                  <a:srgbClr val="595959"/>
                </a:solidFill>
              </a:rPr>
              <a:t>Försök själv först, titta sedan i losningar.md</a:t>
            </a:r>
          </a:p>
        </p:txBody>
      </p:sp>
      <p:sp>
        <p:nvSpPr>
          <p:cNvPr id="9" name="Oval 8"/>
          <p:cNvSpPr/>
          <p:nvPr/>
        </p:nvSpPr>
        <p:spPr>
          <a:xfrm>
            <a:off x="813816" y="489204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rPr>
              <a:t>4</a:t>
            </a:r>
          </a:p>
        </p:txBody>
      </p:sp>
      <p:sp>
        <p:nvSpPr>
          <p:cNvPr id="10" name="TextBox 9"/>
          <p:cNvSpPr txBox="1"/>
          <p:nvPr/>
        </p:nvSpPr>
        <p:spPr>
          <a:xfrm>
            <a:off x="1591056" y="4873752"/>
            <a:ext cx="5394960" cy="1051560"/>
          </a:xfrm>
          <a:prstGeom prst="rect">
            <a:avLst/>
          </a:prstGeom>
          <a:noFill/>
        </p:spPr>
        <p:txBody>
          <a:bodyPr wrap="square" lIns="0" tIns="0" rIns="0" bIns="0" anchor="t">
            <a:spAutoFit/>
          </a:bodyPr>
          <a:lstStyle/>
          <a:p>
            <a:pPr algn="l">
              <a:spcAft>
                <a:spcPts val="200"/>
              </a:spcAft>
            </a:pPr>
            <a:r>
              <a:rPr sz="1900" b="1"/>
              <a:t>Gör samma sak med ert projekt</a:t>
            </a:r>
          </a:p>
          <a:p>
            <a:pPr algn="l">
              <a:spcAft>
                <a:spcPts val="800"/>
              </a:spcAft>
            </a:pPr>
            <a:r>
              <a:rPr sz="1500" b="0">
                <a:solidFill>
                  <a:srgbClr val="595959"/>
                </a:solidFill>
              </a:rPr>
              <a:t>Databasdesign, PocketBase och sedan appen</a:t>
            </a:r>
          </a:p>
        </p:txBody>
      </p:sp>
      <p:sp>
        <p:nvSpPr>
          <p:cNvPr id="11" name="Rounded Rectangle 10"/>
          <p:cNvSpPr/>
          <p:nvPr/>
        </p:nvSpPr>
        <p:spPr>
          <a:xfrm>
            <a:off x="7223760" y="1737360"/>
            <a:ext cx="4474159" cy="3291840"/>
          </a:xfrm>
          <a:prstGeom prst="roundRect">
            <a:avLst>
              <a:gd name="adj" fmla="val 6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2011680"/>
            <a:ext cx="3925519" cy="2926080"/>
          </a:xfrm>
          <a:prstGeom prst="rect">
            <a:avLst/>
          </a:prstGeom>
          <a:noFill/>
        </p:spPr>
        <p:txBody>
          <a:bodyPr wrap="square" lIns="0" tIns="0" rIns="0" bIns="0" anchor="t">
            <a:spAutoFit/>
          </a:bodyPr>
          <a:lstStyle/>
          <a:p>
            <a:pPr algn="l">
              <a:spcAft>
                <a:spcPts val="1000"/>
              </a:spcAft>
            </a:pPr>
            <a:r>
              <a:rPr sz="1900" b="1"/>
              <a:t>Allt material finns på GitHub</a:t>
            </a:r>
          </a:p>
          <a:p>
            <a:pPr algn="l">
              <a:spcAft>
                <a:spcPts val="600"/>
              </a:spcAft>
            </a:pPr>
            <a:r>
              <a:rPr sz="1600" b="0"/>
              <a:t>github.com/abbjetmus/pocketbase-flutter-kurs</a:t>
            </a:r>
          </a:p>
          <a:p>
            <a:pPr algn="l">
              <a:spcAft>
                <a:spcPts val="600"/>
              </a:spcAft>
            </a:pPr>
            <a:endParaRPr sz="1600" b="0"/>
          </a:p>
          <a:p>
            <a:pPr algn="l">
              <a:spcAft>
                <a:spcPts val="600"/>
              </a:spcAft>
            </a:pPr>
            <a:r>
              <a:rPr sz="1600" b="0"/>
              <a:t>Det här behöver ni:</a:t>
            </a:r>
          </a:p>
          <a:p>
            <a:pPr algn="l">
              <a:spcAft>
                <a:spcPts val="600"/>
              </a:spcAft>
            </a:pPr>
            <a:r>
              <a:rPr sz="1600" b="0"/>
              <a:t>VS Code med Flutter-tillägget</a:t>
            </a:r>
          </a:p>
          <a:p>
            <a:pPr algn="l">
              <a:spcAft>
                <a:spcPts val="600"/>
              </a:spcAft>
            </a:pPr>
            <a:r>
              <a:rPr sz="1600" b="0"/>
              <a:t>Flutter SDK och Chrome</a:t>
            </a:r>
          </a:p>
          <a:p>
            <a:pPr algn="l">
              <a:spcAft>
                <a:spcPts val="600"/>
              </a:spcAft>
            </a:pPr>
            <a:r>
              <a:rPr sz="1600" b="0"/>
              <a:t>PocketBase från pocketbase.io</a:t>
            </a:r>
          </a:p>
        </p:txBody>
      </p:sp>
    </p:spTree>
  </p:cSld>
  <p:clrMapOvr>
    <a:masterClrMapping/>
  </p:clrMapOvr>
</p:sld>
</file>

<file path=ppt/theme/theme1.xml><?xml version="1.0" encoding="utf-8"?>
<a:theme xmlns:a="http://schemas.openxmlformats.org/drawingml/2006/main" name="Office-tema">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Bredbild</PresentationFormat>
  <Paragraphs>0</Paragraphs>
  <Slides>99</Slides>
  <Notes>74</Notes>
  <HiddenSlides>0</HiddenSlides>
  <MMClips>0</MMClips>
  <ScaleCrop>false</ScaleCrop>
  <HeadingPairs>
    <vt:vector size="4" baseType="variant">
      <vt:variant>
        <vt:lpstr>Tema</vt:lpstr>
      </vt:variant>
      <vt:variant>
        <vt:i4>1</vt:i4>
      </vt:variant>
      <vt:variant>
        <vt:lpstr>Bildrubriker</vt:lpstr>
      </vt:variant>
      <vt:variant>
        <vt:i4>99</vt:i4>
      </vt:variant>
    </vt:vector>
  </HeadingPairs>
  <TitlesOfParts>
    <vt:vector size="100" baseType="lpstr">
      <vt:lpstr>Office-tema</vt:lpstr>
      <vt:lpstr>Databaser och mobil apputveckling</vt:lpstr>
      <vt:lpstr>Momentets tre moduler</vt:lpstr>
      <vt:lpstr>Kvittra – vår egen sociala app</vt:lpstr>
      <vt:lpstr>PowerPoint-presentation</vt:lpstr>
      <vt:lpstr>Databas - Pocketbase</vt:lpstr>
      <vt:lpstr>Installera PocketBase på Windows</vt:lpstr>
      <vt:lpstr>PocketBase – kom ihåg</vt:lpstr>
      <vt:lpstr>Varför inte bara ett Excel-ark?</vt:lpstr>
      <vt:lpstr>Tabeller, rader och kolumner</vt:lpstr>
      <vt:lpstr>Nycklar – så hänger tabellerna ihop</vt:lpstr>
      <vt:lpstr>Olika typer av databaser</vt:lpstr>
      <vt:lpstr>Databasdesign i sex steg</vt:lpstr>
      <vt:lpstr>Steg 2 – hitta tabellerna</vt:lpstr>
      <vt:lpstr>Steg 3 – bestäm fälten</vt:lpstr>
      <vt:lpstr>Steg 4 – hitta relationerna</vt:lpstr>
      <vt:lpstr>Steg 5 – ER-diagrammet för Kvittra</vt:lpstr>
      <vt:lpstr>Steg 6 – checklista för designen</vt:lpstr>
      <vt:lpstr>Övning: designa ert förstudieprojekt</vt:lpstr>
      <vt:lpstr>Bygg Kvittra i PocketBase</vt:lpstr>
      <vt:lpstr>Skapa posts</vt:lpstr>
      <vt:lpstr>Resten av Kvittra</vt:lpstr>
      <vt:lpstr>Lägg in data – users och posts</vt:lpstr>
      <vt:lpstr>Lägg in data – comments, likes och follows</vt:lpstr>
      <vt:lpstr>Vad är SQL?</vt:lpstr>
      <vt:lpstr>Testa SQL med en View collection</vt:lpstr>
      <vt:lpstr>WHERE, ORDER BY och LIMIT</vt:lpstr>
      <vt:lpstr>JOIN – kombinera tabeller</vt:lpstr>
      <vt:lpstr>COUNT och GROUP BY – räkna</vt:lpstr>
      <vt:lpstr>SQL – sammanfattning</vt:lpstr>
      <vt:lpstr>Övning: SQL och View collections</vt:lpstr>
      <vt:lpstr>Inloggning och API-regler</vt:lpstr>
      <vt:lpstr>API-regler för Kvittra</vt:lpstr>
      <vt:lpstr>Övning: API-regler</vt:lpstr>
      <vt:lpstr>PowerPoint-presentation</vt:lpstr>
      <vt:lpstr>Flutter för mobil apputveckling</vt:lpstr>
      <vt:lpstr>Kom igång med Flutter</vt:lpstr>
      <vt:lpstr>Hot reload och projektets filer</vt:lpstr>
      <vt:lpstr>Övning: kom igång</vt:lpstr>
      <vt:lpstr>Dart – variabler och typer</vt:lpstr>
      <vt:lpstr>Funktioner och null safety</vt:lpstr>
      <vt:lpstr>Klasser – ett inlägg i Kvittra</vt:lpstr>
      <vt:lpstr>Dart jämfört med JavaScript</vt:lpstr>
      <vt:lpstr>Övning: Dart-grunder</vt:lpstr>
      <vt:lpstr>Allt är en widget</vt:lpstr>
      <vt:lpstr>Row och Column</vt:lpstr>
      <vt:lpstr>Bygg ett PostCard</vt:lpstr>
      <vt:lpstr>Övning: widgets och layout</vt:lpstr>
      <vt:lpstr>State – data som ändras</vt:lpstr>
      <vt:lpstr>En gilla-knapp med setState</vt:lpstr>
      <vt:lpstr>Textfält, controller och dispose</vt:lpstr>
      <vt:lpstr>Det här blir jobbigt …</vt:lpstr>
      <vt:lpstr>Övning: state och interaktion</vt:lpstr>
      <vt:lpstr>Navigation med go_router</vt:lpstr>
      <vt:lpstr>Navigera mellan skärmar</vt:lpstr>
      <vt:lpstr>Formulär och validering</vt:lpstr>
      <vt:lpstr>Övning: navigation och formulär</vt:lpstr>
      <vt:lpstr>Hämta data från PocketBase</vt:lpstr>
      <vt:lpstr>Hämta inläggen</vt:lpstr>
      <vt:lpstr>FutureBuilder: laddar, fel eller data</vt:lpstr>
      <vt:lpstr>Övning: hämta data från PocketBase</vt:lpstr>
      <vt:lpstr>PowerPoint-presentation</vt:lpstr>
      <vt:lpstr>Flutter Compositions</vt:lpstr>
      <vt:lpstr>Samma gilla-knapp – utan setState</vt:lpstr>
      <vt:lpstr>Så fungerar det</vt:lpstr>
      <vt:lpstr>StatefulWidget eller CompositionWidget?</vt:lpstr>
      <vt:lpstr>Kan du Vue?</vt:lpstr>
      <vt:lpstr>Regler att komma ihåg</vt:lpstr>
      <vt:lpstr>Övning: introduktion</vt:lpstr>
      <vt:lpstr>ref och computed</vt:lpstr>
      <vt:lpstr>Listor: ersätt, ändra inte</vt:lpstr>
      <vt:lpstr>Övning: ref och computed</vt:lpstr>
      <vt:lpstr>watch och watchEffect</vt:lpstr>
      <vt:lpstr>onMounted och onUnmounted</vt:lpstr>
      <vt:lpstr>När använder jag vad?</vt:lpstr>
      <vt:lpstr>Övning: watch och livscykel</vt:lpstr>
      <vt:lpstr>Props med widget()</vt:lpstr>
      <vt:lpstr>Textfält med useTextEditingController</vt:lpstr>
      <vt:lpstr>Egna composables</vt:lpstr>
      <vt:lpstr>Övning: props och composables</vt:lpstr>
      <vt:lpstr>Mer PocketBase: vem är inloggad och filter</vt:lpstr>
      <vt:lpstr>Skapa, ändra, ta bort – och gilla</vt:lpstr>
      <vt:lpstr>Fel och realtid</vt:lpstr>
      <vt:lpstr>Övning: skriva data och realtid</vt:lpstr>
      <vt:lpstr>Provide och inject</vt:lpstr>
      <vt:lpstr>En reaktiv AuthService</vt:lpstr>
      <vt:lpstr>Appens rot</vt:lpstr>
      <vt:lpstr>Övning: provide och inject</vt:lpstr>
      <vt:lpstr>AsyncValue – fyra lägen</vt:lpstr>
      <vt:lpstr>useAsyncData – hämta igen</vt:lpstr>
      <vt:lpstr>Kommentarer i realtid</vt:lpstr>
      <vt:lpstr>Gilla direkt – optimistisk uppdatering</vt:lpstr>
      <vt:lpstr>Övning: hämta data</vt:lpstr>
      <vt:lpstr>Bygg Kvittra-appen</vt:lpstr>
      <vt:lpstr>Router med inloggningskrav</vt:lpstr>
      <vt:lpstr>Så hänger det ihop när Anna loggar in</vt:lpstr>
      <vt:lpstr>Testa appen</vt:lpstr>
      <vt:lpstr>Övning: bygg vidare på Kvittra</vt:lpstr>
      <vt:lpstr>Caprover – Paas – Platform as a Service</vt:lpstr>
      <vt:lpstr>Så jobbar ni med materialet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160</cp:revision>
  <dcterms:created xsi:type="dcterms:W3CDTF">2026-10-15T08:43:02Z</dcterms:created>
  <dcterms:modified xsi:type="dcterms:W3CDTF">2026-10-16T07:47:46Z</dcterms:modified>
</cp:coreProperties>
</file>