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13"/>
    <p:sldId id="262" r:id="rId14"/>
    <p:sldId id="257" r:id="rId3"/>
    <p:sldId id="263" r:id="rId15"/>
    <p:sldId id="264" r:id="rId16"/>
    <p:sldId id="265" r:id="rId17"/>
    <p:sldId id="258" r:id="rId4"/>
    <p:sldId id="266" r:id="rId18"/>
    <p:sldId id="259" r:id="rId5"/>
    <p:sldId id="267" r:id="rId19"/>
    <p:sldId id="268" r:id="rId20"/>
    <p:sldId id="260" r:id="rId6"/>
    <p:sldId id="269" r:id="rId2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BA184A-1229-7A9A-2A57-202DA9BAA606}" v="254" dt="2026-10-15T12:11:22.9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76" d="100"/>
          <a:sy n="76" d="100"/>
        </p:scale>
        <p:origin x="90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ton Mustini" userId="S::jeton.mustini@hitachigymnasiet.se::7245db79-6028-466f-8076-7522a60d7b8f" providerId="AD" clId="Web-{23BA184A-1229-7A9A-2A57-202DA9BAA606}"/>
    <pc:docChg chg="addSld delSld modSld">
      <pc:chgData name="Jeton Mustini" userId="S::jeton.mustini@hitachigymnasiet.se::7245db79-6028-466f-8076-7522a60d7b8f" providerId="AD" clId="Web-{23BA184A-1229-7A9A-2A57-202DA9BAA606}" dt="2026-10-15T12:11:22.923" v="257"/>
      <pc:docMkLst>
        <pc:docMk/>
      </pc:docMkLst>
      <pc:sldChg chg="modSp">
        <pc:chgData name="Jeton Mustini" userId="S::jeton.mustini@hitachigymnasiet.se::7245db79-6028-466f-8076-7522a60d7b8f" providerId="AD" clId="Web-{23BA184A-1229-7A9A-2A57-202DA9BAA606}" dt="2026-10-15T08:43:49.780" v="36" actId="20577"/>
        <pc:sldMkLst>
          <pc:docMk/>
          <pc:sldMk cId="3194377694" sldId="256"/>
        </pc:sldMkLst>
        <pc:spChg chg="mod">
          <ac:chgData name="Jeton Mustini" userId="S::jeton.mustini@hitachigymnasiet.se::7245db79-6028-466f-8076-7522a60d7b8f" providerId="AD" clId="Web-{23BA184A-1229-7A9A-2A57-202DA9BAA606}" dt="2026-10-15T08:43:28.139" v="27" actId="20577"/>
          <ac:spMkLst>
            <pc:docMk/>
            <pc:sldMk cId="3194377694" sldId="256"/>
            <ac:spMk id="2" creationId="{00000000-0000-0000-0000-000000000000}"/>
          </ac:spMkLst>
        </pc:spChg>
        <pc:spChg chg="mod">
          <ac:chgData name="Jeton Mustini" userId="S::jeton.mustini@hitachigymnasiet.se::7245db79-6028-466f-8076-7522a60d7b8f" providerId="AD" clId="Web-{23BA184A-1229-7A9A-2A57-202DA9BAA606}" dt="2026-10-15T08:43:49.780" v="36" actId="20577"/>
          <ac:spMkLst>
            <pc:docMk/>
            <pc:sldMk cId="3194377694" sldId="256"/>
            <ac:spMk id="3" creationId="{00000000-0000-0000-0000-000000000000}"/>
          </ac:spMkLst>
        </pc:spChg>
      </pc:sldChg>
      <pc:sldChg chg="addSp modSp new">
        <pc:chgData name="Jeton Mustini" userId="S::jeton.mustini@hitachigymnasiet.se::7245db79-6028-466f-8076-7522a60d7b8f" providerId="AD" clId="Web-{23BA184A-1229-7A9A-2A57-202DA9BAA606}" dt="2026-10-15T08:58:50.026" v="218" actId="20577"/>
        <pc:sldMkLst>
          <pc:docMk/>
          <pc:sldMk cId="3843384323" sldId="257"/>
        </pc:sldMkLst>
        <pc:spChg chg="mod">
          <ac:chgData name="Jeton Mustini" userId="S::jeton.mustini@hitachigymnasiet.se::7245db79-6028-466f-8076-7522a60d7b8f" providerId="AD" clId="Web-{23BA184A-1229-7A9A-2A57-202DA9BAA606}" dt="2026-10-15T08:45:32.748" v="64" actId="20577"/>
          <ac:spMkLst>
            <pc:docMk/>
            <pc:sldMk cId="3843384323" sldId="257"/>
            <ac:spMk id="2" creationId="{9DE590F1-F515-AAF5-B580-5CF9515E7BC3}"/>
          </ac:spMkLst>
        </pc:spChg>
        <pc:spChg chg="mod">
          <ac:chgData name="Jeton Mustini" userId="S::jeton.mustini@hitachigymnasiet.se::7245db79-6028-466f-8076-7522a60d7b8f" providerId="AD" clId="Web-{23BA184A-1229-7A9A-2A57-202DA9BAA606}" dt="2026-10-15T08:58:50.026" v="218" actId="20577"/>
          <ac:spMkLst>
            <pc:docMk/>
            <pc:sldMk cId="3843384323" sldId="257"/>
            <ac:spMk id="3" creationId="{767DE83D-CF41-9A92-01D6-C1A33CADF362}"/>
          </ac:spMkLst>
        </pc:spChg>
        <pc:picChg chg="add mod">
          <ac:chgData name="Jeton Mustini" userId="S::jeton.mustini@hitachigymnasiet.se::7245db79-6028-466f-8076-7522a60d7b8f" providerId="AD" clId="Web-{23BA184A-1229-7A9A-2A57-202DA9BAA606}" dt="2026-10-15T08:45:07.952" v="57" actId="1076"/>
          <ac:picMkLst>
            <pc:docMk/>
            <pc:sldMk cId="3843384323" sldId="257"/>
            <ac:picMk id="4" creationId="{277E14F2-9AEB-23D4-D17F-1E2050BBBD70}"/>
          </ac:picMkLst>
        </pc:picChg>
      </pc:sldChg>
      <pc:sldChg chg="addSp modSp new">
        <pc:chgData name="Jeton Mustini" userId="S::jeton.mustini@hitachigymnasiet.se::7245db79-6028-466f-8076-7522a60d7b8f" providerId="AD" clId="Web-{23BA184A-1229-7A9A-2A57-202DA9BAA606}" dt="2026-10-15T09:00:01.838" v="238" actId="20577"/>
        <pc:sldMkLst>
          <pc:docMk/>
          <pc:sldMk cId="1657892336" sldId="258"/>
        </pc:sldMkLst>
        <pc:spChg chg="mod">
          <ac:chgData name="Jeton Mustini" userId="S::jeton.mustini@hitachigymnasiet.se::7245db79-6028-466f-8076-7522a60d7b8f" providerId="AD" clId="Web-{23BA184A-1229-7A9A-2A57-202DA9BAA606}" dt="2026-10-15T08:47:20.170" v="92" actId="20577"/>
          <ac:spMkLst>
            <pc:docMk/>
            <pc:sldMk cId="1657892336" sldId="258"/>
            <ac:spMk id="2" creationId="{E01CA3A3-5279-FE76-ABE6-9B84E03C2E6C}"/>
          </ac:spMkLst>
        </pc:spChg>
        <pc:spChg chg="mod">
          <ac:chgData name="Jeton Mustini" userId="S::jeton.mustini@hitachigymnasiet.se::7245db79-6028-466f-8076-7522a60d7b8f" providerId="AD" clId="Web-{23BA184A-1229-7A9A-2A57-202DA9BAA606}" dt="2026-10-15T09:00:01.838" v="238" actId="20577"/>
          <ac:spMkLst>
            <pc:docMk/>
            <pc:sldMk cId="1657892336" sldId="258"/>
            <ac:spMk id="3" creationId="{A6C04D80-F7CF-EC08-EFDF-90C8E9AA3A02}"/>
          </ac:spMkLst>
        </pc:spChg>
        <pc:picChg chg="add mod">
          <ac:chgData name="Jeton Mustini" userId="S::jeton.mustini@hitachigymnasiet.se::7245db79-6028-466f-8076-7522a60d7b8f" providerId="AD" clId="Web-{23BA184A-1229-7A9A-2A57-202DA9BAA606}" dt="2026-10-15T08:49:23.747" v="149" actId="1076"/>
          <ac:picMkLst>
            <pc:docMk/>
            <pc:sldMk cId="1657892336" sldId="258"/>
            <ac:picMk id="4" creationId="{D696A31C-AC25-6E2E-ED83-56A340A3DEEA}"/>
          </ac:picMkLst>
        </pc:picChg>
        <pc:picChg chg="add mod">
          <ac:chgData name="Jeton Mustini" userId="S::jeton.mustini@hitachigymnasiet.se::7245db79-6028-466f-8076-7522a60d7b8f" providerId="AD" clId="Web-{23BA184A-1229-7A9A-2A57-202DA9BAA606}" dt="2026-10-15T08:47:02.685" v="83" actId="1076"/>
          <ac:picMkLst>
            <pc:docMk/>
            <pc:sldMk cId="1657892336" sldId="258"/>
            <ac:picMk id="5" creationId="{3D5F8A49-7C72-E93B-9DF5-F37B67CBF5EB}"/>
          </ac:picMkLst>
        </pc:picChg>
      </pc:sldChg>
      <pc:sldChg chg="addSp modSp new">
        <pc:chgData name="Jeton Mustini" userId="S::jeton.mustini@hitachigymnasiet.se::7245db79-6028-466f-8076-7522a60d7b8f" providerId="AD" clId="Web-{23BA184A-1229-7A9A-2A57-202DA9BAA606}" dt="2026-10-15T09:00:13.713" v="239" actId="20577"/>
        <pc:sldMkLst>
          <pc:docMk/>
          <pc:sldMk cId="2698366375" sldId="259"/>
        </pc:sldMkLst>
        <pc:spChg chg="mod">
          <ac:chgData name="Jeton Mustini" userId="S::jeton.mustini@hitachigymnasiet.se::7245db79-6028-466f-8076-7522a60d7b8f" providerId="AD" clId="Web-{23BA184A-1229-7A9A-2A57-202DA9BAA606}" dt="2026-10-15T08:49:14.200" v="147" actId="20577"/>
          <ac:spMkLst>
            <pc:docMk/>
            <pc:sldMk cId="2698366375" sldId="259"/>
            <ac:spMk id="2" creationId="{42C75C6B-4CA4-F21A-FC79-32AAC0618E51}"/>
          </ac:spMkLst>
        </pc:spChg>
        <pc:spChg chg="mod">
          <ac:chgData name="Jeton Mustini" userId="S::jeton.mustini@hitachigymnasiet.se::7245db79-6028-466f-8076-7522a60d7b8f" providerId="AD" clId="Web-{23BA184A-1229-7A9A-2A57-202DA9BAA606}" dt="2026-10-15T09:00:13.713" v="239" actId="20577"/>
          <ac:spMkLst>
            <pc:docMk/>
            <pc:sldMk cId="2698366375" sldId="259"/>
            <ac:spMk id="3" creationId="{BC329EFA-6E27-9DA1-944C-178FA1E64ECA}"/>
          </ac:spMkLst>
        </pc:spChg>
        <pc:picChg chg="add mod">
          <ac:chgData name="Jeton Mustini" userId="S::jeton.mustini@hitachigymnasiet.se::7245db79-6028-466f-8076-7522a60d7b8f" providerId="AD" clId="Web-{23BA184A-1229-7A9A-2A57-202DA9BAA606}" dt="2026-10-15T08:53:00.137" v="191" actId="1076"/>
          <ac:picMkLst>
            <pc:docMk/>
            <pc:sldMk cId="2698366375" sldId="259"/>
            <ac:picMk id="4" creationId="{A148A4AF-9B5A-FC22-71B1-CB33970FFB2D}"/>
          </ac:picMkLst>
        </pc:picChg>
      </pc:sldChg>
      <pc:sldChg chg="addSp modSp new">
        <pc:chgData name="Jeton Mustini" userId="S::jeton.mustini@hitachigymnasiet.se::7245db79-6028-466f-8076-7522a60d7b8f" providerId="AD" clId="Web-{23BA184A-1229-7A9A-2A57-202DA9BAA606}" dt="2026-10-15T09:00:34.025" v="255" actId="20577"/>
        <pc:sldMkLst>
          <pc:docMk/>
          <pc:sldMk cId="2883465775" sldId="260"/>
        </pc:sldMkLst>
        <pc:spChg chg="mod">
          <ac:chgData name="Jeton Mustini" userId="S::jeton.mustini@hitachigymnasiet.se::7245db79-6028-466f-8076-7522a60d7b8f" providerId="AD" clId="Web-{23BA184A-1229-7A9A-2A57-202DA9BAA606}" dt="2026-10-15T09:00:34.025" v="255" actId="20577"/>
          <ac:spMkLst>
            <pc:docMk/>
            <pc:sldMk cId="2883465775" sldId="260"/>
            <ac:spMk id="2" creationId="{2D273B61-909A-5649-91CD-6C99A78662D9}"/>
          </ac:spMkLst>
        </pc:spChg>
        <pc:spChg chg="mod">
          <ac:chgData name="Jeton Mustini" userId="S::jeton.mustini@hitachigymnasiet.se::7245db79-6028-466f-8076-7522a60d7b8f" providerId="AD" clId="Web-{23BA184A-1229-7A9A-2A57-202DA9BAA606}" dt="2026-10-15T08:57:26.214" v="214" actId="20577"/>
          <ac:spMkLst>
            <pc:docMk/>
            <pc:sldMk cId="2883465775" sldId="260"/>
            <ac:spMk id="3" creationId="{4015FA5D-D86E-DE31-DC67-DCA48DC4B3E0}"/>
          </ac:spMkLst>
        </pc:spChg>
        <pc:picChg chg="add mod">
          <ac:chgData name="Jeton Mustini" userId="S::jeton.mustini@hitachigymnasiet.se::7245db79-6028-466f-8076-7522a60d7b8f" providerId="AD" clId="Web-{23BA184A-1229-7A9A-2A57-202DA9BAA606}" dt="2026-10-15T08:57:34.417" v="217" actId="14100"/>
          <ac:picMkLst>
            <pc:docMk/>
            <pc:sldMk cId="2883465775" sldId="260"/>
            <ac:picMk id="4" creationId="{AF567B61-CF44-6648-D077-72FA2574D0D3}"/>
          </ac:picMkLst>
        </pc:picChg>
      </pc:sldChg>
      <pc:sldChg chg="new del">
        <pc:chgData name="Jeton Mustini" userId="S::jeton.mustini@hitachigymnasiet.se::7245db79-6028-466f-8076-7522a60d7b8f" providerId="AD" clId="Web-{23BA184A-1229-7A9A-2A57-202DA9BAA606}" dt="2026-10-15T12:11:22.923" v="257"/>
        <pc:sldMkLst>
          <pc:docMk/>
          <pc:sldMk cId="837865985" sldId="261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format på underrubrik i bakgrunden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8442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2720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86728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92360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8" name="Platshållare för sidfo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77650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56609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3" name="Platshållare för sidfo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11076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ehåll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8965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bild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71453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3719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1644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0A13A-DB3F-4AD5-B6AF-BDA0278A0A3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07285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ocketbase.io" TargetMode="External"/><Relationship Id="rId3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lutter.dev" TargetMode="External"/><Relationship Id="rId3" Type="http://schemas.openxmlformats.org/officeDocument/2006/relationships/hyperlink" Target="https://dart.dev" TargetMode="External"/><Relationship Id="rId4" Type="http://schemas.openxmlformats.org/officeDocument/2006/relationships/image" Target="../media/image2.jpe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yoyo930021.github.io/flutter_compositions" TargetMode="External"/><Relationship Id="rId3" Type="http://schemas.openxmlformats.org/officeDocument/2006/relationships/image" Target="../media/image4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caprover.com" TargetMode="External"/><Relationship Id="rId3" Type="http://schemas.openxmlformats.org/officeDocument/2006/relationships/image" Target="../media/image5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jsonplaceholder.typicode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abbjetmus/pocketbase-flutter-kurs" TargetMode="External"/><Relationship Id="rId3" Type="http://schemas.openxmlformats.org/officeDocument/2006/relationships/hyperlink" Target="https://pocketbase.io/doc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Databaser och mobil apputveckling</a:t>
            </a:r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Jeton Mustini</a:t>
            </a:r>
          </a:p>
        </p:txBody>
      </p:sp>
    </p:spTree>
    <p:extLst>
      <p:ext uri="{BB962C8B-B14F-4D97-AF65-F5344CB8AC3E}">
        <p14:creationId xmlns:p14="http://schemas.microsoft.com/office/powerpoint/2010/main" val="3194377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DE590F1-F515-AAF5-B580-5CF9515E7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Databas - Pocketbase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67DE83D-CF41-9A92-01D6-C1A33CADF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9887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En snubbe från Bulgarien</a:t>
            </a:r>
          </a:p>
          <a:p>
            <a:r>
              <a:rPr lang="sv-SE" dirty="0">
                <a:ea typeface="+mn-lt"/>
                <a:cs typeface="+mn-lt"/>
                <a:hlinkClick r:id="rId2"/>
              </a:rPr>
              <a:t>https://pocketbase.io</a:t>
            </a:r>
            <a:endParaRPr lang="sv-SE" dirty="0"/>
          </a:p>
        </p:txBody>
      </p:sp>
      <p:pic>
        <p:nvPicPr>
          <p:cNvPr id="4" name="Bildobjekt 3" descr="Borat Dancing GIFs | Tenor">
            <a:extLst>
              <a:ext uri="{FF2B5EF4-FFF2-40B4-BE49-F238E27FC236}">
                <a16:creationId xmlns:a16="http://schemas.microsoft.com/office/drawing/2014/main" id="{277E14F2-9AEB-23D4-D17F-1E2050BBB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593" y="3146196"/>
            <a:ext cx="3053680" cy="2805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4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01CA3A3-5279-FE76-ABE6-9B84E03C2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Flutter för mobil apputveckling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6C04D80-F7CF-EC08-EFDF-90C8E9AA3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7148"/>
            <a:ext cx="10515600" cy="1596953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r>
              <a:rPr lang="sv-SE"/>
              <a:t>Google lösning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sv-SE" dirty="0">
                <a:ea typeface="+mn-lt"/>
                <a:cs typeface="+mn-lt"/>
                <a:hlinkClick r:id="rId2"/>
              </a:rPr>
              <a:t>https://flutter.dev</a:t>
            </a:r>
            <a:endParaRPr lang="sv-SE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sv-SE"/>
              <a:t>Programmeringsspråk Dart</a:t>
            </a:r>
            <a:endParaRPr lang="sv-SE" dirty="0"/>
          </a:p>
          <a:p>
            <a:pPr lvl="2">
              <a:buFont typeface="Wingdings" panose="020B0604020202020204" pitchFamily="34" charset="0"/>
              <a:buChar char="§"/>
            </a:pPr>
            <a:r>
              <a:rPr lang="sv-SE" dirty="0">
                <a:ea typeface="+mn-lt"/>
                <a:cs typeface="+mn-lt"/>
                <a:hlinkClick r:id="rId3"/>
              </a:rPr>
              <a:t>https://dart.dev</a:t>
            </a:r>
            <a:endParaRPr lang="sv-SE"/>
          </a:p>
          <a:p>
            <a:r>
              <a:rPr lang="sv-SE"/>
              <a:t>En kodbas för alla plattformar</a:t>
            </a:r>
            <a:endParaRPr lang="sv-SE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sv-SE"/>
              <a:t>IOS, Android, macOS, Windows, Linux, Web...</a:t>
            </a:r>
            <a:endParaRPr lang="sv-SE" dirty="0"/>
          </a:p>
          <a:p>
            <a:endParaRPr lang="sv-SE" dirty="0"/>
          </a:p>
          <a:p>
            <a:endParaRPr lang="sv-SE" dirty="0"/>
          </a:p>
        </p:txBody>
      </p:sp>
      <p:pic>
        <p:nvPicPr>
          <p:cNvPr id="4" name="Bildobjekt 3" descr="The History of Google | Internet History Podcast">
            <a:extLst>
              <a:ext uri="{FF2B5EF4-FFF2-40B4-BE49-F238E27FC236}">
                <a16:creationId xmlns:a16="http://schemas.microsoft.com/office/drawing/2014/main" id="{D696A31C-AC25-6E2E-ED83-56A340A3D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813" y="3724013"/>
            <a:ext cx="3679970" cy="2450983"/>
          </a:xfrm>
          <a:prstGeom prst="rect">
            <a:avLst/>
          </a:prstGeom>
        </p:spPr>
      </p:pic>
      <p:pic>
        <p:nvPicPr>
          <p:cNvPr id="5" name="Bildobjekt 4" descr="Flutter Tutorial | Learn Flutter with Real-Time Examples - Tpoint Tech">
            <a:extLst>
              <a:ext uri="{FF2B5EF4-FFF2-40B4-BE49-F238E27FC236}">
                <a16:creationId xmlns:a16="http://schemas.microsoft.com/office/drawing/2014/main" id="{3D5F8A49-7C72-E93B-9DF5-F37B67CBF5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5537" y="3650959"/>
            <a:ext cx="2715935" cy="271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892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2C75C6B-4CA4-F21A-FC79-32AAC0618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Flutter Compositions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C329EFA-6E27-9DA1-944C-178FA1E64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695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En snubbe från Taiwan</a:t>
            </a:r>
          </a:p>
          <a:p>
            <a:r>
              <a:rPr lang="sv-SE"/>
              <a:t>Tillåter oss använda samma arbetssätt i Flutter som Vue</a:t>
            </a:r>
          </a:p>
          <a:p>
            <a:r>
              <a:rPr lang="sv-SE" dirty="0">
                <a:ea typeface="+mn-lt"/>
                <a:cs typeface="+mn-lt"/>
                <a:hlinkClick r:id="rId2"/>
              </a:rPr>
              <a:t>https://yoyo930021.github.io/flutter_compositions</a:t>
            </a:r>
            <a:endParaRPr lang="sv-SE" dirty="0"/>
          </a:p>
        </p:txBody>
      </p:sp>
      <p:pic>
        <p:nvPicPr>
          <p:cNvPr id="4" name="Bildobjekt 3" descr="Hangover Chow GIFs - Find &amp; Share on GIPHY">
            <a:extLst>
              <a:ext uri="{FF2B5EF4-FFF2-40B4-BE49-F238E27FC236}">
                <a16:creationId xmlns:a16="http://schemas.microsoft.com/office/drawing/2014/main" id="{A148A4AF-9B5A-FC22-71B1-CB33970FF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757" y="3427691"/>
            <a:ext cx="2962798" cy="272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366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D273B61-909A-5649-91CD-6C99A7866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Caprover – Paas – Platform as a Service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015FA5D-D86E-DE31-DC67-DCA48DC4B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En snubbe från Uber</a:t>
            </a:r>
          </a:p>
          <a:p>
            <a:r>
              <a:rPr lang="sv-SE" dirty="0">
                <a:ea typeface="+mn-lt"/>
                <a:cs typeface="+mn-lt"/>
                <a:hlinkClick r:id="rId2"/>
              </a:rPr>
              <a:t>https://caprover.com</a:t>
            </a:r>
            <a:endParaRPr lang="sv-SE" dirty="0">
              <a:ea typeface="+mn-lt"/>
              <a:cs typeface="+mn-lt"/>
            </a:endParaRPr>
          </a:p>
          <a:p>
            <a:endParaRPr lang="sv-SE" dirty="0">
              <a:ea typeface="+mn-lt"/>
              <a:cs typeface="+mn-lt"/>
            </a:endParaRPr>
          </a:p>
          <a:p>
            <a:endParaRPr lang="sv-SE" dirty="0">
              <a:ea typeface="+mn-lt"/>
              <a:cs typeface="+mn-lt"/>
            </a:endParaRPr>
          </a:p>
        </p:txBody>
      </p:sp>
      <p:pic>
        <p:nvPicPr>
          <p:cNvPr id="4" name="Bildobjekt 3" descr="Uber GIFs - Download &amp; Share | GIFDB.com">
            <a:extLst>
              <a:ext uri="{FF2B5EF4-FFF2-40B4-BE49-F238E27FC236}">
                <a16:creationId xmlns:a16="http://schemas.microsoft.com/office/drawing/2014/main" id="{AF567B61-CF44-6648-D077-72FA2574D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283" y="3337726"/>
            <a:ext cx="3947194" cy="223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465775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Kursens fyra moduler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5256" y="2103120"/>
            <a:ext cx="685800" cy="685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Databaser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Vad en databas är, SQL, ACID och databasdesign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507492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2–3 dagar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841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02736" y="2103120"/>
            <a:ext cx="685800" cy="685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PocketBase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Collections, relationer, API-regler, Dart-SDK och JavaScript-hooks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507492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3–4 dagar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2103120"/>
            <a:ext cx="685800" cy="685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Flutter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Dart, widgets, state, navigation, formulär och nätverk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507492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3–4 dagar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2337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97696" y="2103120"/>
            <a:ext cx="685800" cy="685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Flutter Compositions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769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Vue-tänk i Flutter och arkitekturen för en riktig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507492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3–4 dagar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Kvittra – vår egen sociala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78308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/>
              <a:t>Ett gemensamt exempel genom hela kursen: en enkel app i stil med Facebook.</a:t>
            </a:r>
          </a:p>
          <a:p>
            <a:pPr algn="l">
              <a:spcAft>
                <a:spcPts val="1400"/>
              </a:spcAft>
            </a:pPr>
            <a:r>
              <a:rPr sz="1800" b="0"/>
              <a:t>Användare skriver inlägg, kommenterar, gillar och följer varandra.</a:t>
            </a:r>
          </a:p>
          <a:p>
            <a:pPr algn="l">
              <a:spcAft>
                <a:spcPts val="1400"/>
              </a:spcAft>
            </a:pPr>
            <a:r>
              <a:rPr sz="1800" b="0"/>
              <a:t>Datan är inspirerad av JSONPlaceholder, så vi kan hämta riktig JSON i Flutter innan vi har en egen backend.</a:t>
            </a:r>
          </a:p>
          <a:p>
            <a:pPr algn="l">
              <a:spcAft>
                <a:spcPts val="600"/>
              </a:spcAft>
            </a:pPr>
            <a:r>
              <a:rPr sz="1600" b="0">
                <a:hlinkClick r:id="rId2"/>
              </a:rPr>
              <a:t>jsonplaceholder.typicode.com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120640" y="1783080"/>
          <a:ext cx="62179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926080"/>
                <a:gridCol w="182880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/>
                        <a:t>Collection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 b="1"/>
                        <a:t>Innehåll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 b="1"/>
                        <a:t>Relation</a:t>
                      </a:r>
                    </a:p>
                  </a:txBody>
                  <a:tcPr anchor="ctr" marL="109728" marR="109728"/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latin typeface="Courier New"/>
                        </a:rPr>
                        <a:t>users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Användare som loggar in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–</a:t>
                      </a:r>
                    </a:p>
                  </a:txBody>
                  <a:tcPr anchor="ctr" marL="109728" marR="109728"/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latin typeface="Courier New"/>
                        </a:rPr>
                        <a:t>posts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Inlägg skrivna av en användare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1:N</a:t>
                      </a:r>
                    </a:p>
                  </a:txBody>
                  <a:tcPr anchor="ctr" marL="109728" marR="109728"/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latin typeface="Courier New"/>
                        </a:rPr>
                        <a:t>comments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Kommentarer på inlägg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1:N</a:t>
                      </a:r>
                    </a:p>
                  </a:txBody>
                  <a:tcPr anchor="ctr" marL="109728" marR="109728"/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latin typeface="Courier New"/>
                        </a:rPr>
                        <a:t>likes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En användare gillar ett inlägg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N:M</a:t>
                      </a:r>
                    </a:p>
                  </a:txBody>
                  <a:tcPr anchor="ctr" marL="109728" marR="109728"/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latin typeface="Courier New"/>
                        </a:rPr>
                        <a:t>follows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En användare följer en annan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600"/>
                        <a:t>N:M (samma tabell)</a:t>
                      </a:r>
                    </a:p>
                  </a:txBody>
                  <a:tcPr anchor="ctr" marL="109728" marR="109728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01 – Databaser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645920"/>
            <a:ext cx="5120640" cy="438912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sz="2000"/>
              <a:t>Tabeller, rader, primär- och främmande nycklar</a:t>
            </a:r>
          </a:p>
          <a:p>
            <a:pPr>
              <a:spcAft>
                <a:spcPts val="600"/>
              </a:spcAft>
            </a:pPr>
            <a:r>
              <a:rPr sz="2000"/>
              <a:t>SQL: SELECT, WHERE, JOIN, GROUP BY</a:t>
            </a:r>
          </a:p>
          <a:p>
            <a:pPr>
              <a:spcAft>
                <a:spcPts val="600"/>
              </a:spcAft>
            </a:pPr>
            <a:r>
              <a:rPr sz="2000"/>
              <a:t>Databasdesign: normalisering och index</a:t>
            </a:r>
          </a:p>
          <a:p>
            <a:pPr>
              <a:spcAft>
                <a:spcPts val="600"/>
              </a:spcAft>
            </a:pPr>
            <a:r>
              <a:rPr sz="2000"/>
              <a:t>Övningarna görs direkt i PocketBase med View collections och SQL-konsolen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72200" y="1783080"/>
            <a:ext cx="5257800" cy="2971800"/>
          </a:xfrm>
          <a:prstGeom prst="roundRect">
            <a:avLst>
              <a:gd name="adj" fmla="val 4000"/>
            </a:avLst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8B95A7"/>
                </a:solidFill>
              </a:rPr>
              <a:t>SQL – flödet för anna</a:t>
            </a:r>
          </a:p>
          <a:p>
            <a:pPr algn="l"/>
            <a:r>
              <a:rPr sz="1400">
                <a:solidFill>
                  <a:srgbClr val="8B95A7"/>
                </a:solidFill>
                <a:latin typeface="Courier New"/>
              </a:rPr>
              <a:t>-- Inlägg från dem anna följer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SELECT p.title, u.username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FROM posts p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JOIN users u ON u.id = p.author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JOIN follows f ON f.following = p.author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WHERE f.follower =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  (SELECT id FROM users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   WHERE username = 'anna')</a:t>
            </a:r>
          </a:p>
          <a:p>
            <a:pPr algn="l"/>
            <a:r>
              <a:rPr sz="1400">
                <a:solidFill>
                  <a:srgbClr val="E6E9EF"/>
                </a:solidFill>
                <a:latin typeface="Courier New"/>
              </a:rPr>
              <a:t>ORDER BY p.created DESC;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ACID – därför kan vi lita på databasen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2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5256" y="2103120"/>
            <a:ext cx="685800" cy="685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Atomicitet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Allt eller inget. Raderas ett konto försvinner inlägg, likes och följningar samtidigt, annars inget 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841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2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02736" y="2103120"/>
            <a:ext cx="685800" cy="685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Konsistens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Reglerna gäller alltid. Ett unikt index på (post, user) stoppar dubbla likes.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2589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2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0216" y="2103120"/>
            <a:ext cx="685800" cy="685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21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Isolering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Samtidiga transaktioner stör inte varandra. Två som gillar samtidigt får inte tappa en like.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23376" y="1828800"/>
            <a:ext cx="2514600" cy="3749039"/>
          </a:xfrm>
          <a:prstGeom prst="roundRect">
            <a:avLst>
              <a:gd name="adj" fmla="val 6000"/>
            </a:avLst>
          </a:prstGeom>
          <a:solidFill>
            <a:schemeClr val="accent2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97696" y="2103120"/>
            <a:ext cx="685800" cy="685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9718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/>
              <a:t>Hållbarhet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7696" y="3611880"/>
            <a:ext cx="19659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/>
              <a:t>Det som är sparat förblir sparat, även om servern kraschar direkt efteråt.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02 – PocketBase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645920"/>
            <a:ext cx="5120640" cy="448056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sz="2000"/>
              <a:t>Collections och fält i Dashboarden</a:t>
            </a:r>
          </a:p>
          <a:p>
            <a:pPr>
              <a:spcAft>
                <a:spcPts val="600"/>
              </a:spcAft>
            </a:pPr>
            <a:r>
              <a:rPr sz="2000"/>
              <a:t>Relationer, expand och back-relations</a:t>
            </a:r>
          </a:p>
          <a:p>
            <a:pPr>
              <a:spcAft>
                <a:spcPts val="600"/>
              </a:spcAft>
            </a:pPr>
            <a:r>
              <a:rPr sz="2000"/>
              <a:t>Inloggning och API-regler</a:t>
            </a:r>
          </a:p>
          <a:p>
            <a:pPr>
              <a:spcAft>
                <a:spcPts val="600"/>
              </a:spcAft>
            </a:pPr>
            <a:r>
              <a:rPr sz="2000"/>
              <a:t>REST-API, filter och realtid</a:t>
            </a:r>
          </a:p>
          <a:p>
            <a:pPr>
              <a:spcAft>
                <a:spcPts val="600"/>
              </a:spcAft>
            </a:pPr>
            <a:r>
              <a:rPr sz="2000"/>
              <a:t>Dart-SDK:n från Flutter</a:t>
            </a:r>
          </a:p>
          <a:p>
            <a:pPr>
              <a:spcAft>
                <a:spcPts val="600"/>
              </a:spcAft>
            </a:pPr>
            <a:r>
              <a:rPr sz="2000"/>
              <a:t>JavaScript-hooks och migrationer</a:t>
            </a:r>
          </a:p>
          <a:p>
            <a:pPr>
              <a:spcAft>
                <a:spcPts val="600"/>
              </a:spcAft>
            </a:pPr>
            <a:r>
              <a:rPr sz="2000"/>
              <a:t>Grupper, roller och behörigheter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72200" y="1783080"/>
            <a:ext cx="5257800" cy="2514600"/>
          </a:xfrm>
          <a:prstGeom prst="roundRect">
            <a:avLst>
              <a:gd name="adj" fmla="val 4000"/>
            </a:avLst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8B95A7"/>
                </a:solidFill>
              </a:rPr>
              <a:t>API-regler för posts</a:t>
            </a:r>
          </a:p>
          <a:p>
            <a:pPr algn="l"/>
            <a:r>
              <a:rPr sz="1500">
                <a:solidFill>
                  <a:srgbClr val="8B95A7"/>
                </a:solidFill>
                <a:latin typeface="Courier New"/>
              </a:rPr>
              <a:t>// List / View</a:t>
            </a:r>
          </a:p>
          <a:p>
            <a:pPr algn="l"/>
            <a:r>
              <a:rPr sz="1500">
                <a:solidFill>
                  <a:srgbClr val="E6E9EF"/>
                </a:solidFill>
                <a:latin typeface="Courier New"/>
              </a:rPr>
              <a:t>@request.auth.id != ""</a:t>
            </a:r>
          </a:p>
          <a:p>
            <a:pPr algn="l"/>
            <a:r>
              <a:rPr sz="1500">
                <a:solidFill>
                  <a:srgbClr val="8B95A7"/>
                </a:solidFill>
                <a:latin typeface="Courier New"/>
              </a:rPr>
              <a:t>// Create</a:t>
            </a:r>
          </a:p>
          <a:p>
            <a:pPr algn="l"/>
            <a:r>
              <a:rPr sz="1500">
                <a:solidFill>
                  <a:srgbClr val="E6E9EF"/>
                </a:solidFill>
                <a:latin typeface="Courier New"/>
              </a:rPr>
              <a:t>@request.body.author = @request.auth.id</a:t>
            </a:r>
          </a:p>
          <a:p>
            <a:pPr algn="l"/>
            <a:r>
              <a:rPr sz="1500">
                <a:solidFill>
                  <a:srgbClr val="8B95A7"/>
                </a:solidFill>
                <a:latin typeface="Courier New"/>
              </a:rPr>
              <a:t>// Update / Delete</a:t>
            </a:r>
          </a:p>
          <a:p>
            <a:pPr algn="l"/>
            <a:r>
              <a:rPr sz="1500">
                <a:solidFill>
                  <a:srgbClr val="E6E9EF"/>
                </a:solidFill>
                <a:latin typeface="Courier New"/>
              </a:rPr>
              <a:t>author = @request.auth.id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526280"/>
            <a:ext cx="5257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</a:rPr>
              <a:t>Alla får läsa, men bara författaren får ändra eller ta bort sitt inlägg.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03 – Flutter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645920"/>
            <a:ext cx="5120640" cy="448056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sz="2000"/>
              <a:t>Dart: null safety, klasser, records och async</a:t>
            </a:r>
          </a:p>
          <a:p>
            <a:pPr>
              <a:spcAft>
                <a:spcPts val="600"/>
              </a:spcAft>
            </a:pPr>
            <a:r>
              <a:rPr sz="2000"/>
              <a:t>Widgets och layout: Row, Column, ListView</a:t>
            </a:r>
          </a:p>
          <a:p>
            <a:pPr>
              <a:spcAft>
                <a:spcPts val="600"/>
              </a:spcAft>
            </a:pPr>
            <a:r>
              <a:rPr sz="2000"/>
              <a:t>State och livscykel med StatefulWidget</a:t>
            </a:r>
          </a:p>
          <a:p>
            <a:pPr>
              <a:spcAft>
                <a:spcPts val="600"/>
              </a:spcAft>
            </a:pPr>
            <a:r>
              <a:rPr sz="2000"/>
              <a:t>Navigation med go_router och formulär</a:t>
            </a:r>
          </a:p>
          <a:p>
            <a:pPr>
              <a:spcAft>
                <a:spcPts val="600"/>
              </a:spcAft>
            </a:pPr>
            <a:r>
              <a:rPr sz="2000"/>
              <a:t>Nätverk: riktig JSON från JSONPlaceholder</a:t>
            </a:r>
          </a:p>
          <a:p>
            <a:pPr>
              <a:spcAft>
                <a:spcPts val="600"/>
              </a:spcAft>
            </a:pPr>
            <a:r>
              <a:rPr sz="2000"/>
              <a:t>Testning av widgets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72200" y="1783080"/>
            <a:ext cx="5257800" cy="2286000"/>
          </a:xfrm>
          <a:prstGeom prst="roundRect">
            <a:avLst>
              <a:gd name="adj" fmla="val 4000"/>
            </a:avLst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8B95A7"/>
                </a:solidFill>
              </a:rPr>
              <a:t>Dart – hämta inlägg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final res = await http.get(Uri.parse(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'https://jsonplaceholder.typicode.com/posts',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));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final posts = (jsonDecode(res.body) as List)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.map((j) =&gt; Post.fromJson(j))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.toList();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Från Vue till Flutter Compositions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41248" y="1645920"/>
          <a:ext cx="105156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200400"/>
              </a:tblGrid>
              <a:tr h="475488">
                <a:tc>
                  <a:txBody>
                    <a:bodyPr/>
                    <a:lstStyle/>
                    <a:p>
                      <a:r>
                        <a:rPr sz="1500" b="1"/>
                        <a:t>Vue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 b="1"/>
                        <a:t>Flutter Compositions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 b="1"/>
                        <a:t>Används till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ref(0)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ref(0)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Reaktivt värde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computed(() =&gt; …)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computed(() =&gt; …)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Härlett värde som cachas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watch / watchEffect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watch / watchEffect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Sidoeffekter vid ändringar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onMounted / onUnmounted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onMounted / onUnmounted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Livscykel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defineProps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widget()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Reaktiva props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provide / inject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provide / inject + InjectionKey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Dela tjänster och stores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v-model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useTextEditingController()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Textfält</a:t>
                      </a:r>
                    </a:p>
                  </a:txBody>
                  <a:tcPr anchor="ctr" marL="109728" marR="109728"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&lt;template&gt;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ourier New"/>
                        </a:rPr>
                        <a:t>builder-funktionen från setup()</a:t>
                      </a:r>
                    </a:p>
                  </a:txBody>
                  <a:tcPr anchor="ctr" marL="109728" marR="109728"/>
                </a:tc>
                <a:tc>
                  <a:txBody>
                    <a:bodyPr/>
                    <a:lstStyle/>
                    <a:p>
                      <a:r>
                        <a:rPr sz="1500"/>
                        <a:t>Bygga UI:t</a:t>
                      </a:r>
                    </a:p>
                  </a:txBody>
                  <a:tcPr anchor="ctr" marL="109728" marR="109728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04 – Flutter Compositions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645920"/>
            <a:ext cx="4846320" cy="448056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sz="2000"/>
              <a:t>setup() körs en gång, buildern körs om när ett ref ändras</a:t>
            </a:r>
          </a:p>
          <a:p>
            <a:pPr>
              <a:spcAft>
                <a:spcPts val="600"/>
              </a:spcAft>
            </a:pPr>
            <a:r>
              <a:rPr sz="2000"/>
              <a:t>Composables: useTextEditingController, useAsyncData</a:t>
            </a:r>
          </a:p>
          <a:p>
            <a:pPr>
              <a:spcAft>
                <a:spcPts val="600"/>
              </a:spcAft>
            </a:pPr>
            <a:r>
              <a:rPr sz="2000"/>
              <a:t>provide/inject för stores och PocketBase-klienten</a:t>
            </a:r>
          </a:p>
          <a:p>
            <a:pPr>
              <a:spcAft>
                <a:spcPts val="600"/>
              </a:spcAft>
            </a:pPr>
            <a:r>
              <a:rPr sz="2000"/>
              <a:t>Arkitektur: stores, paginering, inloggning och roller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0" y="1645920"/>
            <a:ext cx="5760720" cy="3749039"/>
          </a:xfrm>
          <a:prstGeom prst="roundRect">
            <a:avLst>
              <a:gd name="adj" fmla="val 4000"/>
            </a:avLst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28600" bIns="228600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8B95A7"/>
                </a:solidFill>
              </a:rPr>
              <a:t>Dart – en like-knapp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class LikeButton extends CompositionWidget {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const LikeButton({super.key});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@override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Widget Function(BuildContext) setup() {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final liked = ref(false);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final icon = computed(() =&gt; liked.value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    ? Icons.favorite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    : Icons.favorite_border);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return (context) =&gt; IconButton(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  onPressed: () =&gt; liked.value = !liked.value,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  icon: Icon(icon.value),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  );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  }</a:t>
            </a:r>
          </a:p>
          <a:p>
            <a:pPr algn="l"/>
            <a:r>
              <a:rPr sz="1300">
                <a:solidFill>
                  <a:srgbClr val="E6E9EF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Så jobbar ni med materialet</a:t>
            </a:r>
          </a:p>
        </p:txBody>
      </p:sp>
      <p:sp>
        <p:nvSpPr>
          <p:cNvPr id="3" name="Oval 2"/>
          <p:cNvSpPr/>
          <p:nvPr/>
        </p:nvSpPr>
        <p:spPr>
          <a:xfrm>
            <a:off x="841248" y="178308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76479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/>
              <a:t>Läs kapitlen i ordning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</a:rPr>
              <a:t>Varje modul har en README med innehållsförteckning.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88036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86207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/>
              <a:t>Ladda ner PocketBase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</a:rPr>
              <a:t>Börja från en tom instans och bygg allt själva i Dashboarden.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977639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9593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/>
              <a:t>Gör övningarna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</a:rPr>
              <a:t>Nivå 1–3 i varje modul, från grunder till egna features.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507492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505663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/>
              <a:t>Jämför med lösningarna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</a:rPr>
              <a:t>Försök själv först, titta sedan i losningar.md.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783080"/>
            <a:ext cx="4023360" cy="3931920"/>
          </a:xfrm>
          <a:prstGeom prst="roundRect">
            <a:avLst>
              <a:gd name="adj" fmla="val 6000"/>
            </a:avLst>
          </a:prstGeom>
          <a:solidFill>
            <a:schemeClr val="accent1">
              <a:lumMod val="15000"/>
              <a:lumOff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148840"/>
            <a:ext cx="3429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/>
              <a:t>Allt material finns på GitHub</a:t>
            </a:r>
          </a:p>
          <a:p>
            <a:pPr algn="l">
              <a:spcAft>
                <a:spcPts val="2400"/>
              </a:spcAft>
            </a:pPr>
            <a:r>
              <a:rPr sz="1700" b="0">
                <a:hlinkClick r:id="rId2"/>
              </a:rPr>
              <a:t>github.com/abbjetmus/pocketbase-flutter-kurs</a:t>
            </a:r>
          </a:p>
          <a:p>
            <a:pPr algn="l">
              <a:spcAft>
                <a:spcPts val="800"/>
              </a:spcAft>
            </a:pPr>
            <a:r>
              <a:rPr sz="2000" b="1"/>
              <a:t>Det här behöver ni</a:t>
            </a:r>
          </a:p>
          <a:p>
            <a:pPr algn="l">
              <a:spcAft>
                <a:spcPts val="600"/>
              </a:spcAft>
            </a:pPr>
            <a:r>
              <a:rPr sz="1700" b="0"/>
              <a:t>VS Code med Flutter- och Dart-tilläggen</a:t>
            </a:r>
          </a:p>
          <a:p>
            <a:pPr algn="l">
              <a:spcAft>
                <a:spcPts val="600"/>
              </a:spcAft>
            </a:pPr>
            <a:r>
              <a:rPr sz="1700" b="0"/>
              <a:t>Flutter SDK</a:t>
            </a:r>
          </a:p>
          <a:p>
            <a:pPr algn="l">
              <a:spcAft>
                <a:spcPts val="600"/>
              </a:spcAft>
            </a:pPr>
            <a:r>
              <a:rPr sz="1700" b="0">
                <a:hlinkClick r:id="rId3"/>
              </a:rPr>
              <a:t>PocketBase från pocketbase.io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Bredbild</PresentationFormat>
  <Paragraphs>0</Paragraphs>
  <Slides>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5</vt:i4>
      </vt:variant>
    </vt:vector>
  </HeadingPairs>
  <TitlesOfParts>
    <vt:vector size="6" baseType="lpstr">
      <vt:lpstr>Office-tema</vt:lpstr>
      <vt:lpstr>Databaser och mobil apputveckling</vt:lpstr>
      <vt:lpstr>Databas - Pocketbase</vt:lpstr>
      <vt:lpstr>Flutter för mobil apputveckling</vt:lpstr>
      <vt:lpstr>Flutter Compositions</vt:lpstr>
      <vt:lpstr>Caprover – Paas – Platform as a Service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83</cp:revision>
  <dcterms:created xsi:type="dcterms:W3CDTF">2026-10-15T08:43:02Z</dcterms:created>
  <dcterms:modified xsi:type="dcterms:W3CDTF">2026-10-15T12:11:23Z</dcterms:modified>
</cp:coreProperties>
</file>